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Hero Slide (2 min)
"This is our strategy in one picture.
The cost curve says everything. A bug found at Design costs 1 unit to fix. By Production it's 200×. By the time it's a live incident — 1,000×.
Here's what makes our approach different from most organisations: all three of our CNCF initiatives anchor at Design. Not at testing. Not at production. Design.
Threat Modeling — security thinking baked into the developer's IDE before a line is written.
Chaos Engineering — we don't just test chaos in staging. We design for failure modes upfront. Our resilience hypothesis is written before the service is.
And Kong Gateway — this is the key shift in how you're probably thinking about it. Kong isn't just a production gateway. It's an API-design-first tool. We define the API contract, the auth policy, and the rate limits in the design stage — Kong enforces them automatically. By the time code is written, the API shape is locked.
That's left-shift. That's how Netflix, Stripe, and Google operate. And that's where Paysafe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Kong Gateway section intro
"I want to reframe how you think about Kong. The instinct is to put the gateway at the production edge — and yes, that's where it runs. But the left-shift insight is that the API contract, the auth policy, and the rate limits are defined at Design.
We use OpenAPI Spec 3 as our design artefact. Kong reads that spec and auto-generates the gateway policy. So by the time a developer writes the first endpoint, the security model is already in place. Auth — done. Rate limiting — done. mTLS — done.
That's a 4-hour onboarding, not a 3-week infrastructure project. And it means every API at Paysafe is born compliant, not retrofitted.
That is left-shift. Design first, enforce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Closing Value Summary
"Here's the scorecard.
62% reduction in security rework — from catching threats at design. 1,000× — the cost of a production incident vs a design-stage fix. That's not an abstraction; that's our last three P1s.
Chaos Engineering cuts MTTR by 40% and takes runbook coverage from 30% to over 90%. Kong takes API onboarding from 3 weeks to 4 hours — and every API is born with auth, rate limiting, and mTLS. Born compliant.
The ask is simple. Three programmes, all left-shifted, all in flight. We need headcount, budget, and your mandate that this is how Paysafe builds from now on.
Security by design. Resilience by default. APIs born compliant. That is the Paysafe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2E"/>
        </a:solidFill>
      </p:bgPr>
    </p:bg>
    <p:spTree>
      <p:nvGrpSpPr>
        <p:cNvPr id="1" name=""/>
        <p:cNvGrpSpPr/>
        <p:nvPr/>
      </p:nvGrpSpPr>
      <p:grpSpPr>
        <a:xfrm>
          <a:off x="0" y="0"/>
          <a:ext cx="0" cy="0"/>
          <a:chOff x="0" y="0"/>
          <a:chExt cx="0" cy="0"/>
        </a:xfrm>
      </p:grpSpPr>
      <p:sp>
        <p:nvSpPr>
          <p:cNvPr id="2" name="Shape 0"/>
          <p:cNvSpPr/>
          <p:nvPr/>
        </p:nvSpPr>
        <p:spPr>
          <a:xfrm>
            <a:off x="6144768" y="0"/>
            <a:ext cx="2999232" cy="5143500"/>
          </a:xfrm>
          <a:prstGeom prst="rect">
            <a:avLst/>
          </a:prstGeom>
          <a:solidFill>
            <a:srgbClr val="6B21A8">
              <a:alpha val="14000"/>
            </a:srgbClr>
          </a:solidFill>
          <a:ln w="12700">
            <a:solidFill>
              <a:srgbClr val="6B21A8">
                <a:alpha val="1000"/>
              </a:srgbClr>
            </a:solidFill>
            <a:prstDash val="solid"/>
          </a:ln>
        </p:spPr>
      </p:sp>
      <p:sp>
        <p:nvSpPr>
          <p:cNvPr id="3" name="Shape 1"/>
          <p:cNvSpPr/>
          <p:nvPr/>
        </p:nvSpPr>
        <p:spPr>
          <a:xfrm>
            <a:off x="7315200" y="0"/>
            <a:ext cx="1828800" cy="5143500"/>
          </a:xfrm>
          <a:prstGeom prst="rect">
            <a:avLst/>
          </a:prstGeom>
          <a:solidFill>
            <a:srgbClr val="6B21A8">
              <a:alpha val="18000"/>
            </a:srgbClr>
          </a:solidFill>
          <a:ln w="12700">
            <a:solidFill>
              <a:srgbClr val="6B21A8">
                <a:alpha val="1000"/>
              </a:srgbClr>
            </a:solidFill>
            <a:prstDash val="solid"/>
          </a:ln>
        </p:spPr>
      </p:sp>
      <p:sp>
        <p:nvSpPr>
          <p:cNvPr id="4" name="Shape 2"/>
          <p:cNvSpPr/>
          <p:nvPr/>
        </p:nvSpPr>
        <p:spPr>
          <a:xfrm>
            <a:off x="6126480" y="0"/>
            <a:ext cx="45720" cy="5143500"/>
          </a:xfrm>
          <a:prstGeom prst="rect">
            <a:avLst/>
          </a:prstGeom>
          <a:solidFill>
            <a:srgbClr val="C8E600"/>
          </a:solidFill>
          <a:ln w="12700">
            <a:solidFill>
              <a:srgbClr val="C8E600"/>
            </a:solidFill>
            <a:prstDash val="solid"/>
          </a:ln>
        </p:spPr>
      </p:sp>
      <p:sp>
        <p:nvSpPr>
          <p:cNvPr id="5" name="Shape 3"/>
          <p:cNvSpPr/>
          <p:nvPr/>
        </p:nvSpPr>
        <p:spPr>
          <a:xfrm>
            <a:off x="0" y="4956048"/>
            <a:ext cx="9144000" cy="187452"/>
          </a:xfrm>
          <a:prstGeom prst="rect">
            <a:avLst/>
          </a:prstGeom>
          <a:solidFill>
            <a:srgbClr val="6B21A8"/>
          </a:solidFill>
          <a:ln w="12700">
            <a:solidFill>
              <a:srgbClr val="6B21A8"/>
            </a:solidFill>
            <a:prstDash val="solid"/>
          </a:ln>
        </p:spPr>
      </p:sp>
      <p:sp>
        <p:nvSpPr>
          <p:cNvPr id="6" name="Shape 4"/>
          <p:cNvSpPr/>
          <p:nvPr/>
        </p:nvSpPr>
        <p:spPr>
          <a:xfrm>
            <a:off x="0" y="4956048"/>
            <a:ext cx="9144000" cy="36576"/>
          </a:xfrm>
          <a:prstGeom prst="rect">
            <a:avLst/>
          </a:prstGeom>
          <a:solidFill>
            <a:srgbClr val="C8E600"/>
          </a:solidFill>
          <a:ln w="12700">
            <a:solidFill>
              <a:srgbClr val="C8E600"/>
            </a:solidFill>
            <a:prstDash val="solid"/>
          </a:ln>
        </p:spPr>
      </p:sp>
      <p:sp>
        <p:nvSpPr>
          <p:cNvPr id="7" name="Shape 5"/>
          <p:cNvSpPr/>
          <p:nvPr/>
        </p:nvSpPr>
        <p:spPr>
          <a:xfrm>
            <a:off x="347472" y="201168"/>
            <a:ext cx="438912" cy="438912"/>
          </a:xfrm>
          <a:prstGeom prst="rect">
            <a:avLst/>
          </a:prstGeom>
          <a:solidFill>
            <a:srgbClr val="6B21A8"/>
          </a:solidFill>
          <a:ln w="12700">
            <a:solidFill>
              <a:srgbClr val="6B21A8"/>
            </a:solidFill>
            <a:prstDash val="solid"/>
          </a:ln>
        </p:spPr>
      </p:sp>
      <p:sp>
        <p:nvSpPr>
          <p:cNvPr id="8" name="Text 6"/>
          <p:cNvSpPr/>
          <p:nvPr/>
        </p:nvSpPr>
        <p:spPr>
          <a:xfrm>
            <a:off x="347472" y="201168"/>
            <a:ext cx="438912" cy="438912"/>
          </a:xfrm>
          <a:prstGeom prst="rect">
            <a:avLst/>
          </a:prstGeom>
          <a:noFill/>
          <a:ln/>
        </p:spPr>
        <p:txBody>
          <a:bodyPr wrap="square" lIns="0" tIns="0" rIns="0" bIns="0" rtlCol="0" anchor="ctr"/>
          <a:lstStyle/>
          <a:p>
            <a:pPr algn="ctr" indent="0" marL="0">
              <a:buNone/>
            </a:pPr>
            <a:r>
              <a:rPr lang="en-US" sz="1700" b="1" dirty="0">
                <a:solidFill>
                  <a:srgbClr val="C8E600"/>
                </a:solidFill>
              </a:rPr>
              <a:t>P</a:t>
            </a:r>
            <a:endParaRPr lang="en-US" sz="1700" dirty="0"/>
          </a:p>
        </p:txBody>
      </p:sp>
      <p:sp>
        <p:nvSpPr>
          <p:cNvPr id="9" name="Text 7"/>
          <p:cNvSpPr/>
          <p:nvPr/>
        </p:nvSpPr>
        <p:spPr>
          <a:xfrm>
            <a:off x="841248" y="237744"/>
            <a:ext cx="1188720" cy="201168"/>
          </a:xfrm>
          <a:prstGeom prst="rect">
            <a:avLst/>
          </a:prstGeom>
          <a:noFill/>
          <a:ln/>
        </p:spPr>
        <p:txBody>
          <a:bodyPr wrap="square" lIns="0" tIns="0" rIns="0" bIns="0" rtlCol="0" anchor="ctr"/>
          <a:lstStyle/>
          <a:p>
            <a:pPr indent="0" marL="0">
              <a:buNone/>
            </a:pPr>
            <a:r>
              <a:rPr lang="en-US" sz="900" b="1" spc="300" kern="0" dirty="0">
                <a:solidFill>
                  <a:srgbClr val="FFFFFF"/>
                </a:solidFill>
              </a:rPr>
              <a:t>PAYSAFE</a:t>
            </a:r>
            <a:endParaRPr lang="en-US" sz="900" dirty="0"/>
          </a:p>
        </p:txBody>
      </p:sp>
      <p:sp>
        <p:nvSpPr>
          <p:cNvPr id="10" name="Text 8"/>
          <p:cNvSpPr/>
          <p:nvPr/>
        </p:nvSpPr>
        <p:spPr>
          <a:xfrm>
            <a:off x="841248" y="438912"/>
            <a:ext cx="1188720" cy="164592"/>
          </a:xfrm>
          <a:prstGeom prst="rect">
            <a:avLst/>
          </a:prstGeom>
          <a:noFill/>
          <a:ln/>
        </p:spPr>
        <p:txBody>
          <a:bodyPr wrap="square" lIns="0" tIns="0" rIns="0" bIns="0" rtlCol="0" anchor="ctr"/>
          <a:lstStyle/>
          <a:p>
            <a:pPr indent="0" marL="0">
              <a:buNone/>
            </a:pPr>
            <a:r>
              <a:rPr lang="en-US" sz="650" spc="200" kern="0" dirty="0">
                <a:solidFill>
                  <a:srgbClr val="C4B8E0"/>
                </a:solidFill>
              </a:rPr>
              <a:t>ENGINEERING</a:t>
            </a:r>
            <a:endParaRPr lang="en-US" sz="650" dirty="0"/>
          </a:p>
        </p:txBody>
      </p:sp>
      <p:sp>
        <p:nvSpPr>
          <p:cNvPr id="11" name="Shape 9"/>
          <p:cNvSpPr/>
          <p:nvPr/>
        </p:nvSpPr>
        <p:spPr>
          <a:xfrm>
            <a:off x="6766560" y="219456"/>
            <a:ext cx="1737360" cy="274320"/>
          </a:xfrm>
          <a:prstGeom prst="rect">
            <a:avLst/>
          </a:prstGeom>
          <a:solidFill>
            <a:srgbClr val="C8E600">
              <a:alpha val="18000"/>
            </a:srgbClr>
          </a:solidFill>
          <a:ln w="12700">
            <a:solidFill>
              <a:srgbClr val="C8E600"/>
            </a:solidFill>
            <a:prstDash val="solid"/>
          </a:ln>
        </p:spPr>
      </p:sp>
      <p:sp>
        <p:nvSpPr>
          <p:cNvPr id="12" name="Text 10"/>
          <p:cNvSpPr/>
          <p:nvPr/>
        </p:nvSpPr>
        <p:spPr>
          <a:xfrm>
            <a:off x="6766560" y="219456"/>
            <a:ext cx="1737360" cy="274320"/>
          </a:xfrm>
          <a:prstGeom prst="rect">
            <a:avLst/>
          </a:prstGeom>
          <a:noFill/>
          <a:ln/>
        </p:spPr>
        <p:txBody>
          <a:bodyPr wrap="square" lIns="0" tIns="0" rIns="0" bIns="0" rtlCol="0" anchor="ctr"/>
          <a:lstStyle/>
          <a:p>
            <a:pPr algn="ctr" indent="0" marL="0">
              <a:buNone/>
            </a:pPr>
            <a:r>
              <a:rPr lang="en-US" sz="750" b="1" dirty="0">
                <a:solidFill>
                  <a:srgbClr val="C8E600"/>
                </a:solidFill>
              </a:rPr>
              <a:t>CNCF INITIATIVE · 2025</a:t>
            </a:r>
            <a:endParaRPr lang="en-US" sz="750" dirty="0"/>
          </a:p>
        </p:txBody>
      </p:sp>
      <p:sp>
        <p:nvSpPr>
          <p:cNvPr id="13" name="Text 11"/>
          <p:cNvSpPr/>
          <p:nvPr/>
        </p:nvSpPr>
        <p:spPr>
          <a:xfrm>
            <a:off x="347472" y="676656"/>
            <a:ext cx="5669280" cy="914400"/>
          </a:xfrm>
          <a:prstGeom prst="rect">
            <a:avLst/>
          </a:prstGeom>
          <a:noFill/>
          <a:ln/>
        </p:spPr>
        <p:txBody>
          <a:bodyPr wrap="square" lIns="0" tIns="0" rIns="0" bIns="0" rtlCol="0" anchor="ctr"/>
          <a:lstStyle/>
          <a:p>
            <a:pPr indent="0" marL="0">
              <a:buNone/>
            </a:pPr>
            <a:r>
              <a:rPr lang="en-US" sz="6200" b="1" dirty="0">
                <a:solidFill>
                  <a:srgbClr val="FFFFFF"/>
                </a:solidFill>
                <a:latin typeface="Calibri" pitchFamily="34" charset="0"/>
                <a:ea typeface="Calibri" pitchFamily="34" charset="-122"/>
                <a:cs typeface="Calibri" pitchFamily="34" charset="-120"/>
              </a:rPr>
              <a:t>Shift Left.</a:t>
            </a:r>
            <a:endParaRPr lang="en-US" sz="6200" dirty="0"/>
          </a:p>
        </p:txBody>
      </p:sp>
      <p:sp>
        <p:nvSpPr>
          <p:cNvPr id="14" name="Shape 12"/>
          <p:cNvSpPr/>
          <p:nvPr/>
        </p:nvSpPr>
        <p:spPr>
          <a:xfrm>
            <a:off x="347472" y="1554480"/>
            <a:ext cx="2743200" cy="54864"/>
          </a:xfrm>
          <a:prstGeom prst="rect">
            <a:avLst/>
          </a:prstGeom>
          <a:solidFill>
            <a:srgbClr val="C8E600"/>
          </a:solidFill>
          <a:ln w="12700">
            <a:solidFill>
              <a:srgbClr val="C8E600"/>
            </a:solidFill>
            <a:prstDash val="solid"/>
          </a:ln>
        </p:spPr>
      </p:sp>
      <p:sp>
        <p:nvSpPr>
          <p:cNvPr id="15" name="Text 13"/>
          <p:cNvSpPr/>
          <p:nvPr/>
        </p:nvSpPr>
        <p:spPr>
          <a:xfrm>
            <a:off x="347472" y="1664208"/>
            <a:ext cx="5669280" cy="658368"/>
          </a:xfrm>
          <a:prstGeom prst="rect">
            <a:avLst/>
          </a:prstGeom>
          <a:noFill/>
          <a:ln/>
        </p:spPr>
        <p:txBody>
          <a:bodyPr wrap="square" lIns="0" tIns="0" rIns="0" bIns="0" rtlCol="0" anchor="ctr"/>
          <a:lstStyle/>
          <a:p>
            <a:pPr indent="0" marL="0">
              <a:buNone/>
            </a:pPr>
            <a:r>
              <a:rPr lang="en-US" sz="1500" dirty="0">
                <a:solidFill>
                  <a:srgbClr val="C4B8E0"/>
                </a:solidFill>
                <a:latin typeface="Calibri" pitchFamily="34" charset="0"/>
                <a:ea typeface="Calibri" pitchFamily="34" charset="-122"/>
                <a:cs typeface="Calibri" pitchFamily="34" charset="-120"/>
              </a:rPr>
              <a:t>Build security, resilience &amp; API control</a:t>
            </a:r>
            <a:endParaRPr lang="en-US" sz="1500" dirty="0"/>
          </a:p>
          <a:p>
            <a:pPr indent="0" marL="0">
              <a:buNone/>
            </a:pPr>
            <a:r>
              <a:rPr lang="en-US" sz="1500" dirty="0">
                <a:solidFill>
                  <a:srgbClr val="C4B8E0"/>
                </a:solidFill>
                <a:latin typeface="Calibri" pitchFamily="34" charset="0"/>
                <a:ea typeface="Calibri" pitchFamily="34" charset="-122"/>
                <a:cs typeface="Calibri" pitchFamily="34" charset="-120"/>
              </a:rPr>
              <a:t>into the design — not the postmortem.</a:t>
            </a:r>
            <a:endParaRPr lang="en-US" sz="1500" dirty="0"/>
          </a:p>
        </p:txBody>
      </p:sp>
      <p:sp>
        <p:nvSpPr>
          <p:cNvPr id="16" name="Shape 14"/>
          <p:cNvSpPr/>
          <p:nvPr/>
        </p:nvSpPr>
        <p:spPr>
          <a:xfrm>
            <a:off x="347472" y="2432304"/>
            <a:ext cx="8449056" cy="731520"/>
          </a:xfrm>
          <a:prstGeom prst="rect">
            <a:avLst/>
          </a:prstGeom>
          <a:solidFill>
            <a:srgbClr val="1A1445"/>
          </a:solidFill>
          <a:ln w="12700">
            <a:solidFill>
              <a:srgbClr val="3D3066"/>
            </a:solidFill>
            <a:prstDash val="solid"/>
          </a:ln>
        </p:spPr>
      </p:sp>
      <p:sp>
        <p:nvSpPr>
          <p:cNvPr id="17" name="Shape 15"/>
          <p:cNvSpPr/>
          <p:nvPr/>
        </p:nvSpPr>
        <p:spPr>
          <a:xfrm>
            <a:off x="347472" y="2432304"/>
            <a:ext cx="1408176" cy="731520"/>
          </a:xfrm>
          <a:prstGeom prst="rect">
            <a:avLst/>
          </a:prstGeom>
          <a:solidFill>
            <a:srgbClr val="C8E600">
              <a:alpha val="32000"/>
            </a:srgbClr>
          </a:solidFill>
          <a:ln w="25400">
            <a:solidFill>
              <a:srgbClr val="C8E600"/>
            </a:solidFill>
            <a:prstDash val="solid"/>
          </a:ln>
        </p:spPr>
      </p:sp>
      <p:sp>
        <p:nvSpPr>
          <p:cNvPr id="18" name="Text 16"/>
          <p:cNvSpPr/>
          <p:nvPr/>
        </p:nvSpPr>
        <p:spPr>
          <a:xfrm>
            <a:off x="347472" y="2432304"/>
            <a:ext cx="1408176" cy="329184"/>
          </a:xfrm>
          <a:prstGeom prst="rect">
            <a:avLst/>
          </a:prstGeom>
          <a:noFill/>
          <a:ln/>
        </p:spPr>
        <p:txBody>
          <a:bodyPr wrap="square" lIns="0" tIns="0" rIns="0" bIns="0" rtlCol="0" anchor="ctr"/>
          <a:lstStyle/>
          <a:p>
            <a:pPr algn="ctr" indent="0" marL="0">
              <a:buNone/>
            </a:pPr>
            <a:r>
              <a:rPr lang="en-US" sz="1000" b="1" dirty="0">
                <a:solidFill>
                  <a:srgbClr val="FFFFFF"/>
                </a:solidFill>
              </a:rPr>
              <a:t>Design</a:t>
            </a:r>
            <a:endParaRPr lang="en-US" sz="1000" dirty="0"/>
          </a:p>
        </p:txBody>
      </p:sp>
      <p:sp>
        <p:nvSpPr>
          <p:cNvPr id="19" name="Text 17"/>
          <p:cNvSpPr/>
          <p:nvPr/>
        </p:nvSpPr>
        <p:spPr>
          <a:xfrm>
            <a:off x="347472" y="2743200"/>
            <a:ext cx="1408176" cy="365760"/>
          </a:xfrm>
          <a:prstGeom prst="rect">
            <a:avLst/>
          </a:prstGeom>
          <a:noFill/>
          <a:ln/>
        </p:spPr>
        <p:txBody>
          <a:bodyPr wrap="square" lIns="0" tIns="0" rIns="0" bIns="0" rtlCol="0" anchor="ctr"/>
          <a:lstStyle/>
          <a:p>
            <a:pPr algn="ctr" indent="0" marL="0">
              <a:buNone/>
            </a:pPr>
            <a:r>
              <a:rPr lang="en-US" sz="1200" b="1" dirty="0">
                <a:solidFill>
                  <a:srgbClr val="C8E600"/>
                </a:solidFill>
              </a:rPr>
              <a:t>×1</a:t>
            </a:r>
            <a:endParaRPr lang="en-US" sz="1200" dirty="0"/>
          </a:p>
        </p:txBody>
      </p:sp>
      <p:pic>
        <p:nvPicPr>
          <p:cNvPr id="20" name="Image 0" descr="preencoded.png">    </p:cNvPr>
          <p:cNvPicPr>
            <a:picLocks noChangeAspect="1"/>
          </p:cNvPicPr>
          <p:nvPr/>
        </p:nvPicPr>
        <p:blipFill>
          <a:blip r:embed="rId1"/>
          <a:stretch>
            <a:fillRect/>
          </a:stretch>
        </p:blipFill>
        <p:spPr>
          <a:xfrm>
            <a:off x="1737360" y="2715768"/>
            <a:ext cx="182880" cy="182880"/>
          </a:xfrm>
          <a:prstGeom prst="rect">
            <a:avLst/>
          </a:prstGeom>
        </p:spPr>
      </p:pic>
      <p:sp>
        <p:nvSpPr>
          <p:cNvPr id="21" name="Shape 18"/>
          <p:cNvSpPr/>
          <p:nvPr/>
        </p:nvSpPr>
        <p:spPr>
          <a:xfrm>
            <a:off x="1755648" y="2432304"/>
            <a:ext cx="1408176" cy="731520"/>
          </a:xfrm>
          <a:prstGeom prst="rect">
            <a:avLst/>
          </a:prstGeom>
          <a:solidFill>
            <a:srgbClr val="9D5CFF">
              <a:alpha val="32000"/>
            </a:srgbClr>
          </a:solidFill>
          <a:ln w="25400">
            <a:solidFill>
              <a:srgbClr val="9D5CFF"/>
            </a:solidFill>
            <a:prstDash val="solid"/>
          </a:ln>
        </p:spPr>
      </p:sp>
      <p:sp>
        <p:nvSpPr>
          <p:cNvPr id="22" name="Text 19"/>
          <p:cNvSpPr/>
          <p:nvPr/>
        </p:nvSpPr>
        <p:spPr>
          <a:xfrm>
            <a:off x="1755648" y="2432304"/>
            <a:ext cx="1408176" cy="329184"/>
          </a:xfrm>
          <a:prstGeom prst="rect">
            <a:avLst/>
          </a:prstGeom>
          <a:noFill/>
          <a:ln/>
        </p:spPr>
        <p:txBody>
          <a:bodyPr wrap="square" lIns="0" tIns="0" rIns="0" bIns="0" rtlCol="0" anchor="ctr"/>
          <a:lstStyle/>
          <a:p>
            <a:pPr algn="ctr" indent="0" marL="0">
              <a:buNone/>
            </a:pPr>
            <a:r>
              <a:rPr lang="en-US" sz="1000" b="1" dirty="0">
                <a:solidFill>
                  <a:srgbClr val="FFFFFF"/>
                </a:solidFill>
              </a:rPr>
              <a:t>Develop</a:t>
            </a:r>
            <a:endParaRPr lang="en-US" sz="1000" dirty="0"/>
          </a:p>
        </p:txBody>
      </p:sp>
      <p:sp>
        <p:nvSpPr>
          <p:cNvPr id="23" name="Text 20"/>
          <p:cNvSpPr/>
          <p:nvPr/>
        </p:nvSpPr>
        <p:spPr>
          <a:xfrm>
            <a:off x="1755648" y="2743200"/>
            <a:ext cx="1408176" cy="365760"/>
          </a:xfrm>
          <a:prstGeom prst="rect">
            <a:avLst/>
          </a:prstGeom>
          <a:noFill/>
          <a:ln/>
        </p:spPr>
        <p:txBody>
          <a:bodyPr wrap="square" lIns="0" tIns="0" rIns="0" bIns="0" rtlCol="0" anchor="ctr"/>
          <a:lstStyle/>
          <a:p>
            <a:pPr algn="ctr" indent="0" marL="0">
              <a:buNone/>
            </a:pPr>
            <a:r>
              <a:rPr lang="en-US" sz="1200" b="1" dirty="0">
                <a:solidFill>
                  <a:srgbClr val="9D5CFF"/>
                </a:solidFill>
              </a:rPr>
              <a:t>×5</a:t>
            </a:r>
            <a:endParaRPr lang="en-US" sz="1200" dirty="0"/>
          </a:p>
        </p:txBody>
      </p:sp>
      <p:pic>
        <p:nvPicPr>
          <p:cNvPr id="24" name="Image 1" descr="preencoded.png">    </p:cNvPr>
          <p:cNvPicPr>
            <a:picLocks noChangeAspect="1"/>
          </p:cNvPicPr>
          <p:nvPr/>
        </p:nvPicPr>
        <p:blipFill>
          <a:blip r:embed="rId2"/>
          <a:stretch>
            <a:fillRect/>
          </a:stretch>
        </p:blipFill>
        <p:spPr>
          <a:xfrm>
            <a:off x="3145536" y="2715768"/>
            <a:ext cx="182880" cy="182880"/>
          </a:xfrm>
          <a:prstGeom prst="rect">
            <a:avLst/>
          </a:prstGeom>
        </p:spPr>
      </p:pic>
      <p:sp>
        <p:nvSpPr>
          <p:cNvPr id="25" name="Shape 21"/>
          <p:cNvSpPr/>
          <p:nvPr/>
        </p:nvSpPr>
        <p:spPr>
          <a:xfrm>
            <a:off x="3163824" y="2432304"/>
            <a:ext cx="1408176" cy="731520"/>
          </a:xfrm>
          <a:prstGeom prst="rect">
            <a:avLst/>
          </a:prstGeom>
          <a:solidFill>
            <a:srgbClr val="7C3AED">
              <a:alpha val="32000"/>
            </a:srgbClr>
          </a:solidFill>
          <a:ln w="25400">
            <a:solidFill>
              <a:srgbClr val="7C3AED"/>
            </a:solidFill>
            <a:prstDash val="solid"/>
          </a:ln>
        </p:spPr>
      </p:sp>
      <p:sp>
        <p:nvSpPr>
          <p:cNvPr id="26" name="Text 22"/>
          <p:cNvSpPr/>
          <p:nvPr/>
        </p:nvSpPr>
        <p:spPr>
          <a:xfrm>
            <a:off x="3163824" y="2432304"/>
            <a:ext cx="1408176" cy="329184"/>
          </a:xfrm>
          <a:prstGeom prst="rect">
            <a:avLst/>
          </a:prstGeom>
          <a:noFill/>
          <a:ln/>
        </p:spPr>
        <p:txBody>
          <a:bodyPr wrap="square" lIns="0" tIns="0" rIns="0" bIns="0" rtlCol="0" anchor="ctr"/>
          <a:lstStyle/>
          <a:p>
            <a:pPr algn="ctr" indent="0" marL="0">
              <a:buNone/>
            </a:pPr>
            <a:r>
              <a:rPr lang="en-US" sz="1000" b="1" dirty="0">
                <a:solidFill>
                  <a:srgbClr val="FFFFFF"/>
                </a:solidFill>
              </a:rPr>
              <a:t>Test</a:t>
            </a:r>
            <a:endParaRPr lang="en-US" sz="1000" dirty="0"/>
          </a:p>
        </p:txBody>
      </p:sp>
      <p:sp>
        <p:nvSpPr>
          <p:cNvPr id="27" name="Text 23"/>
          <p:cNvSpPr/>
          <p:nvPr/>
        </p:nvSpPr>
        <p:spPr>
          <a:xfrm>
            <a:off x="3163824" y="2743200"/>
            <a:ext cx="1408176" cy="365760"/>
          </a:xfrm>
          <a:prstGeom prst="rect">
            <a:avLst/>
          </a:prstGeom>
          <a:noFill/>
          <a:ln/>
        </p:spPr>
        <p:txBody>
          <a:bodyPr wrap="square" lIns="0" tIns="0" rIns="0" bIns="0" rtlCol="0" anchor="ctr"/>
          <a:lstStyle/>
          <a:p>
            <a:pPr algn="ctr" indent="0" marL="0">
              <a:buNone/>
            </a:pPr>
            <a:r>
              <a:rPr lang="en-US" sz="1200" b="1" dirty="0">
                <a:solidFill>
                  <a:srgbClr val="7C3AED"/>
                </a:solidFill>
              </a:rPr>
              <a:t>×15</a:t>
            </a:r>
            <a:endParaRPr lang="en-US" sz="1200" dirty="0"/>
          </a:p>
        </p:txBody>
      </p:sp>
      <p:pic>
        <p:nvPicPr>
          <p:cNvPr id="28" name="Image 2" descr="preencoded.png">    </p:cNvPr>
          <p:cNvPicPr>
            <a:picLocks noChangeAspect="1"/>
          </p:cNvPicPr>
          <p:nvPr/>
        </p:nvPicPr>
        <p:blipFill>
          <a:blip r:embed="rId3"/>
          <a:stretch>
            <a:fillRect/>
          </a:stretch>
        </p:blipFill>
        <p:spPr>
          <a:xfrm>
            <a:off x="4553712" y="2715768"/>
            <a:ext cx="182880" cy="182880"/>
          </a:xfrm>
          <a:prstGeom prst="rect">
            <a:avLst/>
          </a:prstGeom>
        </p:spPr>
      </p:pic>
      <p:sp>
        <p:nvSpPr>
          <p:cNvPr id="29" name="Shape 24"/>
          <p:cNvSpPr/>
          <p:nvPr/>
        </p:nvSpPr>
        <p:spPr>
          <a:xfrm>
            <a:off x="4572000" y="2432304"/>
            <a:ext cx="1408176" cy="731520"/>
          </a:xfrm>
          <a:prstGeom prst="rect">
            <a:avLst/>
          </a:prstGeom>
          <a:solidFill>
            <a:srgbClr val="FFB830">
              <a:alpha val="32000"/>
            </a:srgbClr>
          </a:solidFill>
          <a:ln w="25400">
            <a:solidFill>
              <a:srgbClr val="FFB830"/>
            </a:solidFill>
            <a:prstDash val="solid"/>
          </a:ln>
        </p:spPr>
      </p:sp>
      <p:sp>
        <p:nvSpPr>
          <p:cNvPr id="30" name="Text 25"/>
          <p:cNvSpPr/>
          <p:nvPr/>
        </p:nvSpPr>
        <p:spPr>
          <a:xfrm>
            <a:off x="4572000" y="2432304"/>
            <a:ext cx="1408176" cy="329184"/>
          </a:xfrm>
          <a:prstGeom prst="rect">
            <a:avLst/>
          </a:prstGeom>
          <a:noFill/>
          <a:ln/>
        </p:spPr>
        <p:txBody>
          <a:bodyPr wrap="square" lIns="0" tIns="0" rIns="0" bIns="0" rtlCol="0" anchor="ctr"/>
          <a:lstStyle/>
          <a:p>
            <a:pPr algn="ctr" indent="0" marL="0">
              <a:buNone/>
            </a:pPr>
            <a:r>
              <a:rPr lang="en-US" sz="1000" b="1" dirty="0">
                <a:solidFill>
                  <a:srgbClr val="FFFFFF"/>
                </a:solidFill>
              </a:rPr>
              <a:t>Staging</a:t>
            </a:r>
            <a:endParaRPr lang="en-US" sz="1000" dirty="0"/>
          </a:p>
        </p:txBody>
      </p:sp>
      <p:sp>
        <p:nvSpPr>
          <p:cNvPr id="31" name="Text 26"/>
          <p:cNvSpPr/>
          <p:nvPr/>
        </p:nvSpPr>
        <p:spPr>
          <a:xfrm>
            <a:off x="4572000" y="2743200"/>
            <a:ext cx="1408176" cy="365760"/>
          </a:xfrm>
          <a:prstGeom prst="rect">
            <a:avLst/>
          </a:prstGeom>
          <a:noFill/>
          <a:ln/>
        </p:spPr>
        <p:txBody>
          <a:bodyPr wrap="square" lIns="0" tIns="0" rIns="0" bIns="0" rtlCol="0" anchor="ctr"/>
          <a:lstStyle/>
          <a:p>
            <a:pPr algn="ctr" indent="0" marL="0">
              <a:buNone/>
            </a:pPr>
            <a:r>
              <a:rPr lang="en-US" sz="1200" b="1" dirty="0">
                <a:solidFill>
                  <a:srgbClr val="FFB830"/>
                </a:solidFill>
              </a:rPr>
              <a:t>×50</a:t>
            </a:r>
            <a:endParaRPr lang="en-US" sz="1200" dirty="0"/>
          </a:p>
        </p:txBody>
      </p:sp>
      <p:pic>
        <p:nvPicPr>
          <p:cNvPr id="32" name="Image 3" descr="preencoded.png">    </p:cNvPr>
          <p:cNvPicPr>
            <a:picLocks noChangeAspect="1"/>
          </p:cNvPicPr>
          <p:nvPr/>
        </p:nvPicPr>
        <p:blipFill>
          <a:blip r:embed="rId4"/>
          <a:stretch>
            <a:fillRect/>
          </a:stretch>
        </p:blipFill>
        <p:spPr>
          <a:xfrm>
            <a:off x="5961888" y="2715768"/>
            <a:ext cx="182880" cy="182880"/>
          </a:xfrm>
          <a:prstGeom prst="rect">
            <a:avLst/>
          </a:prstGeom>
        </p:spPr>
      </p:pic>
      <p:sp>
        <p:nvSpPr>
          <p:cNvPr id="33" name="Shape 27"/>
          <p:cNvSpPr/>
          <p:nvPr/>
        </p:nvSpPr>
        <p:spPr>
          <a:xfrm>
            <a:off x="5980176" y="2432304"/>
            <a:ext cx="1408176" cy="731520"/>
          </a:xfrm>
          <a:prstGeom prst="rect">
            <a:avLst/>
          </a:prstGeom>
          <a:solidFill>
            <a:srgbClr val="E8601A">
              <a:alpha val="32000"/>
            </a:srgbClr>
          </a:solidFill>
          <a:ln w="25400">
            <a:solidFill>
              <a:srgbClr val="E8601A"/>
            </a:solidFill>
            <a:prstDash val="solid"/>
          </a:ln>
        </p:spPr>
      </p:sp>
      <p:sp>
        <p:nvSpPr>
          <p:cNvPr id="34" name="Text 28"/>
          <p:cNvSpPr/>
          <p:nvPr/>
        </p:nvSpPr>
        <p:spPr>
          <a:xfrm>
            <a:off x="5980176" y="2432304"/>
            <a:ext cx="1408176" cy="329184"/>
          </a:xfrm>
          <a:prstGeom prst="rect">
            <a:avLst/>
          </a:prstGeom>
          <a:noFill/>
          <a:ln/>
        </p:spPr>
        <p:txBody>
          <a:bodyPr wrap="square" lIns="0" tIns="0" rIns="0" bIns="0" rtlCol="0" anchor="ctr"/>
          <a:lstStyle/>
          <a:p>
            <a:pPr algn="ctr" indent="0" marL="0">
              <a:buNone/>
            </a:pPr>
            <a:r>
              <a:rPr lang="en-US" sz="1000" b="1" dirty="0">
                <a:solidFill>
                  <a:srgbClr val="FFFFFF"/>
                </a:solidFill>
              </a:rPr>
              <a:t>Prod</a:t>
            </a:r>
            <a:endParaRPr lang="en-US" sz="1000" dirty="0"/>
          </a:p>
        </p:txBody>
      </p:sp>
      <p:sp>
        <p:nvSpPr>
          <p:cNvPr id="35" name="Text 29"/>
          <p:cNvSpPr/>
          <p:nvPr/>
        </p:nvSpPr>
        <p:spPr>
          <a:xfrm>
            <a:off x="5980176" y="2743200"/>
            <a:ext cx="1408176" cy="365760"/>
          </a:xfrm>
          <a:prstGeom prst="rect">
            <a:avLst/>
          </a:prstGeom>
          <a:noFill/>
          <a:ln/>
        </p:spPr>
        <p:txBody>
          <a:bodyPr wrap="square" lIns="0" tIns="0" rIns="0" bIns="0" rtlCol="0" anchor="ctr"/>
          <a:lstStyle/>
          <a:p>
            <a:pPr algn="ctr" indent="0" marL="0">
              <a:buNone/>
            </a:pPr>
            <a:r>
              <a:rPr lang="en-US" sz="1400" b="1" dirty="0">
                <a:solidFill>
                  <a:srgbClr val="E8601A"/>
                </a:solidFill>
              </a:rPr>
              <a:t>×200</a:t>
            </a:r>
            <a:endParaRPr lang="en-US" sz="1400" dirty="0"/>
          </a:p>
        </p:txBody>
      </p:sp>
      <p:pic>
        <p:nvPicPr>
          <p:cNvPr id="36" name="Image 4" descr="preencoded.png">    </p:cNvPr>
          <p:cNvPicPr>
            <a:picLocks noChangeAspect="1"/>
          </p:cNvPicPr>
          <p:nvPr/>
        </p:nvPicPr>
        <p:blipFill>
          <a:blip r:embed="rId5"/>
          <a:stretch>
            <a:fillRect/>
          </a:stretch>
        </p:blipFill>
        <p:spPr>
          <a:xfrm>
            <a:off x="7370064" y="2715768"/>
            <a:ext cx="182880" cy="182880"/>
          </a:xfrm>
          <a:prstGeom prst="rect">
            <a:avLst/>
          </a:prstGeom>
        </p:spPr>
      </p:pic>
      <p:sp>
        <p:nvSpPr>
          <p:cNvPr id="37" name="Shape 30"/>
          <p:cNvSpPr/>
          <p:nvPr/>
        </p:nvSpPr>
        <p:spPr>
          <a:xfrm>
            <a:off x="7388352" y="2432304"/>
            <a:ext cx="1389888" cy="731520"/>
          </a:xfrm>
          <a:prstGeom prst="rect">
            <a:avLst/>
          </a:prstGeom>
          <a:solidFill>
            <a:srgbClr val="FF4D6D">
              <a:alpha val="32000"/>
            </a:srgbClr>
          </a:solidFill>
          <a:ln w="25400">
            <a:solidFill>
              <a:srgbClr val="FF4D6D"/>
            </a:solidFill>
            <a:prstDash val="solid"/>
          </a:ln>
        </p:spPr>
      </p:sp>
      <p:sp>
        <p:nvSpPr>
          <p:cNvPr id="38" name="Text 31"/>
          <p:cNvSpPr/>
          <p:nvPr/>
        </p:nvSpPr>
        <p:spPr>
          <a:xfrm>
            <a:off x="7388352" y="2432304"/>
            <a:ext cx="1389888" cy="329184"/>
          </a:xfrm>
          <a:prstGeom prst="rect">
            <a:avLst/>
          </a:prstGeom>
          <a:noFill/>
          <a:ln/>
        </p:spPr>
        <p:txBody>
          <a:bodyPr wrap="square" lIns="0" tIns="0" rIns="0" bIns="0" rtlCol="0" anchor="ctr"/>
          <a:lstStyle/>
          <a:p>
            <a:pPr algn="ctr" indent="0" marL="0">
              <a:buNone/>
            </a:pPr>
            <a:r>
              <a:rPr lang="en-US" sz="1000" b="1" dirty="0">
                <a:solidFill>
                  <a:srgbClr val="FFFFFF"/>
                </a:solidFill>
              </a:rPr>
              <a:t>Incident</a:t>
            </a:r>
            <a:endParaRPr lang="en-US" sz="1000" dirty="0"/>
          </a:p>
        </p:txBody>
      </p:sp>
      <p:sp>
        <p:nvSpPr>
          <p:cNvPr id="39" name="Text 32"/>
          <p:cNvSpPr/>
          <p:nvPr/>
        </p:nvSpPr>
        <p:spPr>
          <a:xfrm>
            <a:off x="7388352" y="2743200"/>
            <a:ext cx="1389888" cy="365760"/>
          </a:xfrm>
          <a:prstGeom prst="rect">
            <a:avLst/>
          </a:prstGeom>
          <a:noFill/>
          <a:ln/>
        </p:spPr>
        <p:txBody>
          <a:bodyPr wrap="square" lIns="0" tIns="0" rIns="0" bIns="0" rtlCol="0" anchor="ctr"/>
          <a:lstStyle/>
          <a:p>
            <a:pPr algn="ctr" indent="0" marL="0">
              <a:buNone/>
            </a:pPr>
            <a:r>
              <a:rPr lang="en-US" sz="1400" b="1" dirty="0">
                <a:solidFill>
                  <a:srgbClr val="FF4D6D"/>
                </a:solidFill>
              </a:rPr>
              <a:t>×1000</a:t>
            </a:r>
            <a:endParaRPr lang="en-US" sz="1400" dirty="0"/>
          </a:p>
        </p:txBody>
      </p:sp>
      <p:sp>
        <p:nvSpPr>
          <p:cNvPr id="40" name="Text 33"/>
          <p:cNvSpPr/>
          <p:nvPr/>
        </p:nvSpPr>
        <p:spPr>
          <a:xfrm>
            <a:off x="347472" y="3218688"/>
            <a:ext cx="5577840" cy="219456"/>
          </a:xfrm>
          <a:prstGeom prst="rect">
            <a:avLst/>
          </a:prstGeom>
          <a:noFill/>
          <a:ln/>
        </p:spPr>
        <p:txBody>
          <a:bodyPr wrap="square" lIns="0" tIns="0" rIns="0" bIns="0" rtlCol="0" anchor="ctr"/>
          <a:lstStyle/>
          <a:p>
            <a:pPr algn="l" indent="0" marL="0">
              <a:buNone/>
            </a:pPr>
            <a:r>
              <a:rPr lang="en-US" sz="800" i="1" dirty="0">
                <a:solidFill>
                  <a:srgbClr val="3D3066"/>
                </a:solidFill>
              </a:rPr>
              <a:t>Cost to fix a defect at each stage  ·  IBM Systems Sciences Institute</a:t>
            </a:r>
            <a:endParaRPr lang="en-US" sz="800" dirty="0"/>
          </a:p>
        </p:txBody>
      </p:sp>
      <p:sp>
        <p:nvSpPr>
          <p:cNvPr id="41" name="Shape 34"/>
          <p:cNvSpPr/>
          <p:nvPr/>
        </p:nvSpPr>
        <p:spPr>
          <a:xfrm>
            <a:off x="804672" y="3090672"/>
            <a:ext cx="182880" cy="182880"/>
          </a:xfrm>
          <a:prstGeom prst="ellipse">
            <a:avLst/>
          </a:prstGeom>
          <a:solidFill>
            <a:srgbClr val="C8E600"/>
          </a:solidFill>
          <a:ln w="12700">
            <a:solidFill>
              <a:srgbClr val="C8E600"/>
            </a:solidFill>
            <a:prstDash val="solid"/>
          </a:ln>
        </p:spPr>
      </p:sp>
      <p:sp>
        <p:nvSpPr>
          <p:cNvPr id="42" name="Shape 35"/>
          <p:cNvSpPr/>
          <p:nvPr/>
        </p:nvSpPr>
        <p:spPr>
          <a:xfrm>
            <a:off x="896112" y="3273552"/>
            <a:ext cx="0" cy="201168"/>
          </a:xfrm>
          <a:prstGeom prst="line">
            <a:avLst/>
          </a:prstGeom>
          <a:noFill/>
          <a:ln w="19050">
            <a:solidFill>
              <a:srgbClr val="C8E600"/>
            </a:solidFill>
            <a:prstDash val="sysDot"/>
          </a:ln>
        </p:spPr>
      </p:sp>
      <p:sp>
        <p:nvSpPr>
          <p:cNvPr id="43" name="Shape 36"/>
          <p:cNvSpPr/>
          <p:nvPr/>
        </p:nvSpPr>
        <p:spPr>
          <a:xfrm>
            <a:off x="347472" y="3493008"/>
            <a:ext cx="2670048" cy="1481328"/>
          </a:xfrm>
          <a:prstGeom prst="rect">
            <a:avLst/>
          </a:prstGeom>
          <a:solidFill>
            <a:srgbClr val="1A1445"/>
          </a:solidFill>
          <a:ln/>
          <a:effectLst>
            <a:outerShdw sx="100000" sy="100000" kx="0" ky="0" algn="bl" rotWithShape="0" blurRad="228600" dist="63500" dir="8100000">
              <a:srgbClr val="000000">
                <a:alpha val="45000"/>
              </a:srgbClr>
            </a:outerShdw>
          </a:effectLst>
        </p:spPr>
      </p:sp>
      <p:sp>
        <p:nvSpPr>
          <p:cNvPr id="44" name="Shape 37"/>
          <p:cNvSpPr/>
          <p:nvPr/>
        </p:nvSpPr>
        <p:spPr>
          <a:xfrm>
            <a:off x="347472" y="3493008"/>
            <a:ext cx="2670048" cy="64008"/>
          </a:xfrm>
          <a:prstGeom prst="rect">
            <a:avLst/>
          </a:prstGeom>
          <a:solidFill>
            <a:srgbClr val="C8E600"/>
          </a:solidFill>
          <a:ln w="12700">
            <a:solidFill>
              <a:srgbClr val="C8E600"/>
            </a:solidFill>
            <a:prstDash val="solid"/>
          </a:ln>
        </p:spPr>
      </p:sp>
      <p:sp>
        <p:nvSpPr>
          <p:cNvPr id="45" name="Shape 38"/>
          <p:cNvSpPr/>
          <p:nvPr/>
        </p:nvSpPr>
        <p:spPr>
          <a:xfrm>
            <a:off x="475488" y="3621024"/>
            <a:ext cx="420624" cy="420624"/>
          </a:xfrm>
          <a:prstGeom prst="ellipse">
            <a:avLst/>
          </a:prstGeom>
          <a:solidFill>
            <a:srgbClr val="C8E600">
              <a:alpha val="22000"/>
            </a:srgbClr>
          </a:solidFill>
          <a:ln w="19050">
            <a:solidFill>
              <a:srgbClr val="C8E600"/>
            </a:solidFill>
            <a:prstDash val="solid"/>
          </a:ln>
        </p:spPr>
      </p:sp>
      <p:pic>
        <p:nvPicPr>
          <p:cNvPr id="46" name="Image 5" descr="preencoded.png">    </p:cNvPr>
          <p:cNvPicPr>
            <a:picLocks noChangeAspect="1"/>
          </p:cNvPicPr>
          <p:nvPr/>
        </p:nvPicPr>
        <p:blipFill>
          <a:blip r:embed="rId6"/>
          <a:stretch>
            <a:fillRect/>
          </a:stretch>
        </p:blipFill>
        <p:spPr>
          <a:xfrm>
            <a:off x="576072" y="3721608"/>
            <a:ext cx="219456" cy="219456"/>
          </a:xfrm>
          <a:prstGeom prst="rect">
            <a:avLst/>
          </a:prstGeom>
        </p:spPr>
      </p:pic>
      <p:sp>
        <p:nvSpPr>
          <p:cNvPr id="47" name="Text 39"/>
          <p:cNvSpPr/>
          <p:nvPr/>
        </p:nvSpPr>
        <p:spPr>
          <a:xfrm>
            <a:off x="987552" y="3602736"/>
            <a:ext cx="457200" cy="201168"/>
          </a:xfrm>
          <a:prstGeom prst="rect">
            <a:avLst/>
          </a:prstGeom>
          <a:noFill/>
          <a:ln/>
        </p:spPr>
        <p:txBody>
          <a:bodyPr wrap="square" lIns="0" tIns="0" rIns="0" bIns="0" rtlCol="0" anchor="ctr"/>
          <a:lstStyle/>
          <a:p>
            <a:pPr indent="0" marL="0">
              <a:buNone/>
            </a:pPr>
            <a:r>
              <a:rPr lang="en-US" sz="950" b="1" dirty="0">
                <a:solidFill>
                  <a:srgbClr val="C8E600"/>
                </a:solidFill>
              </a:rPr>
              <a:t>01</a:t>
            </a:r>
            <a:endParaRPr lang="en-US" sz="950" dirty="0"/>
          </a:p>
        </p:txBody>
      </p:sp>
      <p:sp>
        <p:nvSpPr>
          <p:cNvPr id="48" name="Text 40"/>
          <p:cNvSpPr/>
          <p:nvPr/>
        </p:nvSpPr>
        <p:spPr>
          <a:xfrm>
            <a:off x="987552" y="3767328"/>
            <a:ext cx="1920240" cy="274320"/>
          </a:xfrm>
          <a:prstGeom prst="rect">
            <a:avLst/>
          </a:prstGeom>
          <a:noFill/>
          <a:ln/>
        </p:spPr>
        <p:txBody>
          <a:bodyPr wrap="square" lIns="0" tIns="0" rIns="0" bIns="0" rtlCol="0" anchor="ctr"/>
          <a:lstStyle/>
          <a:p>
            <a:pPr indent="0" marL="0">
              <a:buNone/>
            </a:pPr>
            <a:r>
              <a:rPr lang="en-US" sz="1300" b="1" dirty="0">
                <a:solidFill>
                  <a:srgbClr val="FFFFFF"/>
                </a:solidFill>
              </a:rPr>
              <a:t>Threat Modeling</a:t>
            </a:r>
            <a:endParaRPr lang="en-US" sz="1300" dirty="0"/>
          </a:p>
        </p:txBody>
      </p:sp>
      <p:sp>
        <p:nvSpPr>
          <p:cNvPr id="49" name="Text 41"/>
          <p:cNvSpPr/>
          <p:nvPr/>
        </p:nvSpPr>
        <p:spPr>
          <a:xfrm>
            <a:off x="987552" y="4023360"/>
            <a:ext cx="1920240" cy="182880"/>
          </a:xfrm>
          <a:prstGeom prst="rect">
            <a:avLst/>
          </a:prstGeom>
          <a:noFill/>
          <a:ln/>
        </p:spPr>
        <p:txBody>
          <a:bodyPr wrap="square" lIns="0" tIns="0" rIns="0" bIns="0" rtlCol="0" anchor="ctr"/>
          <a:lstStyle/>
          <a:p>
            <a:pPr indent="0" marL="0">
              <a:buNone/>
            </a:pPr>
            <a:r>
              <a:rPr lang="en-US" sz="950" i="1" dirty="0">
                <a:solidFill>
                  <a:srgbClr val="C8E600"/>
                </a:solidFill>
              </a:rPr>
              <a:t>Security at Design</a:t>
            </a:r>
            <a:endParaRPr lang="en-US" sz="950" dirty="0"/>
          </a:p>
        </p:txBody>
      </p:sp>
      <p:sp>
        <p:nvSpPr>
          <p:cNvPr id="50" name="Shape 42"/>
          <p:cNvSpPr/>
          <p:nvPr/>
        </p:nvSpPr>
        <p:spPr>
          <a:xfrm>
            <a:off x="475488" y="4270248"/>
            <a:ext cx="2432304" cy="0"/>
          </a:xfrm>
          <a:prstGeom prst="line">
            <a:avLst/>
          </a:prstGeom>
          <a:noFill/>
          <a:ln w="12700">
            <a:solidFill>
              <a:srgbClr val="3D3066"/>
            </a:solidFill>
            <a:prstDash val="solid"/>
          </a:ln>
        </p:spPr>
      </p:sp>
      <p:sp>
        <p:nvSpPr>
          <p:cNvPr id="51" name="Text 43"/>
          <p:cNvSpPr/>
          <p:nvPr/>
        </p:nvSpPr>
        <p:spPr>
          <a:xfrm>
            <a:off x="475488" y="4334256"/>
            <a:ext cx="2432304" cy="566928"/>
          </a:xfrm>
          <a:prstGeom prst="rect">
            <a:avLst/>
          </a:prstGeom>
          <a:noFill/>
          <a:ln/>
        </p:spPr>
        <p:txBody>
          <a:bodyPr wrap="square" lIns="0" tIns="0" rIns="0" bIns="0" rtlCol="0" anchor="t"/>
          <a:lstStyle/>
          <a:p>
            <a:pPr indent="0" marL="0">
              <a:buNone/>
            </a:pPr>
            <a:r>
              <a:rPr lang="en-US" sz="1000" dirty="0">
                <a:solidFill>
                  <a:srgbClr val="C4B8E0"/>
                </a:solidFill>
              </a:rPr>
              <a:t>STRIDE in the IDE.</a:t>
            </a:r>
            <a:endParaRPr lang="en-US" sz="1000" dirty="0"/>
          </a:p>
          <a:p>
            <a:pPr indent="0" marL="0">
              <a:buNone/>
            </a:pPr>
            <a:r>
              <a:rPr lang="en-US" sz="1000" dirty="0">
                <a:solidFill>
                  <a:srgbClr val="C4B8E0"/>
                </a:solidFill>
              </a:rPr>
              <a:t>Catch vulns before first commit.</a:t>
            </a:r>
            <a:endParaRPr lang="en-US" sz="1000" dirty="0"/>
          </a:p>
        </p:txBody>
      </p:sp>
      <p:sp>
        <p:nvSpPr>
          <p:cNvPr id="52" name="Shape 44"/>
          <p:cNvSpPr/>
          <p:nvPr/>
        </p:nvSpPr>
        <p:spPr>
          <a:xfrm>
            <a:off x="1207008" y="3090672"/>
            <a:ext cx="182880" cy="182880"/>
          </a:xfrm>
          <a:prstGeom prst="ellipse">
            <a:avLst/>
          </a:prstGeom>
          <a:solidFill>
            <a:srgbClr val="9D5CFF"/>
          </a:solidFill>
          <a:ln w="12700">
            <a:solidFill>
              <a:srgbClr val="9D5CFF"/>
            </a:solidFill>
            <a:prstDash val="solid"/>
          </a:ln>
        </p:spPr>
      </p:sp>
      <p:sp>
        <p:nvSpPr>
          <p:cNvPr id="53" name="Shape 45"/>
          <p:cNvSpPr/>
          <p:nvPr/>
        </p:nvSpPr>
        <p:spPr>
          <a:xfrm>
            <a:off x="1298448" y="3273552"/>
            <a:ext cx="0" cy="201168"/>
          </a:xfrm>
          <a:prstGeom prst="line">
            <a:avLst/>
          </a:prstGeom>
          <a:noFill/>
          <a:ln w="19050">
            <a:solidFill>
              <a:srgbClr val="9D5CFF"/>
            </a:solidFill>
            <a:prstDash val="sysDot"/>
          </a:ln>
        </p:spPr>
      </p:sp>
      <p:sp>
        <p:nvSpPr>
          <p:cNvPr id="54" name="Shape 46"/>
          <p:cNvSpPr/>
          <p:nvPr/>
        </p:nvSpPr>
        <p:spPr>
          <a:xfrm>
            <a:off x="3163824" y="3493008"/>
            <a:ext cx="2670048" cy="1481328"/>
          </a:xfrm>
          <a:prstGeom prst="rect">
            <a:avLst/>
          </a:prstGeom>
          <a:solidFill>
            <a:srgbClr val="1A1445"/>
          </a:solidFill>
          <a:ln/>
          <a:effectLst>
            <a:outerShdw sx="100000" sy="100000" kx="0" ky="0" algn="bl" rotWithShape="0" blurRad="228600" dist="63500" dir="8100000">
              <a:srgbClr val="000000">
                <a:alpha val="45000"/>
              </a:srgbClr>
            </a:outerShdw>
          </a:effectLst>
        </p:spPr>
      </p:sp>
      <p:sp>
        <p:nvSpPr>
          <p:cNvPr id="55" name="Shape 47"/>
          <p:cNvSpPr/>
          <p:nvPr/>
        </p:nvSpPr>
        <p:spPr>
          <a:xfrm>
            <a:off x="3163824" y="3493008"/>
            <a:ext cx="2670048" cy="64008"/>
          </a:xfrm>
          <a:prstGeom prst="rect">
            <a:avLst/>
          </a:prstGeom>
          <a:solidFill>
            <a:srgbClr val="9D5CFF"/>
          </a:solidFill>
          <a:ln w="12700">
            <a:solidFill>
              <a:srgbClr val="9D5CFF"/>
            </a:solidFill>
            <a:prstDash val="solid"/>
          </a:ln>
        </p:spPr>
      </p:sp>
      <p:sp>
        <p:nvSpPr>
          <p:cNvPr id="56" name="Shape 48"/>
          <p:cNvSpPr/>
          <p:nvPr/>
        </p:nvSpPr>
        <p:spPr>
          <a:xfrm>
            <a:off x="3291840" y="3621024"/>
            <a:ext cx="420624" cy="420624"/>
          </a:xfrm>
          <a:prstGeom prst="ellipse">
            <a:avLst/>
          </a:prstGeom>
          <a:solidFill>
            <a:srgbClr val="9D5CFF">
              <a:alpha val="22000"/>
            </a:srgbClr>
          </a:solidFill>
          <a:ln w="19050">
            <a:solidFill>
              <a:srgbClr val="9D5CFF"/>
            </a:solidFill>
            <a:prstDash val="solid"/>
          </a:ln>
        </p:spPr>
      </p:sp>
      <p:pic>
        <p:nvPicPr>
          <p:cNvPr id="57" name="Image 6" descr="preencoded.png">    </p:cNvPr>
          <p:cNvPicPr>
            <a:picLocks noChangeAspect="1"/>
          </p:cNvPicPr>
          <p:nvPr/>
        </p:nvPicPr>
        <p:blipFill>
          <a:blip r:embed="rId7"/>
          <a:stretch>
            <a:fillRect/>
          </a:stretch>
        </p:blipFill>
        <p:spPr>
          <a:xfrm>
            <a:off x="3392424" y="3721608"/>
            <a:ext cx="219456" cy="219456"/>
          </a:xfrm>
          <a:prstGeom prst="rect">
            <a:avLst/>
          </a:prstGeom>
        </p:spPr>
      </p:pic>
      <p:sp>
        <p:nvSpPr>
          <p:cNvPr id="58" name="Text 49"/>
          <p:cNvSpPr/>
          <p:nvPr/>
        </p:nvSpPr>
        <p:spPr>
          <a:xfrm>
            <a:off x="3803904" y="3602736"/>
            <a:ext cx="457200" cy="201168"/>
          </a:xfrm>
          <a:prstGeom prst="rect">
            <a:avLst/>
          </a:prstGeom>
          <a:noFill/>
          <a:ln/>
        </p:spPr>
        <p:txBody>
          <a:bodyPr wrap="square" lIns="0" tIns="0" rIns="0" bIns="0" rtlCol="0" anchor="ctr"/>
          <a:lstStyle/>
          <a:p>
            <a:pPr indent="0" marL="0">
              <a:buNone/>
            </a:pPr>
            <a:r>
              <a:rPr lang="en-US" sz="950" b="1" dirty="0">
                <a:solidFill>
                  <a:srgbClr val="9D5CFF"/>
                </a:solidFill>
              </a:rPr>
              <a:t>02</a:t>
            </a:r>
            <a:endParaRPr lang="en-US" sz="950" dirty="0"/>
          </a:p>
        </p:txBody>
      </p:sp>
      <p:sp>
        <p:nvSpPr>
          <p:cNvPr id="59" name="Text 50"/>
          <p:cNvSpPr/>
          <p:nvPr/>
        </p:nvSpPr>
        <p:spPr>
          <a:xfrm>
            <a:off x="3803904" y="3767328"/>
            <a:ext cx="1920240" cy="274320"/>
          </a:xfrm>
          <a:prstGeom prst="rect">
            <a:avLst/>
          </a:prstGeom>
          <a:noFill/>
          <a:ln/>
        </p:spPr>
        <p:txBody>
          <a:bodyPr wrap="square" lIns="0" tIns="0" rIns="0" bIns="0" rtlCol="0" anchor="ctr"/>
          <a:lstStyle/>
          <a:p>
            <a:pPr indent="0" marL="0">
              <a:buNone/>
            </a:pPr>
            <a:r>
              <a:rPr lang="en-US" sz="1300" b="1" dirty="0">
                <a:solidFill>
                  <a:srgbClr val="FFFFFF"/>
                </a:solidFill>
              </a:rPr>
              <a:t>Chaos Engineering</a:t>
            </a:r>
            <a:endParaRPr lang="en-US" sz="1300" dirty="0"/>
          </a:p>
        </p:txBody>
      </p:sp>
      <p:sp>
        <p:nvSpPr>
          <p:cNvPr id="60" name="Text 51"/>
          <p:cNvSpPr/>
          <p:nvPr/>
        </p:nvSpPr>
        <p:spPr>
          <a:xfrm>
            <a:off x="3803904" y="4023360"/>
            <a:ext cx="1920240" cy="182880"/>
          </a:xfrm>
          <a:prstGeom prst="rect">
            <a:avLst/>
          </a:prstGeom>
          <a:noFill/>
          <a:ln/>
        </p:spPr>
        <p:txBody>
          <a:bodyPr wrap="square" lIns="0" tIns="0" rIns="0" bIns="0" rtlCol="0" anchor="ctr"/>
          <a:lstStyle/>
          <a:p>
            <a:pPr indent="0" marL="0">
              <a:buNone/>
            </a:pPr>
            <a:r>
              <a:rPr lang="en-US" sz="950" i="1" dirty="0">
                <a:solidFill>
                  <a:srgbClr val="9D5CFF"/>
                </a:solidFill>
              </a:rPr>
              <a:t>Resilience by Design</a:t>
            </a:r>
            <a:endParaRPr lang="en-US" sz="950" dirty="0"/>
          </a:p>
        </p:txBody>
      </p:sp>
      <p:sp>
        <p:nvSpPr>
          <p:cNvPr id="61" name="Shape 52"/>
          <p:cNvSpPr/>
          <p:nvPr/>
        </p:nvSpPr>
        <p:spPr>
          <a:xfrm>
            <a:off x="3291840" y="4270248"/>
            <a:ext cx="2432304" cy="0"/>
          </a:xfrm>
          <a:prstGeom prst="line">
            <a:avLst/>
          </a:prstGeom>
          <a:noFill/>
          <a:ln w="12700">
            <a:solidFill>
              <a:srgbClr val="3D3066"/>
            </a:solidFill>
            <a:prstDash val="solid"/>
          </a:ln>
        </p:spPr>
      </p:sp>
      <p:sp>
        <p:nvSpPr>
          <p:cNvPr id="62" name="Text 53"/>
          <p:cNvSpPr/>
          <p:nvPr/>
        </p:nvSpPr>
        <p:spPr>
          <a:xfrm>
            <a:off x="3291840" y="4334256"/>
            <a:ext cx="2432304" cy="566928"/>
          </a:xfrm>
          <a:prstGeom prst="rect">
            <a:avLst/>
          </a:prstGeom>
          <a:noFill/>
          <a:ln/>
        </p:spPr>
        <p:txBody>
          <a:bodyPr wrap="square" lIns="0" tIns="0" rIns="0" bIns="0" rtlCol="0" anchor="t"/>
          <a:lstStyle/>
          <a:p>
            <a:pPr indent="0" marL="0">
              <a:buNone/>
            </a:pPr>
            <a:r>
              <a:rPr lang="en-US" sz="1000" dirty="0">
                <a:solidFill>
                  <a:srgbClr val="C4B8E0"/>
                </a:solidFill>
              </a:rPr>
              <a:t>Define failure modes upfront.</a:t>
            </a:r>
            <a:endParaRPr lang="en-US" sz="1000" dirty="0"/>
          </a:p>
          <a:p>
            <a:pPr indent="0" marL="0">
              <a:buNone/>
            </a:pPr>
            <a:r>
              <a:rPr lang="en-US" sz="1000" dirty="0">
                <a:solidFill>
                  <a:srgbClr val="C4B8E0"/>
                </a:solidFill>
              </a:rPr>
              <a:t>Test them before staging.</a:t>
            </a:r>
            <a:endParaRPr lang="en-US" sz="1000" dirty="0"/>
          </a:p>
        </p:txBody>
      </p:sp>
      <p:sp>
        <p:nvSpPr>
          <p:cNvPr id="63" name="Shape 54"/>
          <p:cNvSpPr/>
          <p:nvPr/>
        </p:nvSpPr>
        <p:spPr>
          <a:xfrm>
            <a:off x="1609344" y="3090672"/>
            <a:ext cx="182880" cy="182880"/>
          </a:xfrm>
          <a:prstGeom prst="ellipse">
            <a:avLst/>
          </a:prstGeom>
          <a:solidFill>
            <a:srgbClr val="FFB830"/>
          </a:solidFill>
          <a:ln w="12700">
            <a:solidFill>
              <a:srgbClr val="FFB830"/>
            </a:solidFill>
            <a:prstDash val="solid"/>
          </a:ln>
        </p:spPr>
      </p:sp>
      <p:sp>
        <p:nvSpPr>
          <p:cNvPr id="64" name="Shape 55"/>
          <p:cNvSpPr/>
          <p:nvPr/>
        </p:nvSpPr>
        <p:spPr>
          <a:xfrm>
            <a:off x="1700784" y="3273552"/>
            <a:ext cx="0" cy="201168"/>
          </a:xfrm>
          <a:prstGeom prst="line">
            <a:avLst/>
          </a:prstGeom>
          <a:noFill/>
          <a:ln w="19050">
            <a:solidFill>
              <a:srgbClr val="FFB830"/>
            </a:solidFill>
            <a:prstDash val="sysDot"/>
          </a:ln>
        </p:spPr>
      </p:sp>
      <p:sp>
        <p:nvSpPr>
          <p:cNvPr id="65" name="Shape 56"/>
          <p:cNvSpPr/>
          <p:nvPr/>
        </p:nvSpPr>
        <p:spPr>
          <a:xfrm>
            <a:off x="5980176" y="3493008"/>
            <a:ext cx="2670048" cy="1481328"/>
          </a:xfrm>
          <a:prstGeom prst="rect">
            <a:avLst/>
          </a:prstGeom>
          <a:solidFill>
            <a:srgbClr val="1A1445"/>
          </a:solidFill>
          <a:ln/>
          <a:effectLst>
            <a:outerShdw sx="100000" sy="100000" kx="0" ky="0" algn="bl" rotWithShape="0" blurRad="228600" dist="63500" dir="8100000">
              <a:srgbClr val="000000">
                <a:alpha val="45000"/>
              </a:srgbClr>
            </a:outerShdw>
          </a:effectLst>
        </p:spPr>
      </p:sp>
      <p:sp>
        <p:nvSpPr>
          <p:cNvPr id="66" name="Shape 57"/>
          <p:cNvSpPr/>
          <p:nvPr/>
        </p:nvSpPr>
        <p:spPr>
          <a:xfrm>
            <a:off x="5980176" y="3493008"/>
            <a:ext cx="2670048" cy="64008"/>
          </a:xfrm>
          <a:prstGeom prst="rect">
            <a:avLst/>
          </a:prstGeom>
          <a:solidFill>
            <a:srgbClr val="FFB830"/>
          </a:solidFill>
          <a:ln w="12700">
            <a:solidFill>
              <a:srgbClr val="FFB830"/>
            </a:solidFill>
            <a:prstDash val="solid"/>
          </a:ln>
        </p:spPr>
      </p:sp>
      <p:sp>
        <p:nvSpPr>
          <p:cNvPr id="67" name="Shape 58"/>
          <p:cNvSpPr/>
          <p:nvPr/>
        </p:nvSpPr>
        <p:spPr>
          <a:xfrm>
            <a:off x="6108192" y="3621024"/>
            <a:ext cx="420624" cy="420624"/>
          </a:xfrm>
          <a:prstGeom prst="ellipse">
            <a:avLst/>
          </a:prstGeom>
          <a:solidFill>
            <a:srgbClr val="FFB830">
              <a:alpha val="22000"/>
            </a:srgbClr>
          </a:solidFill>
          <a:ln w="19050">
            <a:solidFill>
              <a:srgbClr val="FFB830"/>
            </a:solidFill>
            <a:prstDash val="solid"/>
          </a:ln>
        </p:spPr>
      </p:sp>
      <p:pic>
        <p:nvPicPr>
          <p:cNvPr id="68" name="Image 7" descr="preencoded.png">    </p:cNvPr>
          <p:cNvPicPr>
            <a:picLocks noChangeAspect="1"/>
          </p:cNvPicPr>
          <p:nvPr/>
        </p:nvPicPr>
        <p:blipFill>
          <a:blip r:embed="rId8"/>
          <a:stretch>
            <a:fillRect/>
          </a:stretch>
        </p:blipFill>
        <p:spPr>
          <a:xfrm>
            <a:off x="6208776" y="3721608"/>
            <a:ext cx="219456" cy="219456"/>
          </a:xfrm>
          <a:prstGeom prst="rect">
            <a:avLst/>
          </a:prstGeom>
        </p:spPr>
      </p:pic>
      <p:sp>
        <p:nvSpPr>
          <p:cNvPr id="69" name="Text 59"/>
          <p:cNvSpPr/>
          <p:nvPr/>
        </p:nvSpPr>
        <p:spPr>
          <a:xfrm>
            <a:off x="6620256" y="3602736"/>
            <a:ext cx="457200" cy="201168"/>
          </a:xfrm>
          <a:prstGeom prst="rect">
            <a:avLst/>
          </a:prstGeom>
          <a:noFill/>
          <a:ln/>
        </p:spPr>
        <p:txBody>
          <a:bodyPr wrap="square" lIns="0" tIns="0" rIns="0" bIns="0" rtlCol="0" anchor="ctr"/>
          <a:lstStyle/>
          <a:p>
            <a:pPr indent="0" marL="0">
              <a:buNone/>
            </a:pPr>
            <a:r>
              <a:rPr lang="en-US" sz="950" b="1" dirty="0">
                <a:solidFill>
                  <a:srgbClr val="FFB830"/>
                </a:solidFill>
              </a:rPr>
              <a:t>03</a:t>
            </a:r>
            <a:endParaRPr lang="en-US" sz="950" dirty="0"/>
          </a:p>
        </p:txBody>
      </p:sp>
      <p:sp>
        <p:nvSpPr>
          <p:cNvPr id="70" name="Text 60"/>
          <p:cNvSpPr/>
          <p:nvPr/>
        </p:nvSpPr>
        <p:spPr>
          <a:xfrm>
            <a:off x="6620256" y="3767328"/>
            <a:ext cx="1920240" cy="274320"/>
          </a:xfrm>
          <a:prstGeom prst="rect">
            <a:avLst/>
          </a:prstGeom>
          <a:noFill/>
          <a:ln/>
        </p:spPr>
        <p:txBody>
          <a:bodyPr wrap="square" lIns="0" tIns="0" rIns="0" bIns="0" rtlCol="0" anchor="ctr"/>
          <a:lstStyle/>
          <a:p>
            <a:pPr indent="0" marL="0">
              <a:buNone/>
            </a:pPr>
            <a:r>
              <a:rPr lang="en-US" sz="1300" b="1" dirty="0">
                <a:solidFill>
                  <a:srgbClr val="FFFFFF"/>
                </a:solidFill>
              </a:rPr>
              <a:t>Kong Gateway</a:t>
            </a:r>
            <a:endParaRPr lang="en-US" sz="1300" dirty="0"/>
          </a:p>
        </p:txBody>
      </p:sp>
      <p:sp>
        <p:nvSpPr>
          <p:cNvPr id="71" name="Text 61"/>
          <p:cNvSpPr/>
          <p:nvPr/>
        </p:nvSpPr>
        <p:spPr>
          <a:xfrm>
            <a:off x="6620256" y="4023360"/>
            <a:ext cx="1920240" cy="182880"/>
          </a:xfrm>
          <a:prstGeom prst="rect">
            <a:avLst/>
          </a:prstGeom>
          <a:noFill/>
          <a:ln/>
        </p:spPr>
        <p:txBody>
          <a:bodyPr wrap="square" lIns="0" tIns="0" rIns="0" bIns="0" rtlCol="0" anchor="ctr"/>
          <a:lstStyle/>
          <a:p>
            <a:pPr indent="0" marL="0">
              <a:buNone/>
            </a:pPr>
            <a:r>
              <a:rPr lang="en-US" sz="950" i="1" dirty="0">
                <a:solidFill>
                  <a:srgbClr val="FFB830"/>
                </a:solidFill>
              </a:rPr>
              <a:t>API Contract at Design</a:t>
            </a:r>
            <a:endParaRPr lang="en-US" sz="950" dirty="0"/>
          </a:p>
        </p:txBody>
      </p:sp>
      <p:sp>
        <p:nvSpPr>
          <p:cNvPr id="72" name="Shape 62"/>
          <p:cNvSpPr/>
          <p:nvPr/>
        </p:nvSpPr>
        <p:spPr>
          <a:xfrm>
            <a:off x="6108192" y="4270248"/>
            <a:ext cx="2432304" cy="0"/>
          </a:xfrm>
          <a:prstGeom prst="line">
            <a:avLst/>
          </a:prstGeom>
          <a:noFill/>
          <a:ln w="12700">
            <a:solidFill>
              <a:srgbClr val="3D3066"/>
            </a:solidFill>
            <a:prstDash val="solid"/>
          </a:ln>
        </p:spPr>
      </p:sp>
      <p:sp>
        <p:nvSpPr>
          <p:cNvPr id="73" name="Text 63"/>
          <p:cNvSpPr/>
          <p:nvPr/>
        </p:nvSpPr>
        <p:spPr>
          <a:xfrm>
            <a:off x="6108192" y="4334256"/>
            <a:ext cx="2432304" cy="566928"/>
          </a:xfrm>
          <a:prstGeom prst="rect">
            <a:avLst/>
          </a:prstGeom>
          <a:noFill/>
          <a:ln/>
        </p:spPr>
        <p:txBody>
          <a:bodyPr wrap="square" lIns="0" tIns="0" rIns="0" bIns="0" rtlCol="0" anchor="t"/>
          <a:lstStyle/>
          <a:p>
            <a:pPr indent="0" marL="0">
              <a:buNone/>
            </a:pPr>
            <a:r>
              <a:rPr lang="en-US" sz="1000" dirty="0">
                <a:solidFill>
                  <a:srgbClr val="C4B8E0"/>
                </a:solidFill>
              </a:rPr>
              <a:t>Design your API first, auto-generate</a:t>
            </a:r>
            <a:endParaRPr lang="en-US" sz="1000" dirty="0"/>
          </a:p>
          <a:p>
            <a:pPr indent="0" marL="0">
              <a:buNone/>
            </a:pPr>
            <a:r>
              <a:rPr lang="en-US" sz="1000" dirty="0">
                <a:solidFill>
                  <a:srgbClr val="C4B8E0"/>
                </a:solidFill>
              </a:rPr>
              <a:t>gateway policy from spec.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B2E"/>
        </a:solidFill>
      </p:bgPr>
    </p:bg>
    <p:spTree>
      <p:nvGrpSpPr>
        <p:cNvPr id="1" name=""/>
        <p:cNvGrpSpPr/>
        <p:nvPr/>
      </p:nvGrpSpPr>
      <p:grpSpPr>
        <a:xfrm>
          <a:off x="0" y="0"/>
          <a:ext cx="0" cy="0"/>
          <a:chOff x="0" y="0"/>
          <a:chExt cx="0" cy="0"/>
        </a:xfrm>
      </p:grpSpPr>
      <p:sp>
        <p:nvSpPr>
          <p:cNvPr id="2" name="Shape 0"/>
          <p:cNvSpPr/>
          <p:nvPr/>
        </p:nvSpPr>
        <p:spPr>
          <a:xfrm>
            <a:off x="6144768" y="0"/>
            <a:ext cx="2999232" cy="5143500"/>
          </a:xfrm>
          <a:prstGeom prst="rect">
            <a:avLst/>
          </a:prstGeom>
          <a:solidFill>
            <a:srgbClr val="C8E600">
              <a:alpha val="14000"/>
            </a:srgbClr>
          </a:solidFill>
          <a:ln w="12700">
            <a:solidFill>
              <a:srgbClr val="C8E600">
                <a:alpha val="1000"/>
              </a:srgbClr>
            </a:solidFill>
            <a:prstDash val="solid"/>
          </a:ln>
        </p:spPr>
      </p:sp>
      <p:sp>
        <p:nvSpPr>
          <p:cNvPr id="3" name="Shape 1"/>
          <p:cNvSpPr/>
          <p:nvPr/>
        </p:nvSpPr>
        <p:spPr>
          <a:xfrm>
            <a:off x="7315200" y="0"/>
            <a:ext cx="1828800" cy="5143500"/>
          </a:xfrm>
          <a:prstGeom prst="rect">
            <a:avLst/>
          </a:prstGeom>
          <a:solidFill>
            <a:srgbClr val="C8E600">
              <a:alpha val="18000"/>
            </a:srgbClr>
          </a:solidFill>
          <a:ln w="12700">
            <a:solidFill>
              <a:srgbClr val="C8E600">
                <a:alpha val="1000"/>
              </a:srgbClr>
            </a:solidFill>
            <a:prstDash val="solid"/>
          </a:ln>
        </p:spPr>
      </p:sp>
      <p:sp>
        <p:nvSpPr>
          <p:cNvPr id="4" name="Shape 2"/>
          <p:cNvSpPr/>
          <p:nvPr/>
        </p:nvSpPr>
        <p:spPr>
          <a:xfrm>
            <a:off x="6126480" y="0"/>
            <a:ext cx="45720" cy="5143500"/>
          </a:xfrm>
          <a:prstGeom prst="rect">
            <a:avLst/>
          </a:prstGeom>
          <a:solidFill>
            <a:srgbClr val="C8E600"/>
          </a:solidFill>
          <a:ln w="12700">
            <a:solidFill>
              <a:srgbClr val="C8E600"/>
            </a:solidFill>
            <a:prstDash val="solid"/>
          </a:ln>
        </p:spPr>
      </p:sp>
      <p:sp>
        <p:nvSpPr>
          <p:cNvPr id="5" name="Shape 3"/>
          <p:cNvSpPr/>
          <p:nvPr/>
        </p:nvSpPr>
        <p:spPr>
          <a:xfrm>
            <a:off x="0" y="4956048"/>
            <a:ext cx="9144000" cy="187452"/>
          </a:xfrm>
          <a:prstGeom prst="rect">
            <a:avLst/>
          </a:prstGeom>
          <a:solidFill>
            <a:srgbClr val="6B21A8"/>
          </a:solidFill>
          <a:ln w="12700">
            <a:solidFill>
              <a:srgbClr val="6B21A8"/>
            </a:solidFill>
            <a:prstDash val="solid"/>
          </a:ln>
        </p:spPr>
      </p:sp>
      <p:sp>
        <p:nvSpPr>
          <p:cNvPr id="6" name="Shape 4"/>
          <p:cNvSpPr/>
          <p:nvPr/>
        </p:nvSpPr>
        <p:spPr>
          <a:xfrm>
            <a:off x="0" y="4956048"/>
            <a:ext cx="9144000" cy="36576"/>
          </a:xfrm>
          <a:prstGeom prst="rect">
            <a:avLst/>
          </a:prstGeom>
          <a:solidFill>
            <a:srgbClr val="C8E600"/>
          </a:solidFill>
          <a:ln w="12700">
            <a:solidFill>
              <a:srgbClr val="C8E600"/>
            </a:solidFill>
            <a:prstDash val="solid"/>
          </a:ln>
        </p:spPr>
      </p:sp>
      <p:sp>
        <p:nvSpPr>
          <p:cNvPr id="7" name="Shape 5"/>
          <p:cNvSpPr/>
          <p:nvPr/>
        </p:nvSpPr>
        <p:spPr>
          <a:xfrm>
            <a:off x="347472" y="201168"/>
            <a:ext cx="438912" cy="438912"/>
          </a:xfrm>
          <a:prstGeom prst="rect">
            <a:avLst/>
          </a:prstGeom>
          <a:solidFill>
            <a:srgbClr val="6B21A8"/>
          </a:solidFill>
          <a:ln w="12700">
            <a:solidFill>
              <a:srgbClr val="6B21A8"/>
            </a:solidFill>
            <a:prstDash val="solid"/>
          </a:ln>
        </p:spPr>
      </p:sp>
      <p:sp>
        <p:nvSpPr>
          <p:cNvPr id="8" name="Text 6"/>
          <p:cNvSpPr/>
          <p:nvPr/>
        </p:nvSpPr>
        <p:spPr>
          <a:xfrm>
            <a:off x="347472" y="201168"/>
            <a:ext cx="438912" cy="438912"/>
          </a:xfrm>
          <a:prstGeom prst="rect">
            <a:avLst/>
          </a:prstGeom>
          <a:noFill/>
          <a:ln/>
        </p:spPr>
        <p:txBody>
          <a:bodyPr wrap="square" lIns="0" tIns="0" rIns="0" bIns="0" rtlCol="0" anchor="ctr"/>
          <a:lstStyle/>
          <a:p>
            <a:pPr algn="ctr" indent="0" marL="0">
              <a:buNone/>
            </a:pPr>
            <a:r>
              <a:rPr lang="en-US" sz="1700" b="1" dirty="0">
                <a:solidFill>
                  <a:srgbClr val="C8E600"/>
                </a:solidFill>
              </a:rPr>
              <a:t>P</a:t>
            </a:r>
            <a:endParaRPr lang="en-US" sz="1700" dirty="0"/>
          </a:p>
        </p:txBody>
      </p:sp>
      <p:sp>
        <p:nvSpPr>
          <p:cNvPr id="9" name="Text 7"/>
          <p:cNvSpPr/>
          <p:nvPr/>
        </p:nvSpPr>
        <p:spPr>
          <a:xfrm>
            <a:off x="841248" y="237744"/>
            <a:ext cx="1188720" cy="201168"/>
          </a:xfrm>
          <a:prstGeom prst="rect">
            <a:avLst/>
          </a:prstGeom>
          <a:noFill/>
          <a:ln/>
        </p:spPr>
        <p:txBody>
          <a:bodyPr wrap="square" lIns="0" tIns="0" rIns="0" bIns="0" rtlCol="0" anchor="ctr"/>
          <a:lstStyle/>
          <a:p>
            <a:pPr indent="0" marL="0">
              <a:buNone/>
            </a:pPr>
            <a:r>
              <a:rPr lang="en-US" sz="900" b="1" spc="300" kern="0" dirty="0">
                <a:solidFill>
                  <a:srgbClr val="FFFFFF"/>
                </a:solidFill>
              </a:rPr>
              <a:t>PAYSAFE</a:t>
            </a:r>
            <a:endParaRPr lang="en-US" sz="900" dirty="0"/>
          </a:p>
        </p:txBody>
      </p:sp>
      <p:sp>
        <p:nvSpPr>
          <p:cNvPr id="10" name="Text 8"/>
          <p:cNvSpPr/>
          <p:nvPr/>
        </p:nvSpPr>
        <p:spPr>
          <a:xfrm>
            <a:off x="841248" y="438912"/>
            <a:ext cx="1188720" cy="164592"/>
          </a:xfrm>
          <a:prstGeom prst="rect">
            <a:avLst/>
          </a:prstGeom>
          <a:noFill/>
          <a:ln/>
        </p:spPr>
        <p:txBody>
          <a:bodyPr wrap="square" lIns="0" tIns="0" rIns="0" bIns="0" rtlCol="0" anchor="ctr"/>
          <a:lstStyle/>
          <a:p>
            <a:pPr indent="0" marL="0">
              <a:buNone/>
            </a:pPr>
            <a:r>
              <a:rPr lang="en-US" sz="650" spc="200" kern="0" dirty="0">
                <a:solidFill>
                  <a:srgbClr val="C4B8E0"/>
                </a:solidFill>
              </a:rPr>
              <a:t>ENGINEERING</a:t>
            </a:r>
            <a:endParaRPr lang="en-US" sz="650" dirty="0"/>
          </a:p>
        </p:txBody>
      </p:sp>
      <p:sp>
        <p:nvSpPr>
          <p:cNvPr id="11" name="Shape 9"/>
          <p:cNvSpPr/>
          <p:nvPr/>
        </p:nvSpPr>
        <p:spPr>
          <a:xfrm>
            <a:off x="2286000" y="228600"/>
            <a:ext cx="1920240" cy="292608"/>
          </a:xfrm>
          <a:prstGeom prst="rect">
            <a:avLst/>
          </a:prstGeom>
          <a:solidFill>
            <a:srgbClr val="C8E600">
              <a:alpha val="18000"/>
            </a:srgbClr>
          </a:solidFill>
          <a:ln w="12700">
            <a:solidFill>
              <a:srgbClr val="C8E600"/>
            </a:solidFill>
            <a:prstDash val="solid"/>
          </a:ln>
        </p:spPr>
      </p:sp>
      <p:sp>
        <p:nvSpPr>
          <p:cNvPr id="12" name="Text 10"/>
          <p:cNvSpPr/>
          <p:nvPr/>
        </p:nvSpPr>
        <p:spPr>
          <a:xfrm>
            <a:off x="2286000" y="228600"/>
            <a:ext cx="1920240" cy="292608"/>
          </a:xfrm>
          <a:prstGeom prst="rect">
            <a:avLst/>
          </a:prstGeom>
          <a:noFill/>
          <a:ln/>
        </p:spPr>
        <p:txBody>
          <a:bodyPr wrap="square" lIns="0" tIns="0" rIns="0" bIns="0" rtlCol="0" anchor="ctr"/>
          <a:lstStyle/>
          <a:p>
            <a:pPr algn="ctr" indent="0" marL="0">
              <a:buNone/>
            </a:pPr>
            <a:r>
              <a:rPr lang="en-US" sz="750" b="1" dirty="0">
                <a:solidFill>
                  <a:srgbClr val="C8E600"/>
                </a:solidFill>
              </a:rPr>
              <a:t>WORKSTREAM 01  ·  LEFT-SHIFT</a:t>
            </a:r>
            <a:endParaRPr lang="en-US" sz="750" dirty="0"/>
          </a:p>
        </p:txBody>
      </p:sp>
      <p:sp>
        <p:nvSpPr>
          <p:cNvPr id="13" name="Shape 11"/>
          <p:cNvSpPr/>
          <p:nvPr/>
        </p:nvSpPr>
        <p:spPr>
          <a:xfrm>
            <a:off x="347472" y="804672"/>
            <a:ext cx="1554480" cy="292608"/>
          </a:xfrm>
          <a:prstGeom prst="rect">
            <a:avLst/>
          </a:prstGeom>
          <a:solidFill>
            <a:srgbClr val="C8E600"/>
          </a:solidFill>
          <a:ln w="12700">
            <a:solidFill>
              <a:srgbClr val="C8E600"/>
            </a:solidFill>
            <a:prstDash val="solid"/>
          </a:ln>
        </p:spPr>
      </p:sp>
      <p:sp>
        <p:nvSpPr>
          <p:cNvPr id="14" name="Text 12"/>
          <p:cNvSpPr/>
          <p:nvPr/>
        </p:nvSpPr>
        <p:spPr>
          <a:xfrm>
            <a:off x="347472" y="804672"/>
            <a:ext cx="1554480" cy="292608"/>
          </a:xfrm>
          <a:prstGeom prst="rect">
            <a:avLst/>
          </a:prstGeom>
          <a:noFill/>
          <a:ln/>
        </p:spPr>
        <p:txBody>
          <a:bodyPr wrap="square" lIns="0" tIns="0" rIns="0" bIns="0" rtlCol="0" anchor="ctr"/>
          <a:lstStyle/>
          <a:p>
            <a:pPr algn="ctr" indent="0" marL="0">
              <a:buNone/>
            </a:pPr>
            <a:r>
              <a:rPr lang="en-US" sz="900" b="1" dirty="0">
                <a:solidFill>
                  <a:srgbClr val="0E0B2E"/>
                </a:solidFill>
              </a:rPr>
              <a:t>Design</a:t>
            </a:r>
            <a:endParaRPr lang="en-US" sz="900" dirty="0"/>
          </a:p>
        </p:txBody>
      </p:sp>
      <p:pic>
        <p:nvPicPr>
          <p:cNvPr id="15" name="Image 0" descr="preencoded.png">    </p:cNvPr>
          <p:cNvPicPr>
            <a:picLocks noChangeAspect="1"/>
          </p:cNvPicPr>
          <p:nvPr/>
        </p:nvPicPr>
        <p:blipFill>
          <a:blip r:embed="rId1"/>
          <a:stretch>
            <a:fillRect/>
          </a:stretch>
        </p:blipFill>
        <p:spPr>
          <a:xfrm>
            <a:off x="1920240" y="877824"/>
            <a:ext cx="91440" cy="91440"/>
          </a:xfrm>
          <a:prstGeom prst="rect">
            <a:avLst/>
          </a:prstGeom>
        </p:spPr>
      </p:pic>
      <p:sp>
        <p:nvSpPr>
          <p:cNvPr id="16" name="Shape 13"/>
          <p:cNvSpPr/>
          <p:nvPr/>
        </p:nvSpPr>
        <p:spPr>
          <a:xfrm>
            <a:off x="2029968" y="804672"/>
            <a:ext cx="1554480" cy="292608"/>
          </a:xfrm>
          <a:prstGeom prst="rect">
            <a:avLst/>
          </a:prstGeom>
          <a:solidFill>
            <a:srgbClr val="1A1445"/>
          </a:solidFill>
          <a:ln w="12700">
            <a:solidFill>
              <a:srgbClr val="3D3066"/>
            </a:solidFill>
            <a:prstDash val="solid"/>
          </a:ln>
        </p:spPr>
      </p:sp>
      <p:sp>
        <p:nvSpPr>
          <p:cNvPr id="17" name="Text 14"/>
          <p:cNvSpPr/>
          <p:nvPr/>
        </p:nvSpPr>
        <p:spPr>
          <a:xfrm>
            <a:off x="2029968"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Develop</a:t>
            </a:r>
            <a:endParaRPr lang="en-US" sz="900" dirty="0"/>
          </a:p>
        </p:txBody>
      </p:sp>
      <p:pic>
        <p:nvPicPr>
          <p:cNvPr id="18" name="Image 1" descr="preencoded.png">    </p:cNvPr>
          <p:cNvPicPr>
            <a:picLocks noChangeAspect="1"/>
          </p:cNvPicPr>
          <p:nvPr/>
        </p:nvPicPr>
        <p:blipFill>
          <a:blip r:embed="rId2"/>
          <a:stretch>
            <a:fillRect/>
          </a:stretch>
        </p:blipFill>
        <p:spPr>
          <a:xfrm>
            <a:off x="3602736" y="877824"/>
            <a:ext cx="91440" cy="91440"/>
          </a:xfrm>
          <a:prstGeom prst="rect">
            <a:avLst/>
          </a:prstGeom>
        </p:spPr>
      </p:pic>
      <p:sp>
        <p:nvSpPr>
          <p:cNvPr id="19" name="Shape 15"/>
          <p:cNvSpPr/>
          <p:nvPr/>
        </p:nvSpPr>
        <p:spPr>
          <a:xfrm>
            <a:off x="3712464" y="804672"/>
            <a:ext cx="1554480" cy="292608"/>
          </a:xfrm>
          <a:prstGeom prst="rect">
            <a:avLst/>
          </a:prstGeom>
          <a:solidFill>
            <a:srgbClr val="1A1445"/>
          </a:solidFill>
          <a:ln w="12700">
            <a:solidFill>
              <a:srgbClr val="3D3066"/>
            </a:solidFill>
            <a:prstDash val="solid"/>
          </a:ln>
        </p:spPr>
      </p:sp>
      <p:sp>
        <p:nvSpPr>
          <p:cNvPr id="20" name="Text 16"/>
          <p:cNvSpPr/>
          <p:nvPr/>
        </p:nvSpPr>
        <p:spPr>
          <a:xfrm>
            <a:off x="3712464"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Test</a:t>
            </a:r>
            <a:endParaRPr lang="en-US" sz="900" dirty="0"/>
          </a:p>
        </p:txBody>
      </p:sp>
      <p:pic>
        <p:nvPicPr>
          <p:cNvPr id="21" name="Image 2" descr="preencoded.png">    </p:cNvPr>
          <p:cNvPicPr>
            <a:picLocks noChangeAspect="1"/>
          </p:cNvPicPr>
          <p:nvPr/>
        </p:nvPicPr>
        <p:blipFill>
          <a:blip r:embed="rId3"/>
          <a:stretch>
            <a:fillRect/>
          </a:stretch>
        </p:blipFill>
        <p:spPr>
          <a:xfrm>
            <a:off x="5285232" y="877824"/>
            <a:ext cx="91440" cy="91440"/>
          </a:xfrm>
          <a:prstGeom prst="rect">
            <a:avLst/>
          </a:prstGeom>
        </p:spPr>
      </p:pic>
      <p:sp>
        <p:nvSpPr>
          <p:cNvPr id="22" name="Shape 17"/>
          <p:cNvSpPr/>
          <p:nvPr/>
        </p:nvSpPr>
        <p:spPr>
          <a:xfrm>
            <a:off x="5394960" y="804672"/>
            <a:ext cx="1554480" cy="292608"/>
          </a:xfrm>
          <a:prstGeom prst="rect">
            <a:avLst/>
          </a:prstGeom>
          <a:solidFill>
            <a:srgbClr val="1A1445"/>
          </a:solidFill>
          <a:ln w="12700">
            <a:solidFill>
              <a:srgbClr val="3D3066"/>
            </a:solidFill>
            <a:prstDash val="solid"/>
          </a:ln>
        </p:spPr>
      </p:sp>
      <p:sp>
        <p:nvSpPr>
          <p:cNvPr id="23" name="Text 18"/>
          <p:cNvSpPr/>
          <p:nvPr/>
        </p:nvSpPr>
        <p:spPr>
          <a:xfrm>
            <a:off x="5394960"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Staging</a:t>
            </a:r>
            <a:endParaRPr lang="en-US" sz="900" dirty="0"/>
          </a:p>
        </p:txBody>
      </p:sp>
      <p:pic>
        <p:nvPicPr>
          <p:cNvPr id="24" name="Image 3" descr="preencoded.png">    </p:cNvPr>
          <p:cNvPicPr>
            <a:picLocks noChangeAspect="1"/>
          </p:cNvPicPr>
          <p:nvPr/>
        </p:nvPicPr>
        <p:blipFill>
          <a:blip r:embed="rId4"/>
          <a:stretch>
            <a:fillRect/>
          </a:stretch>
        </p:blipFill>
        <p:spPr>
          <a:xfrm>
            <a:off x="6967728" y="877824"/>
            <a:ext cx="91440" cy="91440"/>
          </a:xfrm>
          <a:prstGeom prst="rect">
            <a:avLst/>
          </a:prstGeom>
        </p:spPr>
      </p:pic>
      <p:sp>
        <p:nvSpPr>
          <p:cNvPr id="25" name="Shape 19"/>
          <p:cNvSpPr/>
          <p:nvPr/>
        </p:nvSpPr>
        <p:spPr>
          <a:xfrm>
            <a:off x="7077456" y="804672"/>
            <a:ext cx="1554480" cy="292608"/>
          </a:xfrm>
          <a:prstGeom prst="rect">
            <a:avLst/>
          </a:prstGeom>
          <a:solidFill>
            <a:srgbClr val="1A1445"/>
          </a:solidFill>
          <a:ln w="12700">
            <a:solidFill>
              <a:srgbClr val="3D3066"/>
            </a:solidFill>
            <a:prstDash val="solid"/>
          </a:ln>
        </p:spPr>
      </p:sp>
      <p:sp>
        <p:nvSpPr>
          <p:cNvPr id="26" name="Text 20"/>
          <p:cNvSpPr/>
          <p:nvPr/>
        </p:nvSpPr>
        <p:spPr>
          <a:xfrm>
            <a:off x="7077456"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Prod</a:t>
            </a:r>
            <a:endParaRPr lang="en-US" sz="900" dirty="0"/>
          </a:p>
        </p:txBody>
      </p:sp>
      <p:sp>
        <p:nvSpPr>
          <p:cNvPr id="27" name="Text 21"/>
          <p:cNvSpPr/>
          <p:nvPr/>
        </p:nvSpPr>
        <p:spPr>
          <a:xfrm>
            <a:off x="347472" y="1188720"/>
            <a:ext cx="5943600" cy="192024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Threat</a:t>
            </a:r>
            <a:endParaRPr lang="en-US" sz="7200" dirty="0"/>
          </a:p>
          <a:p>
            <a:pPr indent="0" marL="0">
              <a:buNone/>
            </a:pPr>
            <a:r>
              <a:rPr lang="en-US" sz="7200" b="1" dirty="0">
                <a:solidFill>
                  <a:srgbClr val="FFFFFF"/>
                </a:solidFill>
                <a:latin typeface="Calibri" pitchFamily="34" charset="0"/>
                <a:ea typeface="Calibri" pitchFamily="34" charset="-122"/>
                <a:cs typeface="Calibri" pitchFamily="34" charset="-120"/>
              </a:rPr>
              <a:t>Modeling</a:t>
            </a:r>
            <a:endParaRPr lang="en-US" sz="7200" dirty="0"/>
          </a:p>
        </p:txBody>
      </p:sp>
      <p:sp>
        <p:nvSpPr>
          <p:cNvPr id="28" name="Shape 22"/>
          <p:cNvSpPr/>
          <p:nvPr/>
        </p:nvSpPr>
        <p:spPr>
          <a:xfrm>
            <a:off x="347472" y="3163824"/>
            <a:ext cx="8229600" cy="54864"/>
          </a:xfrm>
          <a:prstGeom prst="rect">
            <a:avLst/>
          </a:prstGeom>
          <a:solidFill>
            <a:srgbClr val="C8E600"/>
          </a:solidFill>
          <a:ln w="12700">
            <a:solidFill>
              <a:srgbClr val="C8E600"/>
            </a:solidFill>
            <a:prstDash val="solid"/>
          </a:ln>
        </p:spPr>
      </p:sp>
      <p:sp>
        <p:nvSpPr>
          <p:cNvPr id="29" name="Text 23"/>
          <p:cNvSpPr/>
          <p:nvPr/>
        </p:nvSpPr>
        <p:spPr>
          <a:xfrm>
            <a:off x="347472" y="3273552"/>
            <a:ext cx="8229600" cy="347472"/>
          </a:xfrm>
          <a:prstGeom prst="rect">
            <a:avLst/>
          </a:prstGeom>
          <a:noFill/>
          <a:ln/>
        </p:spPr>
        <p:txBody>
          <a:bodyPr wrap="square" lIns="0" tIns="0" rIns="0" bIns="0" rtlCol="0" anchor="ctr"/>
          <a:lstStyle/>
          <a:p>
            <a:pPr indent="0" marL="0">
              <a:buNone/>
            </a:pPr>
            <a:r>
              <a:rPr lang="en-US" sz="1500" i="1" dirty="0">
                <a:solidFill>
                  <a:srgbClr val="C8E600"/>
                </a:solidFill>
                <a:latin typeface="Calibri" pitchFamily="34" charset="0"/>
                <a:ea typeface="Calibri" pitchFamily="34" charset="-122"/>
                <a:cs typeface="Calibri" pitchFamily="34" charset="-120"/>
              </a:rPr>
              <a:t>Security as a developer workflow — not a gate.</a:t>
            </a:r>
            <a:endParaRPr lang="en-US" sz="1500" dirty="0"/>
          </a:p>
        </p:txBody>
      </p:sp>
      <p:sp>
        <p:nvSpPr>
          <p:cNvPr id="30" name="Shape 24"/>
          <p:cNvSpPr/>
          <p:nvPr/>
        </p:nvSpPr>
        <p:spPr>
          <a:xfrm>
            <a:off x="347472" y="3749040"/>
            <a:ext cx="2578608" cy="1024128"/>
          </a:xfrm>
          <a:prstGeom prst="rect">
            <a:avLst/>
          </a:prstGeom>
          <a:solidFill>
            <a:srgbClr val="C8E600">
              <a:alpha val="20000"/>
            </a:srgbClr>
          </a:solidFill>
          <a:ln w="25400">
            <a:solidFill>
              <a:srgbClr val="C8E600"/>
            </a:solidFill>
            <a:prstDash val="solid"/>
          </a:ln>
          <a:effectLst>
            <a:outerShdw sx="100000" sy="100000" kx="0" ky="0" algn="bl" rotWithShape="0" blurRad="101600" dist="25400" dir="8100000">
              <a:srgbClr val="000000">
                <a:alpha val="30000"/>
              </a:srgbClr>
            </a:outerShdw>
          </a:effectLst>
        </p:spPr>
      </p:sp>
      <p:sp>
        <p:nvSpPr>
          <p:cNvPr id="31" name="Text 25"/>
          <p:cNvSpPr/>
          <p:nvPr/>
        </p:nvSpPr>
        <p:spPr>
          <a:xfrm>
            <a:off x="347472" y="3767328"/>
            <a:ext cx="2578608" cy="530352"/>
          </a:xfrm>
          <a:prstGeom prst="rect">
            <a:avLst/>
          </a:prstGeom>
          <a:noFill/>
          <a:ln/>
        </p:spPr>
        <p:txBody>
          <a:bodyPr wrap="square" lIns="0" tIns="0" rIns="0" bIns="0" rtlCol="0" anchor="ctr"/>
          <a:lstStyle/>
          <a:p>
            <a:pPr algn="ctr" indent="0" marL="0">
              <a:buNone/>
            </a:pPr>
            <a:r>
              <a:rPr lang="en-US" sz="3600" b="1" dirty="0">
                <a:solidFill>
                  <a:srgbClr val="C8E600"/>
                </a:solidFill>
              </a:rPr>
              <a:t>62%</a:t>
            </a:r>
            <a:endParaRPr lang="en-US" sz="3600" dirty="0"/>
          </a:p>
        </p:txBody>
      </p:sp>
      <p:sp>
        <p:nvSpPr>
          <p:cNvPr id="32" name="Text 26"/>
          <p:cNvSpPr/>
          <p:nvPr/>
        </p:nvSpPr>
        <p:spPr>
          <a:xfrm>
            <a:off x="457200"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security rework</a:t>
            </a:r>
            <a:endParaRPr lang="en-US" sz="900" dirty="0"/>
          </a:p>
          <a:p>
            <a:pPr algn="ctr" indent="0" marL="0">
              <a:buNone/>
            </a:pPr>
            <a:r>
              <a:rPr lang="en-US" sz="900" dirty="0">
                <a:solidFill>
                  <a:srgbClr val="C4B8E0"/>
                </a:solidFill>
              </a:rPr>
              <a:t>reduction (Google PSIRT)</a:t>
            </a:r>
            <a:endParaRPr lang="en-US" sz="900" dirty="0"/>
          </a:p>
        </p:txBody>
      </p:sp>
      <p:sp>
        <p:nvSpPr>
          <p:cNvPr id="33" name="Shape 27"/>
          <p:cNvSpPr/>
          <p:nvPr/>
        </p:nvSpPr>
        <p:spPr>
          <a:xfrm>
            <a:off x="3145536" y="3749040"/>
            <a:ext cx="2578608" cy="1024128"/>
          </a:xfrm>
          <a:prstGeom prst="rect">
            <a:avLst/>
          </a:prstGeom>
          <a:solidFill>
            <a:srgbClr val="1A1445"/>
          </a:solidFill>
          <a:ln w="12700">
            <a:solidFill>
              <a:srgbClr val="3D3066"/>
            </a:solidFill>
            <a:prstDash val="solid"/>
          </a:ln>
        </p:spPr>
      </p:sp>
      <p:sp>
        <p:nvSpPr>
          <p:cNvPr id="34" name="Text 28"/>
          <p:cNvSpPr/>
          <p:nvPr/>
        </p:nvSpPr>
        <p:spPr>
          <a:xfrm>
            <a:off x="3145536" y="3767328"/>
            <a:ext cx="2578608" cy="530352"/>
          </a:xfrm>
          <a:prstGeom prst="rect">
            <a:avLst/>
          </a:prstGeom>
          <a:noFill/>
          <a:ln/>
        </p:spPr>
        <p:txBody>
          <a:bodyPr wrap="square" lIns="0" tIns="0" rIns="0" bIns="0" rtlCol="0" anchor="ctr"/>
          <a:lstStyle/>
          <a:p>
            <a:pPr algn="ctr" indent="0" marL="0">
              <a:buNone/>
            </a:pPr>
            <a:r>
              <a:rPr lang="en-US" sz="3600" b="1" dirty="0">
                <a:solidFill>
                  <a:srgbClr val="C8E600"/>
                </a:solidFill>
              </a:rPr>
              <a:t>Day 0</a:t>
            </a:r>
            <a:endParaRPr lang="en-US" sz="3600" dirty="0"/>
          </a:p>
        </p:txBody>
      </p:sp>
      <p:sp>
        <p:nvSpPr>
          <p:cNvPr id="35" name="Text 29"/>
          <p:cNvSpPr/>
          <p:nvPr/>
        </p:nvSpPr>
        <p:spPr>
          <a:xfrm>
            <a:off x="3255264"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threat visibility</a:t>
            </a:r>
            <a:endParaRPr lang="en-US" sz="900" dirty="0"/>
          </a:p>
          <a:p>
            <a:pPr algn="ctr" indent="0" marL="0">
              <a:buNone/>
            </a:pPr>
            <a:r>
              <a:rPr lang="en-US" sz="900" dirty="0">
                <a:solidFill>
                  <a:srgbClr val="C4B8E0"/>
                </a:solidFill>
              </a:rPr>
              <a:t>at design stage</a:t>
            </a:r>
            <a:endParaRPr lang="en-US" sz="900" dirty="0"/>
          </a:p>
        </p:txBody>
      </p:sp>
      <p:sp>
        <p:nvSpPr>
          <p:cNvPr id="36" name="Shape 30"/>
          <p:cNvSpPr/>
          <p:nvPr/>
        </p:nvSpPr>
        <p:spPr>
          <a:xfrm>
            <a:off x="5943600" y="3749040"/>
            <a:ext cx="2578608" cy="1024128"/>
          </a:xfrm>
          <a:prstGeom prst="rect">
            <a:avLst/>
          </a:prstGeom>
          <a:solidFill>
            <a:srgbClr val="1A1445"/>
          </a:solidFill>
          <a:ln w="12700">
            <a:solidFill>
              <a:srgbClr val="3D3066"/>
            </a:solidFill>
            <a:prstDash val="solid"/>
          </a:ln>
        </p:spPr>
      </p:sp>
      <p:sp>
        <p:nvSpPr>
          <p:cNvPr id="37" name="Text 31"/>
          <p:cNvSpPr/>
          <p:nvPr/>
        </p:nvSpPr>
        <p:spPr>
          <a:xfrm>
            <a:off x="5943600" y="3767328"/>
            <a:ext cx="2578608" cy="530352"/>
          </a:xfrm>
          <a:prstGeom prst="rect">
            <a:avLst/>
          </a:prstGeom>
          <a:noFill/>
          <a:ln/>
        </p:spPr>
        <p:txBody>
          <a:bodyPr wrap="square" lIns="0" tIns="0" rIns="0" bIns="0" rtlCol="0" anchor="ctr"/>
          <a:lstStyle/>
          <a:p>
            <a:pPr algn="ctr" indent="0" marL="0">
              <a:buNone/>
            </a:pPr>
            <a:r>
              <a:rPr lang="en-US" sz="3600" b="1" dirty="0">
                <a:solidFill>
                  <a:srgbClr val="C8E600"/>
                </a:solidFill>
              </a:rPr>
              <a:t>100%</a:t>
            </a:r>
            <a:endParaRPr lang="en-US" sz="3600" dirty="0"/>
          </a:p>
        </p:txBody>
      </p:sp>
      <p:sp>
        <p:nvSpPr>
          <p:cNvPr id="38" name="Text 32"/>
          <p:cNvSpPr/>
          <p:nvPr/>
        </p:nvSpPr>
        <p:spPr>
          <a:xfrm>
            <a:off x="6053328"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STRIDE coverage for</a:t>
            </a:r>
            <a:endParaRPr lang="en-US" sz="900" dirty="0"/>
          </a:p>
          <a:p>
            <a:pPr algn="ctr" indent="0" marL="0">
              <a:buNone/>
            </a:pPr>
            <a:r>
              <a:rPr lang="en-US" sz="900" dirty="0">
                <a:solidFill>
                  <a:srgbClr val="C4B8E0"/>
                </a:solidFill>
              </a:rPr>
              <a:t>all new services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B2E"/>
        </a:solidFill>
      </p:bgPr>
    </p:bg>
    <p:spTree>
      <p:nvGrpSpPr>
        <p:cNvPr id="1" name=""/>
        <p:cNvGrpSpPr/>
        <p:nvPr/>
      </p:nvGrpSpPr>
      <p:grpSpPr>
        <a:xfrm>
          <a:off x="0" y="0"/>
          <a:ext cx="0" cy="0"/>
          <a:chOff x="0" y="0"/>
          <a:chExt cx="0" cy="0"/>
        </a:xfrm>
      </p:grpSpPr>
      <p:sp>
        <p:nvSpPr>
          <p:cNvPr id="2" name="Shape 0"/>
          <p:cNvSpPr/>
          <p:nvPr/>
        </p:nvSpPr>
        <p:spPr>
          <a:xfrm>
            <a:off x="6144768" y="0"/>
            <a:ext cx="2999232" cy="5143500"/>
          </a:xfrm>
          <a:prstGeom prst="rect">
            <a:avLst/>
          </a:prstGeom>
          <a:solidFill>
            <a:srgbClr val="9D5CFF">
              <a:alpha val="14000"/>
            </a:srgbClr>
          </a:solidFill>
          <a:ln w="12700">
            <a:solidFill>
              <a:srgbClr val="9D5CFF">
                <a:alpha val="1000"/>
              </a:srgbClr>
            </a:solidFill>
            <a:prstDash val="solid"/>
          </a:ln>
        </p:spPr>
      </p:sp>
      <p:sp>
        <p:nvSpPr>
          <p:cNvPr id="3" name="Shape 1"/>
          <p:cNvSpPr/>
          <p:nvPr/>
        </p:nvSpPr>
        <p:spPr>
          <a:xfrm>
            <a:off x="7315200" y="0"/>
            <a:ext cx="1828800" cy="5143500"/>
          </a:xfrm>
          <a:prstGeom prst="rect">
            <a:avLst/>
          </a:prstGeom>
          <a:solidFill>
            <a:srgbClr val="9D5CFF">
              <a:alpha val="18000"/>
            </a:srgbClr>
          </a:solidFill>
          <a:ln w="12700">
            <a:solidFill>
              <a:srgbClr val="9D5CFF">
                <a:alpha val="1000"/>
              </a:srgbClr>
            </a:solidFill>
            <a:prstDash val="solid"/>
          </a:ln>
        </p:spPr>
      </p:sp>
      <p:sp>
        <p:nvSpPr>
          <p:cNvPr id="4" name="Shape 2"/>
          <p:cNvSpPr/>
          <p:nvPr/>
        </p:nvSpPr>
        <p:spPr>
          <a:xfrm>
            <a:off x="6126480" y="0"/>
            <a:ext cx="45720" cy="5143500"/>
          </a:xfrm>
          <a:prstGeom prst="rect">
            <a:avLst/>
          </a:prstGeom>
          <a:solidFill>
            <a:srgbClr val="C8E600"/>
          </a:solidFill>
          <a:ln w="12700">
            <a:solidFill>
              <a:srgbClr val="C8E600"/>
            </a:solidFill>
            <a:prstDash val="solid"/>
          </a:ln>
        </p:spPr>
      </p:sp>
      <p:sp>
        <p:nvSpPr>
          <p:cNvPr id="5" name="Shape 3"/>
          <p:cNvSpPr/>
          <p:nvPr/>
        </p:nvSpPr>
        <p:spPr>
          <a:xfrm>
            <a:off x="0" y="4956048"/>
            <a:ext cx="9144000" cy="187452"/>
          </a:xfrm>
          <a:prstGeom prst="rect">
            <a:avLst/>
          </a:prstGeom>
          <a:solidFill>
            <a:srgbClr val="6B21A8"/>
          </a:solidFill>
          <a:ln w="12700">
            <a:solidFill>
              <a:srgbClr val="6B21A8"/>
            </a:solidFill>
            <a:prstDash val="solid"/>
          </a:ln>
        </p:spPr>
      </p:sp>
      <p:sp>
        <p:nvSpPr>
          <p:cNvPr id="6" name="Shape 4"/>
          <p:cNvSpPr/>
          <p:nvPr/>
        </p:nvSpPr>
        <p:spPr>
          <a:xfrm>
            <a:off x="0" y="4956048"/>
            <a:ext cx="9144000" cy="36576"/>
          </a:xfrm>
          <a:prstGeom prst="rect">
            <a:avLst/>
          </a:prstGeom>
          <a:solidFill>
            <a:srgbClr val="C8E600"/>
          </a:solidFill>
          <a:ln w="12700">
            <a:solidFill>
              <a:srgbClr val="C8E600"/>
            </a:solidFill>
            <a:prstDash val="solid"/>
          </a:ln>
        </p:spPr>
      </p:sp>
      <p:sp>
        <p:nvSpPr>
          <p:cNvPr id="7" name="Shape 5"/>
          <p:cNvSpPr/>
          <p:nvPr/>
        </p:nvSpPr>
        <p:spPr>
          <a:xfrm>
            <a:off x="347472" y="201168"/>
            <a:ext cx="438912" cy="438912"/>
          </a:xfrm>
          <a:prstGeom prst="rect">
            <a:avLst/>
          </a:prstGeom>
          <a:solidFill>
            <a:srgbClr val="6B21A8"/>
          </a:solidFill>
          <a:ln w="12700">
            <a:solidFill>
              <a:srgbClr val="6B21A8"/>
            </a:solidFill>
            <a:prstDash val="solid"/>
          </a:ln>
        </p:spPr>
      </p:sp>
      <p:sp>
        <p:nvSpPr>
          <p:cNvPr id="8" name="Text 6"/>
          <p:cNvSpPr/>
          <p:nvPr/>
        </p:nvSpPr>
        <p:spPr>
          <a:xfrm>
            <a:off x="347472" y="201168"/>
            <a:ext cx="438912" cy="438912"/>
          </a:xfrm>
          <a:prstGeom prst="rect">
            <a:avLst/>
          </a:prstGeom>
          <a:noFill/>
          <a:ln/>
        </p:spPr>
        <p:txBody>
          <a:bodyPr wrap="square" lIns="0" tIns="0" rIns="0" bIns="0" rtlCol="0" anchor="ctr"/>
          <a:lstStyle/>
          <a:p>
            <a:pPr algn="ctr" indent="0" marL="0">
              <a:buNone/>
            </a:pPr>
            <a:r>
              <a:rPr lang="en-US" sz="1700" b="1" dirty="0">
                <a:solidFill>
                  <a:srgbClr val="C8E600"/>
                </a:solidFill>
              </a:rPr>
              <a:t>P</a:t>
            </a:r>
            <a:endParaRPr lang="en-US" sz="1700" dirty="0"/>
          </a:p>
        </p:txBody>
      </p:sp>
      <p:sp>
        <p:nvSpPr>
          <p:cNvPr id="9" name="Text 7"/>
          <p:cNvSpPr/>
          <p:nvPr/>
        </p:nvSpPr>
        <p:spPr>
          <a:xfrm>
            <a:off x="841248" y="237744"/>
            <a:ext cx="1188720" cy="201168"/>
          </a:xfrm>
          <a:prstGeom prst="rect">
            <a:avLst/>
          </a:prstGeom>
          <a:noFill/>
          <a:ln/>
        </p:spPr>
        <p:txBody>
          <a:bodyPr wrap="square" lIns="0" tIns="0" rIns="0" bIns="0" rtlCol="0" anchor="ctr"/>
          <a:lstStyle/>
          <a:p>
            <a:pPr indent="0" marL="0">
              <a:buNone/>
            </a:pPr>
            <a:r>
              <a:rPr lang="en-US" sz="900" b="1" spc="300" kern="0" dirty="0">
                <a:solidFill>
                  <a:srgbClr val="FFFFFF"/>
                </a:solidFill>
              </a:rPr>
              <a:t>PAYSAFE</a:t>
            </a:r>
            <a:endParaRPr lang="en-US" sz="900" dirty="0"/>
          </a:p>
        </p:txBody>
      </p:sp>
      <p:sp>
        <p:nvSpPr>
          <p:cNvPr id="10" name="Text 8"/>
          <p:cNvSpPr/>
          <p:nvPr/>
        </p:nvSpPr>
        <p:spPr>
          <a:xfrm>
            <a:off x="841248" y="438912"/>
            <a:ext cx="1188720" cy="164592"/>
          </a:xfrm>
          <a:prstGeom prst="rect">
            <a:avLst/>
          </a:prstGeom>
          <a:noFill/>
          <a:ln/>
        </p:spPr>
        <p:txBody>
          <a:bodyPr wrap="square" lIns="0" tIns="0" rIns="0" bIns="0" rtlCol="0" anchor="ctr"/>
          <a:lstStyle/>
          <a:p>
            <a:pPr indent="0" marL="0">
              <a:buNone/>
            </a:pPr>
            <a:r>
              <a:rPr lang="en-US" sz="650" spc="200" kern="0" dirty="0">
                <a:solidFill>
                  <a:srgbClr val="C4B8E0"/>
                </a:solidFill>
              </a:rPr>
              <a:t>ENGINEERING</a:t>
            </a:r>
            <a:endParaRPr lang="en-US" sz="650" dirty="0"/>
          </a:p>
        </p:txBody>
      </p:sp>
      <p:sp>
        <p:nvSpPr>
          <p:cNvPr id="11" name="Shape 9"/>
          <p:cNvSpPr/>
          <p:nvPr/>
        </p:nvSpPr>
        <p:spPr>
          <a:xfrm>
            <a:off x="2286000" y="228600"/>
            <a:ext cx="1920240" cy="292608"/>
          </a:xfrm>
          <a:prstGeom prst="rect">
            <a:avLst/>
          </a:prstGeom>
          <a:solidFill>
            <a:srgbClr val="9D5CFF">
              <a:alpha val="18000"/>
            </a:srgbClr>
          </a:solidFill>
          <a:ln w="12700">
            <a:solidFill>
              <a:srgbClr val="9D5CFF"/>
            </a:solidFill>
            <a:prstDash val="solid"/>
          </a:ln>
        </p:spPr>
      </p:sp>
      <p:sp>
        <p:nvSpPr>
          <p:cNvPr id="12" name="Text 10"/>
          <p:cNvSpPr/>
          <p:nvPr/>
        </p:nvSpPr>
        <p:spPr>
          <a:xfrm>
            <a:off x="2286000" y="228600"/>
            <a:ext cx="1920240" cy="292608"/>
          </a:xfrm>
          <a:prstGeom prst="rect">
            <a:avLst/>
          </a:prstGeom>
          <a:noFill/>
          <a:ln/>
        </p:spPr>
        <p:txBody>
          <a:bodyPr wrap="square" lIns="0" tIns="0" rIns="0" bIns="0" rtlCol="0" anchor="ctr"/>
          <a:lstStyle/>
          <a:p>
            <a:pPr algn="ctr" indent="0" marL="0">
              <a:buNone/>
            </a:pPr>
            <a:r>
              <a:rPr lang="en-US" sz="750" b="1" dirty="0">
                <a:solidFill>
                  <a:srgbClr val="9D5CFF"/>
                </a:solidFill>
              </a:rPr>
              <a:t>WORKSTREAM 02  ·  LEFT-SHIFT</a:t>
            </a:r>
            <a:endParaRPr lang="en-US" sz="750" dirty="0"/>
          </a:p>
        </p:txBody>
      </p:sp>
      <p:sp>
        <p:nvSpPr>
          <p:cNvPr id="13" name="Shape 11"/>
          <p:cNvSpPr/>
          <p:nvPr/>
        </p:nvSpPr>
        <p:spPr>
          <a:xfrm>
            <a:off x="347472" y="804672"/>
            <a:ext cx="1554480" cy="292608"/>
          </a:xfrm>
          <a:prstGeom prst="rect">
            <a:avLst/>
          </a:prstGeom>
          <a:solidFill>
            <a:srgbClr val="9D5CFF"/>
          </a:solidFill>
          <a:ln w="12700">
            <a:solidFill>
              <a:srgbClr val="9D5CFF"/>
            </a:solidFill>
            <a:prstDash val="solid"/>
          </a:ln>
        </p:spPr>
      </p:sp>
      <p:sp>
        <p:nvSpPr>
          <p:cNvPr id="14" name="Text 12"/>
          <p:cNvSpPr/>
          <p:nvPr/>
        </p:nvSpPr>
        <p:spPr>
          <a:xfrm>
            <a:off x="347472" y="804672"/>
            <a:ext cx="1554480" cy="292608"/>
          </a:xfrm>
          <a:prstGeom prst="rect">
            <a:avLst/>
          </a:prstGeom>
          <a:noFill/>
          <a:ln/>
        </p:spPr>
        <p:txBody>
          <a:bodyPr wrap="square" lIns="0" tIns="0" rIns="0" bIns="0" rtlCol="0" anchor="ctr"/>
          <a:lstStyle/>
          <a:p>
            <a:pPr algn="ctr" indent="0" marL="0">
              <a:buNone/>
            </a:pPr>
            <a:r>
              <a:rPr lang="en-US" sz="900" b="1" dirty="0">
                <a:solidFill>
                  <a:srgbClr val="0E0B2E"/>
                </a:solidFill>
              </a:rPr>
              <a:t>Design</a:t>
            </a:r>
            <a:endParaRPr lang="en-US" sz="900" dirty="0"/>
          </a:p>
        </p:txBody>
      </p:sp>
      <p:pic>
        <p:nvPicPr>
          <p:cNvPr id="15" name="Image 0" descr="preencoded.png">    </p:cNvPr>
          <p:cNvPicPr>
            <a:picLocks noChangeAspect="1"/>
          </p:cNvPicPr>
          <p:nvPr/>
        </p:nvPicPr>
        <p:blipFill>
          <a:blip r:embed="rId1"/>
          <a:stretch>
            <a:fillRect/>
          </a:stretch>
        </p:blipFill>
        <p:spPr>
          <a:xfrm>
            <a:off x="1920240" y="877824"/>
            <a:ext cx="91440" cy="91440"/>
          </a:xfrm>
          <a:prstGeom prst="rect">
            <a:avLst/>
          </a:prstGeom>
        </p:spPr>
      </p:pic>
      <p:sp>
        <p:nvSpPr>
          <p:cNvPr id="16" name="Shape 13"/>
          <p:cNvSpPr/>
          <p:nvPr/>
        </p:nvSpPr>
        <p:spPr>
          <a:xfrm>
            <a:off x="2029968" y="804672"/>
            <a:ext cx="1554480" cy="292608"/>
          </a:xfrm>
          <a:prstGeom prst="rect">
            <a:avLst/>
          </a:prstGeom>
          <a:solidFill>
            <a:srgbClr val="1A1445"/>
          </a:solidFill>
          <a:ln w="12700">
            <a:solidFill>
              <a:srgbClr val="3D3066"/>
            </a:solidFill>
            <a:prstDash val="solid"/>
          </a:ln>
        </p:spPr>
      </p:sp>
      <p:sp>
        <p:nvSpPr>
          <p:cNvPr id="17" name="Text 14"/>
          <p:cNvSpPr/>
          <p:nvPr/>
        </p:nvSpPr>
        <p:spPr>
          <a:xfrm>
            <a:off x="2029968"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Develop</a:t>
            </a:r>
            <a:endParaRPr lang="en-US" sz="900" dirty="0"/>
          </a:p>
        </p:txBody>
      </p:sp>
      <p:pic>
        <p:nvPicPr>
          <p:cNvPr id="18" name="Image 1" descr="preencoded.png">    </p:cNvPr>
          <p:cNvPicPr>
            <a:picLocks noChangeAspect="1"/>
          </p:cNvPicPr>
          <p:nvPr/>
        </p:nvPicPr>
        <p:blipFill>
          <a:blip r:embed="rId2"/>
          <a:stretch>
            <a:fillRect/>
          </a:stretch>
        </p:blipFill>
        <p:spPr>
          <a:xfrm>
            <a:off x="3602736" y="877824"/>
            <a:ext cx="91440" cy="91440"/>
          </a:xfrm>
          <a:prstGeom prst="rect">
            <a:avLst/>
          </a:prstGeom>
        </p:spPr>
      </p:pic>
      <p:sp>
        <p:nvSpPr>
          <p:cNvPr id="19" name="Shape 15"/>
          <p:cNvSpPr/>
          <p:nvPr/>
        </p:nvSpPr>
        <p:spPr>
          <a:xfrm>
            <a:off x="3712464" y="804672"/>
            <a:ext cx="1554480" cy="292608"/>
          </a:xfrm>
          <a:prstGeom prst="rect">
            <a:avLst/>
          </a:prstGeom>
          <a:solidFill>
            <a:srgbClr val="7C3AED"/>
          </a:solidFill>
          <a:ln w="12700">
            <a:solidFill>
              <a:srgbClr val="7C3AED"/>
            </a:solidFill>
            <a:prstDash val="solid"/>
          </a:ln>
        </p:spPr>
      </p:sp>
      <p:sp>
        <p:nvSpPr>
          <p:cNvPr id="20" name="Text 16"/>
          <p:cNvSpPr/>
          <p:nvPr/>
        </p:nvSpPr>
        <p:spPr>
          <a:xfrm>
            <a:off x="3712464" y="804672"/>
            <a:ext cx="1554480" cy="292608"/>
          </a:xfrm>
          <a:prstGeom prst="rect">
            <a:avLst/>
          </a:prstGeom>
          <a:noFill/>
          <a:ln/>
        </p:spPr>
        <p:txBody>
          <a:bodyPr wrap="square" lIns="0" tIns="0" rIns="0" bIns="0" rtlCol="0" anchor="ctr"/>
          <a:lstStyle/>
          <a:p>
            <a:pPr algn="ctr" indent="0" marL="0">
              <a:buNone/>
            </a:pPr>
            <a:r>
              <a:rPr lang="en-US" sz="900" b="1" dirty="0">
                <a:solidFill>
                  <a:srgbClr val="0E0B2E"/>
                </a:solidFill>
              </a:rPr>
              <a:t>Test</a:t>
            </a:r>
            <a:endParaRPr lang="en-US" sz="900" dirty="0"/>
          </a:p>
        </p:txBody>
      </p:sp>
      <p:pic>
        <p:nvPicPr>
          <p:cNvPr id="21" name="Image 2" descr="preencoded.png">    </p:cNvPr>
          <p:cNvPicPr>
            <a:picLocks noChangeAspect="1"/>
          </p:cNvPicPr>
          <p:nvPr/>
        </p:nvPicPr>
        <p:blipFill>
          <a:blip r:embed="rId3"/>
          <a:stretch>
            <a:fillRect/>
          </a:stretch>
        </p:blipFill>
        <p:spPr>
          <a:xfrm>
            <a:off x="5285232" y="877824"/>
            <a:ext cx="91440" cy="91440"/>
          </a:xfrm>
          <a:prstGeom prst="rect">
            <a:avLst/>
          </a:prstGeom>
        </p:spPr>
      </p:pic>
      <p:sp>
        <p:nvSpPr>
          <p:cNvPr id="22" name="Shape 17"/>
          <p:cNvSpPr/>
          <p:nvPr/>
        </p:nvSpPr>
        <p:spPr>
          <a:xfrm>
            <a:off x="5394960" y="804672"/>
            <a:ext cx="1554480" cy="292608"/>
          </a:xfrm>
          <a:prstGeom prst="rect">
            <a:avLst/>
          </a:prstGeom>
          <a:solidFill>
            <a:srgbClr val="1A1445"/>
          </a:solidFill>
          <a:ln w="12700">
            <a:solidFill>
              <a:srgbClr val="3D3066"/>
            </a:solidFill>
            <a:prstDash val="solid"/>
          </a:ln>
        </p:spPr>
      </p:sp>
      <p:sp>
        <p:nvSpPr>
          <p:cNvPr id="23" name="Text 18"/>
          <p:cNvSpPr/>
          <p:nvPr/>
        </p:nvSpPr>
        <p:spPr>
          <a:xfrm>
            <a:off x="5394960"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Staging</a:t>
            </a:r>
            <a:endParaRPr lang="en-US" sz="900" dirty="0"/>
          </a:p>
        </p:txBody>
      </p:sp>
      <p:pic>
        <p:nvPicPr>
          <p:cNvPr id="24" name="Image 3" descr="preencoded.png">    </p:cNvPr>
          <p:cNvPicPr>
            <a:picLocks noChangeAspect="1"/>
          </p:cNvPicPr>
          <p:nvPr/>
        </p:nvPicPr>
        <p:blipFill>
          <a:blip r:embed="rId4"/>
          <a:stretch>
            <a:fillRect/>
          </a:stretch>
        </p:blipFill>
        <p:spPr>
          <a:xfrm>
            <a:off x="6967728" y="877824"/>
            <a:ext cx="91440" cy="91440"/>
          </a:xfrm>
          <a:prstGeom prst="rect">
            <a:avLst/>
          </a:prstGeom>
        </p:spPr>
      </p:pic>
      <p:sp>
        <p:nvSpPr>
          <p:cNvPr id="25" name="Shape 19"/>
          <p:cNvSpPr/>
          <p:nvPr/>
        </p:nvSpPr>
        <p:spPr>
          <a:xfrm>
            <a:off x="7077456" y="804672"/>
            <a:ext cx="1554480" cy="292608"/>
          </a:xfrm>
          <a:prstGeom prst="rect">
            <a:avLst/>
          </a:prstGeom>
          <a:solidFill>
            <a:srgbClr val="1A1445"/>
          </a:solidFill>
          <a:ln w="12700">
            <a:solidFill>
              <a:srgbClr val="3D3066"/>
            </a:solidFill>
            <a:prstDash val="solid"/>
          </a:ln>
        </p:spPr>
      </p:sp>
      <p:sp>
        <p:nvSpPr>
          <p:cNvPr id="26" name="Text 20"/>
          <p:cNvSpPr/>
          <p:nvPr/>
        </p:nvSpPr>
        <p:spPr>
          <a:xfrm>
            <a:off x="7077456"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Prod</a:t>
            </a:r>
            <a:endParaRPr lang="en-US" sz="900" dirty="0"/>
          </a:p>
        </p:txBody>
      </p:sp>
      <p:sp>
        <p:nvSpPr>
          <p:cNvPr id="27" name="Text 21"/>
          <p:cNvSpPr/>
          <p:nvPr/>
        </p:nvSpPr>
        <p:spPr>
          <a:xfrm>
            <a:off x="347472" y="1188720"/>
            <a:ext cx="5943600" cy="192024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Chaos</a:t>
            </a:r>
            <a:endParaRPr lang="en-US" sz="6600" dirty="0"/>
          </a:p>
          <a:p>
            <a:pPr indent="0" marL="0">
              <a:buNone/>
            </a:pPr>
            <a:r>
              <a:rPr lang="en-US" sz="6600" b="1" dirty="0">
                <a:solidFill>
                  <a:srgbClr val="FFFFFF"/>
                </a:solidFill>
                <a:latin typeface="Calibri" pitchFamily="34" charset="0"/>
                <a:ea typeface="Calibri" pitchFamily="34" charset="-122"/>
                <a:cs typeface="Calibri" pitchFamily="34" charset="-120"/>
              </a:rPr>
              <a:t>Engineering</a:t>
            </a:r>
            <a:endParaRPr lang="en-US" sz="6600" dirty="0"/>
          </a:p>
        </p:txBody>
      </p:sp>
      <p:sp>
        <p:nvSpPr>
          <p:cNvPr id="28" name="Shape 22"/>
          <p:cNvSpPr/>
          <p:nvPr/>
        </p:nvSpPr>
        <p:spPr>
          <a:xfrm>
            <a:off x="347472" y="3163824"/>
            <a:ext cx="8229600" cy="54864"/>
          </a:xfrm>
          <a:prstGeom prst="rect">
            <a:avLst/>
          </a:prstGeom>
          <a:solidFill>
            <a:srgbClr val="9D5CFF"/>
          </a:solidFill>
          <a:ln w="12700">
            <a:solidFill>
              <a:srgbClr val="9D5CFF"/>
            </a:solidFill>
            <a:prstDash val="solid"/>
          </a:ln>
        </p:spPr>
      </p:sp>
      <p:sp>
        <p:nvSpPr>
          <p:cNvPr id="29" name="Text 23"/>
          <p:cNvSpPr/>
          <p:nvPr/>
        </p:nvSpPr>
        <p:spPr>
          <a:xfrm>
            <a:off x="347472" y="3273552"/>
            <a:ext cx="8229600" cy="347472"/>
          </a:xfrm>
          <a:prstGeom prst="rect">
            <a:avLst/>
          </a:prstGeom>
          <a:noFill/>
          <a:ln/>
        </p:spPr>
        <p:txBody>
          <a:bodyPr wrap="square" lIns="0" tIns="0" rIns="0" bIns="0" rtlCol="0" anchor="ctr"/>
          <a:lstStyle/>
          <a:p>
            <a:pPr indent="0" marL="0">
              <a:buNone/>
            </a:pPr>
            <a:r>
              <a:rPr lang="en-US" sz="1500" i="1" dirty="0">
                <a:solidFill>
                  <a:srgbClr val="9D5CFF"/>
                </a:solidFill>
                <a:latin typeface="Calibri" pitchFamily="34" charset="0"/>
                <a:ea typeface="Calibri" pitchFamily="34" charset="-122"/>
                <a:cs typeface="Calibri" pitchFamily="34" charset="-120"/>
              </a:rPr>
              <a:t>Design for failure modes. Break it before production does.</a:t>
            </a:r>
            <a:endParaRPr lang="en-US" sz="1500" dirty="0"/>
          </a:p>
        </p:txBody>
      </p:sp>
      <p:sp>
        <p:nvSpPr>
          <p:cNvPr id="30" name="Shape 24"/>
          <p:cNvSpPr/>
          <p:nvPr/>
        </p:nvSpPr>
        <p:spPr>
          <a:xfrm>
            <a:off x="347472" y="3749040"/>
            <a:ext cx="2578608" cy="1024128"/>
          </a:xfrm>
          <a:prstGeom prst="rect">
            <a:avLst/>
          </a:prstGeom>
          <a:solidFill>
            <a:srgbClr val="9D5CFF">
              <a:alpha val="20000"/>
            </a:srgbClr>
          </a:solidFill>
          <a:ln w="25400">
            <a:solidFill>
              <a:srgbClr val="9D5CFF"/>
            </a:solidFill>
            <a:prstDash val="solid"/>
          </a:ln>
          <a:effectLst>
            <a:outerShdw sx="100000" sy="100000" kx="0" ky="0" algn="bl" rotWithShape="0" blurRad="101600" dist="25400" dir="8100000">
              <a:srgbClr val="000000">
                <a:alpha val="30000"/>
              </a:srgbClr>
            </a:outerShdw>
          </a:effectLst>
        </p:spPr>
      </p:sp>
      <p:sp>
        <p:nvSpPr>
          <p:cNvPr id="31" name="Text 25"/>
          <p:cNvSpPr/>
          <p:nvPr/>
        </p:nvSpPr>
        <p:spPr>
          <a:xfrm>
            <a:off x="347472" y="3767328"/>
            <a:ext cx="2578608" cy="530352"/>
          </a:xfrm>
          <a:prstGeom prst="rect">
            <a:avLst/>
          </a:prstGeom>
          <a:noFill/>
          <a:ln/>
        </p:spPr>
        <p:txBody>
          <a:bodyPr wrap="square" lIns="0" tIns="0" rIns="0" bIns="0" rtlCol="0" anchor="ctr"/>
          <a:lstStyle/>
          <a:p>
            <a:pPr algn="ctr" indent="0" marL="0">
              <a:buNone/>
            </a:pPr>
            <a:r>
              <a:rPr lang="en-US" sz="3600" b="1" dirty="0">
                <a:solidFill>
                  <a:srgbClr val="9D5CFF"/>
                </a:solidFill>
              </a:rPr>
              <a:t>40%</a:t>
            </a:r>
            <a:endParaRPr lang="en-US" sz="3600" dirty="0"/>
          </a:p>
        </p:txBody>
      </p:sp>
      <p:sp>
        <p:nvSpPr>
          <p:cNvPr id="32" name="Text 26"/>
          <p:cNvSpPr/>
          <p:nvPr/>
        </p:nvSpPr>
        <p:spPr>
          <a:xfrm>
            <a:off x="457200"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MTTR reduction</a:t>
            </a:r>
            <a:endParaRPr lang="en-US" sz="900" dirty="0"/>
          </a:p>
          <a:p>
            <a:pPr algn="ctr" indent="0" marL="0">
              <a:buNone/>
            </a:pPr>
            <a:r>
              <a:rPr lang="en-US" sz="900" dirty="0">
                <a:solidFill>
                  <a:srgbClr val="C4B8E0"/>
                </a:solidFill>
              </a:rPr>
              <a:t>(Netflix benchmark)</a:t>
            </a:r>
            <a:endParaRPr lang="en-US" sz="900" dirty="0"/>
          </a:p>
        </p:txBody>
      </p:sp>
      <p:sp>
        <p:nvSpPr>
          <p:cNvPr id="33" name="Shape 27"/>
          <p:cNvSpPr/>
          <p:nvPr/>
        </p:nvSpPr>
        <p:spPr>
          <a:xfrm>
            <a:off x="3145536" y="3749040"/>
            <a:ext cx="2578608" cy="1024128"/>
          </a:xfrm>
          <a:prstGeom prst="rect">
            <a:avLst/>
          </a:prstGeom>
          <a:solidFill>
            <a:srgbClr val="1A1445"/>
          </a:solidFill>
          <a:ln w="12700">
            <a:solidFill>
              <a:srgbClr val="3D3066"/>
            </a:solidFill>
            <a:prstDash val="solid"/>
          </a:ln>
        </p:spPr>
      </p:sp>
      <p:sp>
        <p:nvSpPr>
          <p:cNvPr id="34" name="Text 28"/>
          <p:cNvSpPr/>
          <p:nvPr/>
        </p:nvSpPr>
        <p:spPr>
          <a:xfrm>
            <a:off x="3145536" y="3767328"/>
            <a:ext cx="2578608" cy="530352"/>
          </a:xfrm>
          <a:prstGeom prst="rect">
            <a:avLst/>
          </a:prstGeom>
          <a:noFill/>
          <a:ln/>
        </p:spPr>
        <p:txBody>
          <a:bodyPr wrap="square" lIns="0" tIns="0" rIns="0" bIns="0" rtlCol="0" anchor="ctr"/>
          <a:lstStyle/>
          <a:p>
            <a:pPr algn="ctr" indent="0" marL="0">
              <a:buNone/>
            </a:pPr>
            <a:r>
              <a:rPr lang="en-US" sz="3600" b="1" dirty="0">
                <a:solidFill>
                  <a:srgbClr val="9D5CFF"/>
                </a:solidFill>
              </a:rPr>
              <a:t>90%+</a:t>
            </a:r>
            <a:endParaRPr lang="en-US" sz="3600" dirty="0"/>
          </a:p>
        </p:txBody>
      </p:sp>
      <p:sp>
        <p:nvSpPr>
          <p:cNvPr id="35" name="Text 29"/>
          <p:cNvSpPr/>
          <p:nvPr/>
        </p:nvSpPr>
        <p:spPr>
          <a:xfrm>
            <a:off x="3255264"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runbook coverage</a:t>
            </a:r>
            <a:endParaRPr lang="en-US" sz="900" dirty="0"/>
          </a:p>
          <a:p>
            <a:pPr algn="ctr" indent="0" marL="0">
              <a:buNone/>
            </a:pPr>
            <a:r>
              <a:rPr lang="en-US" sz="900" dirty="0">
                <a:solidFill>
                  <a:srgbClr val="C4B8E0"/>
                </a:solidFill>
              </a:rPr>
              <a:t>vs ~30% today</a:t>
            </a:r>
            <a:endParaRPr lang="en-US" sz="900" dirty="0"/>
          </a:p>
        </p:txBody>
      </p:sp>
      <p:sp>
        <p:nvSpPr>
          <p:cNvPr id="36" name="Shape 30"/>
          <p:cNvSpPr/>
          <p:nvPr/>
        </p:nvSpPr>
        <p:spPr>
          <a:xfrm>
            <a:off x="5943600" y="3749040"/>
            <a:ext cx="2578608" cy="1024128"/>
          </a:xfrm>
          <a:prstGeom prst="rect">
            <a:avLst/>
          </a:prstGeom>
          <a:solidFill>
            <a:srgbClr val="1A1445"/>
          </a:solidFill>
          <a:ln w="12700">
            <a:solidFill>
              <a:srgbClr val="3D3066"/>
            </a:solidFill>
            <a:prstDash val="solid"/>
          </a:ln>
        </p:spPr>
      </p:sp>
      <p:sp>
        <p:nvSpPr>
          <p:cNvPr id="37" name="Text 31"/>
          <p:cNvSpPr/>
          <p:nvPr/>
        </p:nvSpPr>
        <p:spPr>
          <a:xfrm>
            <a:off x="5943600" y="3767328"/>
            <a:ext cx="2578608" cy="530352"/>
          </a:xfrm>
          <a:prstGeom prst="rect">
            <a:avLst/>
          </a:prstGeom>
          <a:noFill/>
          <a:ln/>
        </p:spPr>
        <p:txBody>
          <a:bodyPr wrap="square" lIns="0" tIns="0" rIns="0" bIns="0" rtlCol="0" anchor="ctr"/>
          <a:lstStyle/>
          <a:p>
            <a:pPr algn="ctr" indent="0" marL="0">
              <a:buNone/>
            </a:pPr>
            <a:r>
              <a:rPr lang="en-US" sz="3600" b="1" dirty="0">
                <a:solidFill>
                  <a:srgbClr val="9D5CFF"/>
                </a:solidFill>
              </a:rPr>
              <a:t>P0</a:t>
            </a:r>
            <a:endParaRPr lang="en-US" sz="3600" dirty="0"/>
          </a:p>
        </p:txBody>
      </p:sp>
      <p:sp>
        <p:nvSpPr>
          <p:cNvPr id="38" name="Text 32"/>
          <p:cNvSpPr/>
          <p:nvPr/>
        </p:nvSpPr>
        <p:spPr>
          <a:xfrm>
            <a:off x="6053328" y="4279392"/>
            <a:ext cx="2377440" cy="420624"/>
          </a:xfrm>
          <a:prstGeom prst="rect">
            <a:avLst/>
          </a:prstGeom>
          <a:noFill/>
          <a:ln/>
        </p:spPr>
        <p:txBody>
          <a:bodyPr wrap="square" lIns="0" tIns="0" rIns="0" bIns="0" rtlCol="0" anchor="ctr"/>
          <a:lstStyle/>
          <a:p>
            <a:pPr algn="ctr" indent="0" marL="0">
              <a:buNone/>
            </a:pPr>
            <a:r>
              <a:rPr lang="en-US" sz="900" dirty="0">
                <a:solidFill>
                  <a:srgbClr val="C4B8E0"/>
                </a:solidFill>
              </a:rPr>
              <a:t>resilience is a</a:t>
            </a:r>
            <a:endParaRPr lang="en-US" sz="900" dirty="0"/>
          </a:p>
          <a:p>
            <a:pPr algn="ctr" indent="0" marL="0">
              <a:buNone/>
            </a:pPr>
            <a:r>
              <a:rPr lang="en-US" sz="900" dirty="0">
                <a:solidFill>
                  <a:srgbClr val="C4B8E0"/>
                </a:solidFill>
              </a:rPr>
              <a:t>deployment gate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B2E"/>
        </a:solidFill>
      </p:bgPr>
    </p:bg>
    <p:spTree>
      <p:nvGrpSpPr>
        <p:cNvPr id="1" name=""/>
        <p:cNvGrpSpPr/>
        <p:nvPr/>
      </p:nvGrpSpPr>
      <p:grpSpPr>
        <a:xfrm>
          <a:off x="0" y="0"/>
          <a:ext cx="0" cy="0"/>
          <a:chOff x="0" y="0"/>
          <a:chExt cx="0" cy="0"/>
        </a:xfrm>
      </p:grpSpPr>
      <p:sp>
        <p:nvSpPr>
          <p:cNvPr id="2" name="Shape 0"/>
          <p:cNvSpPr/>
          <p:nvPr/>
        </p:nvSpPr>
        <p:spPr>
          <a:xfrm>
            <a:off x="6144768" y="0"/>
            <a:ext cx="2999232" cy="5143500"/>
          </a:xfrm>
          <a:prstGeom prst="rect">
            <a:avLst/>
          </a:prstGeom>
          <a:solidFill>
            <a:srgbClr val="FFB830">
              <a:alpha val="14000"/>
            </a:srgbClr>
          </a:solidFill>
          <a:ln w="12700">
            <a:solidFill>
              <a:srgbClr val="FFB830">
                <a:alpha val="1000"/>
              </a:srgbClr>
            </a:solidFill>
            <a:prstDash val="solid"/>
          </a:ln>
        </p:spPr>
      </p:sp>
      <p:sp>
        <p:nvSpPr>
          <p:cNvPr id="3" name="Shape 1"/>
          <p:cNvSpPr/>
          <p:nvPr/>
        </p:nvSpPr>
        <p:spPr>
          <a:xfrm>
            <a:off x="7315200" y="0"/>
            <a:ext cx="1828800" cy="5143500"/>
          </a:xfrm>
          <a:prstGeom prst="rect">
            <a:avLst/>
          </a:prstGeom>
          <a:solidFill>
            <a:srgbClr val="FFB830">
              <a:alpha val="18000"/>
            </a:srgbClr>
          </a:solidFill>
          <a:ln w="12700">
            <a:solidFill>
              <a:srgbClr val="FFB830">
                <a:alpha val="1000"/>
              </a:srgbClr>
            </a:solidFill>
            <a:prstDash val="solid"/>
          </a:ln>
        </p:spPr>
      </p:sp>
      <p:sp>
        <p:nvSpPr>
          <p:cNvPr id="4" name="Shape 2"/>
          <p:cNvSpPr/>
          <p:nvPr/>
        </p:nvSpPr>
        <p:spPr>
          <a:xfrm>
            <a:off x="6126480" y="0"/>
            <a:ext cx="45720" cy="5143500"/>
          </a:xfrm>
          <a:prstGeom prst="rect">
            <a:avLst/>
          </a:prstGeom>
          <a:solidFill>
            <a:srgbClr val="C8E600"/>
          </a:solidFill>
          <a:ln w="12700">
            <a:solidFill>
              <a:srgbClr val="C8E600"/>
            </a:solidFill>
            <a:prstDash val="solid"/>
          </a:ln>
        </p:spPr>
      </p:sp>
      <p:sp>
        <p:nvSpPr>
          <p:cNvPr id="5" name="Shape 3"/>
          <p:cNvSpPr/>
          <p:nvPr/>
        </p:nvSpPr>
        <p:spPr>
          <a:xfrm>
            <a:off x="0" y="4956048"/>
            <a:ext cx="9144000" cy="187452"/>
          </a:xfrm>
          <a:prstGeom prst="rect">
            <a:avLst/>
          </a:prstGeom>
          <a:solidFill>
            <a:srgbClr val="6B21A8"/>
          </a:solidFill>
          <a:ln w="12700">
            <a:solidFill>
              <a:srgbClr val="6B21A8"/>
            </a:solidFill>
            <a:prstDash val="solid"/>
          </a:ln>
        </p:spPr>
      </p:sp>
      <p:sp>
        <p:nvSpPr>
          <p:cNvPr id="6" name="Shape 4"/>
          <p:cNvSpPr/>
          <p:nvPr/>
        </p:nvSpPr>
        <p:spPr>
          <a:xfrm>
            <a:off x="0" y="4956048"/>
            <a:ext cx="9144000" cy="36576"/>
          </a:xfrm>
          <a:prstGeom prst="rect">
            <a:avLst/>
          </a:prstGeom>
          <a:solidFill>
            <a:srgbClr val="C8E600"/>
          </a:solidFill>
          <a:ln w="12700">
            <a:solidFill>
              <a:srgbClr val="C8E600"/>
            </a:solidFill>
            <a:prstDash val="solid"/>
          </a:ln>
        </p:spPr>
      </p:sp>
      <p:sp>
        <p:nvSpPr>
          <p:cNvPr id="7" name="Shape 5"/>
          <p:cNvSpPr/>
          <p:nvPr/>
        </p:nvSpPr>
        <p:spPr>
          <a:xfrm>
            <a:off x="347472" y="201168"/>
            <a:ext cx="438912" cy="438912"/>
          </a:xfrm>
          <a:prstGeom prst="rect">
            <a:avLst/>
          </a:prstGeom>
          <a:solidFill>
            <a:srgbClr val="6B21A8"/>
          </a:solidFill>
          <a:ln w="12700">
            <a:solidFill>
              <a:srgbClr val="6B21A8"/>
            </a:solidFill>
            <a:prstDash val="solid"/>
          </a:ln>
        </p:spPr>
      </p:sp>
      <p:sp>
        <p:nvSpPr>
          <p:cNvPr id="8" name="Text 6"/>
          <p:cNvSpPr/>
          <p:nvPr/>
        </p:nvSpPr>
        <p:spPr>
          <a:xfrm>
            <a:off x="347472" y="201168"/>
            <a:ext cx="438912" cy="438912"/>
          </a:xfrm>
          <a:prstGeom prst="rect">
            <a:avLst/>
          </a:prstGeom>
          <a:noFill/>
          <a:ln/>
        </p:spPr>
        <p:txBody>
          <a:bodyPr wrap="square" lIns="0" tIns="0" rIns="0" bIns="0" rtlCol="0" anchor="ctr"/>
          <a:lstStyle/>
          <a:p>
            <a:pPr algn="ctr" indent="0" marL="0">
              <a:buNone/>
            </a:pPr>
            <a:r>
              <a:rPr lang="en-US" sz="1700" b="1" dirty="0">
                <a:solidFill>
                  <a:srgbClr val="C8E600"/>
                </a:solidFill>
              </a:rPr>
              <a:t>P</a:t>
            </a:r>
            <a:endParaRPr lang="en-US" sz="1700" dirty="0"/>
          </a:p>
        </p:txBody>
      </p:sp>
      <p:sp>
        <p:nvSpPr>
          <p:cNvPr id="9" name="Text 7"/>
          <p:cNvSpPr/>
          <p:nvPr/>
        </p:nvSpPr>
        <p:spPr>
          <a:xfrm>
            <a:off x="841248" y="237744"/>
            <a:ext cx="1188720" cy="201168"/>
          </a:xfrm>
          <a:prstGeom prst="rect">
            <a:avLst/>
          </a:prstGeom>
          <a:noFill/>
          <a:ln/>
        </p:spPr>
        <p:txBody>
          <a:bodyPr wrap="square" lIns="0" tIns="0" rIns="0" bIns="0" rtlCol="0" anchor="ctr"/>
          <a:lstStyle/>
          <a:p>
            <a:pPr indent="0" marL="0">
              <a:buNone/>
            </a:pPr>
            <a:r>
              <a:rPr lang="en-US" sz="900" b="1" spc="300" kern="0" dirty="0">
                <a:solidFill>
                  <a:srgbClr val="FFFFFF"/>
                </a:solidFill>
              </a:rPr>
              <a:t>PAYSAFE</a:t>
            </a:r>
            <a:endParaRPr lang="en-US" sz="900" dirty="0"/>
          </a:p>
        </p:txBody>
      </p:sp>
      <p:sp>
        <p:nvSpPr>
          <p:cNvPr id="10" name="Text 8"/>
          <p:cNvSpPr/>
          <p:nvPr/>
        </p:nvSpPr>
        <p:spPr>
          <a:xfrm>
            <a:off x="841248" y="438912"/>
            <a:ext cx="1188720" cy="164592"/>
          </a:xfrm>
          <a:prstGeom prst="rect">
            <a:avLst/>
          </a:prstGeom>
          <a:noFill/>
          <a:ln/>
        </p:spPr>
        <p:txBody>
          <a:bodyPr wrap="square" lIns="0" tIns="0" rIns="0" bIns="0" rtlCol="0" anchor="ctr"/>
          <a:lstStyle/>
          <a:p>
            <a:pPr indent="0" marL="0">
              <a:buNone/>
            </a:pPr>
            <a:r>
              <a:rPr lang="en-US" sz="650" spc="200" kern="0" dirty="0">
                <a:solidFill>
                  <a:srgbClr val="C4B8E0"/>
                </a:solidFill>
              </a:rPr>
              <a:t>ENGINEERING</a:t>
            </a:r>
            <a:endParaRPr lang="en-US" sz="650" dirty="0"/>
          </a:p>
        </p:txBody>
      </p:sp>
      <p:sp>
        <p:nvSpPr>
          <p:cNvPr id="11" name="Shape 9"/>
          <p:cNvSpPr/>
          <p:nvPr/>
        </p:nvSpPr>
        <p:spPr>
          <a:xfrm>
            <a:off x="2286000" y="228600"/>
            <a:ext cx="1920240" cy="292608"/>
          </a:xfrm>
          <a:prstGeom prst="rect">
            <a:avLst/>
          </a:prstGeom>
          <a:solidFill>
            <a:srgbClr val="FFB830">
              <a:alpha val="18000"/>
            </a:srgbClr>
          </a:solidFill>
          <a:ln w="12700">
            <a:solidFill>
              <a:srgbClr val="FFB830"/>
            </a:solidFill>
            <a:prstDash val="solid"/>
          </a:ln>
        </p:spPr>
      </p:sp>
      <p:sp>
        <p:nvSpPr>
          <p:cNvPr id="12" name="Text 10"/>
          <p:cNvSpPr/>
          <p:nvPr/>
        </p:nvSpPr>
        <p:spPr>
          <a:xfrm>
            <a:off x="2286000" y="228600"/>
            <a:ext cx="1920240" cy="292608"/>
          </a:xfrm>
          <a:prstGeom prst="rect">
            <a:avLst/>
          </a:prstGeom>
          <a:noFill/>
          <a:ln/>
        </p:spPr>
        <p:txBody>
          <a:bodyPr wrap="square" lIns="0" tIns="0" rIns="0" bIns="0" rtlCol="0" anchor="ctr"/>
          <a:lstStyle/>
          <a:p>
            <a:pPr algn="ctr" indent="0" marL="0">
              <a:buNone/>
            </a:pPr>
            <a:r>
              <a:rPr lang="en-US" sz="750" b="1" dirty="0">
                <a:solidFill>
                  <a:srgbClr val="FFB830"/>
                </a:solidFill>
              </a:rPr>
              <a:t>WORKSTREAM 03  ·  LEFT-SHIFT</a:t>
            </a:r>
            <a:endParaRPr lang="en-US" sz="750" dirty="0"/>
          </a:p>
        </p:txBody>
      </p:sp>
      <p:sp>
        <p:nvSpPr>
          <p:cNvPr id="13" name="Shape 11"/>
          <p:cNvSpPr/>
          <p:nvPr/>
        </p:nvSpPr>
        <p:spPr>
          <a:xfrm>
            <a:off x="347472" y="804672"/>
            <a:ext cx="1554480" cy="292608"/>
          </a:xfrm>
          <a:prstGeom prst="rect">
            <a:avLst/>
          </a:prstGeom>
          <a:solidFill>
            <a:srgbClr val="FFB830"/>
          </a:solidFill>
          <a:ln w="12700">
            <a:solidFill>
              <a:srgbClr val="FFB830"/>
            </a:solidFill>
            <a:prstDash val="solid"/>
          </a:ln>
        </p:spPr>
      </p:sp>
      <p:sp>
        <p:nvSpPr>
          <p:cNvPr id="14" name="Text 12"/>
          <p:cNvSpPr/>
          <p:nvPr/>
        </p:nvSpPr>
        <p:spPr>
          <a:xfrm>
            <a:off x="347472" y="804672"/>
            <a:ext cx="1554480" cy="292608"/>
          </a:xfrm>
          <a:prstGeom prst="rect">
            <a:avLst/>
          </a:prstGeom>
          <a:noFill/>
          <a:ln/>
        </p:spPr>
        <p:txBody>
          <a:bodyPr wrap="square" lIns="0" tIns="0" rIns="0" bIns="0" rtlCol="0" anchor="ctr"/>
          <a:lstStyle/>
          <a:p>
            <a:pPr algn="ctr" indent="0" marL="0">
              <a:buNone/>
            </a:pPr>
            <a:r>
              <a:rPr lang="en-US" sz="900" b="1" dirty="0">
                <a:solidFill>
                  <a:srgbClr val="0E0B2E"/>
                </a:solidFill>
              </a:rPr>
              <a:t>Design</a:t>
            </a:r>
            <a:endParaRPr lang="en-US" sz="900" dirty="0"/>
          </a:p>
        </p:txBody>
      </p:sp>
      <p:pic>
        <p:nvPicPr>
          <p:cNvPr id="15" name="Image 0" descr="preencoded.png">    </p:cNvPr>
          <p:cNvPicPr>
            <a:picLocks noChangeAspect="1"/>
          </p:cNvPicPr>
          <p:nvPr/>
        </p:nvPicPr>
        <p:blipFill>
          <a:blip r:embed="rId1"/>
          <a:stretch>
            <a:fillRect/>
          </a:stretch>
        </p:blipFill>
        <p:spPr>
          <a:xfrm>
            <a:off x="1920240" y="877824"/>
            <a:ext cx="91440" cy="91440"/>
          </a:xfrm>
          <a:prstGeom prst="rect">
            <a:avLst/>
          </a:prstGeom>
        </p:spPr>
      </p:pic>
      <p:sp>
        <p:nvSpPr>
          <p:cNvPr id="16" name="Shape 13"/>
          <p:cNvSpPr/>
          <p:nvPr/>
        </p:nvSpPr>
        <p:spPr>
          <a:xfrm>
            <a:off x="2029968" y="804672"/>
            <a:ext cx="1554480" cy="292608"/>
          </a:xfrm>
          <a:prstGeom prst="rect">
            <a:avLst/>
          </a:prstGeom>
          <a:solidFill>
            <a:srgbClr val="1A1445"/>
          </a:solidFill>
          <a:ln w="12700">
            <a:solidFill>
              <a:srgbClr val="3D3066"/>
            </a:solidFill>
            <a:prstDash val="solid"/>
          </a:ln>
        </p:spPr>
      </p:sp>
      <p:sp>
        <p:nvSpPr>
          <p:cNvPr id="17" name="Text 14"/>
          <p:cNvSpPr/>
          <p:nvPr/>
        </p:nvSpPr>
        <p:spPr>
          <a:xfrm>
            <a:off x="2029968"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Develop</a:t>
            </a:r>
            <a:endParaRPr lang="en-US" sz="900" dirty="0"/>
          </a:p>
        </p:txBody>
      </p:sp>
      <p:pic>
        <p:nvPicPr>
          <p:cNvPr id="18" name="Image 1" descr="preencoded.png">    </p:cNvPr>
          <p:cNvPicPr>
            <a:picLocks noChangeAspect="1"/>
          </p:cNvPicPr>
          <p:nvPr/>
        </p:nvPicPr>
        <p:blipFill>
          <a:blip r:embed="rId2"/>
          <a:stretch>
            <a:fillRect/>
          </a:stretch>
        </p:blipFill>
        <p:spPr>
          <a:xfrm>
            <a:off x="3602736" y="877824"/>
            <a:ext cx="91440" cy="91440"/>
          </a:xfrm>
          <a:prstGeom prst="rect">
            <a:avLst/>
          </a:prstGeom>
        </p:spPr>
      </p:pic>
      <p:sp>
        <p:nvSpPr>
          <p:cNvPr id="19" name="Shape 15"/>
          <p:cNvSpPr/>
          <p:nvPr/>
        </p:nvSpPr>
        <p:spPr>
          <a:xfrm>
            <a:off x="3712464" y="804672"/>
            <a:ext cx="1554480" cy="292608"/>
          </a:xfrm>
          <a:prstGeom prst="rect">
            <a:avLst/>
          </a:prstGeom>
          <a:solidFill>
            <a:srgbClr val="1A1445"/>
          </a:solidFill>
          <a:ln w="12700">
            <a:solidFill>
              <a:srgbClr val="3D3066"/>
            </a:solidFill>
            <a:prstDash val="solid"/>
          </a:ln>
        </p:spPr>
      </p:sp>
      <p:sp>
        <p:nvSpPr>
          <p:cNvPr id="20" name="Text 16"/>
          <p:cNvSpPr/>
          <p:nvPr/>
        </p:nvSpPr>
        <p:spPr>
          <a:xfrm>
            <a:off x="3712464"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Test</a:t>
            </a:r>
            <a:endParaRPr lang="en-US" sz="900" dirty="0"/>
          </a:p>
        </p:txBody>
      </p:sp>
      <p:pic>
        <p:nvPicPr>
          <p:cNvPr id="21" name="Image 2" descr="preencoded.png">    </p:cNvPr>
          <p:cNvPicPr>
            <a:picLocks noChangeAspect="1"/>
          </p:cNvPicPr>
          <p:nvPr/>
        </p:nvPicPr>
        <p:blipFill>
          <a:blip r:embed="rId3"/>
          <a:stretch>
            <a:fillRect/>
          </a:stretch>
        </p:blipFill>
        <p:spPr>
          <a:xfrm>
            <a:off x="5285232" y="877824"/>
            <a:ext cx="91440" cy="91440"/>
          </a:xfrm>
          <a:prstGeom prst="rect">
            <a:avLst/>
          </a:prstGeom>
        </p:spPr>
      </p:pic>
      <p:sp>
        <p:nvSpPr>
          <p:cNvPr id="22" name="Shape 17"/>
          <p:cNvSpPr/>
          <p:nvPr/>
        </p:nvSpPr>
        <p:spPr>
          <a:xfrm>
            <a:off x="5394960" y="804672"/>
            <a:ext cx="1554480" cy="292608"/>
          </a:xfrm>
          <a:prstGeom prst="rect">
            <a:avLst/>
          </a:prstGeom>
          <a:solidFill>
            <a:srgbClr val="1A1445"/>
          </a:solidFill>
          <a:ln w="12700">
            <a:solidFill>
              <a:srgbClr val="3D3066"/>
            </a:solidFill>
            <a:prstDash val="solid"/>
          </a:ln>
        </p:spPr>
      </p:sp>
      <p:sp>
        <p:nvSpPr>
          <p:cNvPr id="23" name="Text 18"/>
          <p:cNvSpPr/>
          <p:nvPr/>
        </p:nvSpPr>
        <p:spPr>
          <a:xfrm>
            <a:off x="5394960" y="804672"/>
            <a:ext cx="1554480" cy="292608"/>
          </a:xfrm>
          <a:prstGeom prst="rect">
            <a:avLst/>
          </a:prstGeom>
          <a:noFill/>
          <a:ln/>
        </p:spPr>
        <p:txBody>
          <a:bodyPr wrap="square" lIns="0" tIns="0" rIns="0" bIns="0" rtlCol="0" anchor="ctr"/>
          <a:lstStyle/>
          <a:p>
            <a:pPr algn="ctr" indent="0" marL="0">
              <a:buNone/>
            </a:pPr>
            <a:r>
              <a:rPr lang="en-US" sz="900" dirty="0">
                <a:solidFill>
                  <a:srgbClr val="3D3066"/>
                </a:solidFill>
              </a:rPr>
              <a:t>Staging</a:t>
            </a:r>
            <a:endParaRPr lang="en-US" sz="900" dirty="0"/>
          </a:p>
        </p:txBody>
      </p:sp>
      <p:pic>
        <p:nvPicPr>
          <p:cNvPr id="24" name="Image 3" descr="preencoded.png">    </p:cNvPr>
          <p:cNvPicPr>
            <a:picLocks noChangeAspect="1"/>
          </p:cNvPicPr>
          <p:nvPr/>
        </p:nvPicPr>
        <p:blipFill>
          <a:blip r:embed="rId4"/>
          <a:stretch>
            <a:fillRect/>
          </a:stretch>
        </p:blipFill>
        <p:spPr>
          <a:xfrm>
            <a:off x="6967728" y="877824"/>
            <a:ext cx="91440" cy="91440"/>
          </a:xfrm>
          <a:prstGeom prst="rect">
            <a:avLst/>
          </a:prstGeom>
        </p:spPr>
      </p:pic>
      <p:sp>
        <p:nvSpPr>
          <p:cNvPr id="25" name="Shape 19"/>
          <p:cNvSpPr/>
          <p:nvPr/>
        </p:nvSpPr>
        <p:spPr>
          <a:xfrm>
            <a:off x="7077456" y="804672"/>
            <a:ext cx="1554480" cy="292608"/>
          </a:xfrm>
          <a:prstGeom prst="rect">
            <a:avLst/>
          </a:prstGeom>
          <a:solidFill>
            <a:srgbClr val="C8E600"/>
          </a:solidFill>
          <a:ln w="12700">
            <a:solidFill>
              <a:srgbClr val="C8E600"/>
            </a:solidFill>
            <a:prstDash val="solid"/>
          </a:ln>
        </p:spPr>
      </p:sp>
      <p:sp>
        <p:nvSpPr>
          <p:cNvPr id="26" name="Text 20"/>
          <p:cNvSpPr/>
          <p:nvPr/>
        </p:nvSpPr>
        <p:spPr>
          <a:xfrm>
            <a:off x="7077456" y="804672"/>
            <a:ext cx="1554480" cy="292608"/>
          </a:xfrm>
          <a:prstGeom prst="rect">
            <a:avLst/>
          </a:prstGeom>
          <a:noFill/>
          <a:ln/>
        </p:spPr>
        <p:txBody>
          <a:bodyPr wrap="square" lIns="0" tIns="0" rIns="0" bIns="0" rtlCol="0" anchor="ctr"/>
          <a:lstStyle/>
          <a:p>
            <a:pPr algn="ctr" indent="0" marL="0">
              <a:buNone/>
            </a:pPr>
            <a:r>
              <a:rPr lang="en-US" sz="900" b="1" dirty="0">
                <a:solidFill>
                  <a:srgbClr val="0E0B2E"/>
                </a:solidFill>
              </a:rPr>
              <a:t>Prod</a:t>
            </a:r>
            <a:endParaRPr lang="en-US" sz="900" dirty="0"/>
          </a:p>
        </p:txBody>
      </p:sp>
      <p:sp>
        <p:nvSpPr>
          <p:cNvPr id="27" name="Text 21"/>
          <p:cNvSpPr/>
          <p:nvPr/>
        </p:nvSpPr>
        <p:spPr>
          <a:xfrm>
            <a:off x="347472" y="1188720"/>
            <a:ext cx="5943600" cy="1920240"/>
          </a:xfrm>
          <a:prstGeom prst="rect">
            <a:avLst/>
          </a:prstGeom>
          <a:noFill/>
          <a:ln/>
        </p:spPr>
        <p:txBody>
          <a:bodyPr wrap="square" lIns="0" tIns="0" rIns="0" bIns="0" rtlCol="0" anchor="ctr"/>
          <a:lstStyle/>
          <a:p>
            <a:pPr indent="0" marL="0">
              <a:buNone/>
            </a:pPr>
            <a:r>
              <a:rPr lang="en-US" sz="7400" b="1" dirty="0">
                <a:solidFill>
                  <a:srgbClr val="FFFFFF"/>
                </a:solidFill>
                <a:latin typeface="Calibri" pitchFamily="34" charset="0"/>
                <a:ea typeface="Calibri" pitchFamily="34" charset="-122"/>
                <a:cs typeface="Calibri" pitchFamily="34" charset="-120"/>
              </a:rPr>
              <a:t>Kong</a:t>
            </a:r>
            <a:endParaRPr lang="en-US" sz="7400" dirty="0"/>
          </a:p>
          <a:p>
            <a:pPr indent="0" marL="0">
              <a:buNone/>
            </a:pPr>
            <a:r>
              <a:rPr lang="en-US" sz="7400" b="1" dirty="0">
                <a:solidFill>
                  <a:srgbClr val="FFFFFF"/>
                </a:solidFill>
                <a:latin typeface="Calibri" pitchFamily="34" charset="0"/>
                <a:ea typeface="Calibri" pitchFamily="34" charset="-122"/>
                <a:cs typeface="Calibri" pitchFamily="34" charset="-120"/>
              </a:rPr>
              <a:t>Gateway</a:t>
            </a:r>
            <a:endParaRPr lang="en-US" sz="7400" dirty="0"/>
          </a:p>
        </p:txBody>
      </p:sp>
      <p:sp>
        <p:nvSpPr>
          <p:cNvPr id="28" name="Shape 22"/>
          <p:cNvSpPr/>
          <p:nvPr/>
        </p:nvSpPr>
        <p:spPr>
          <a:xfrm>
            <a:off x="347472" y="3163824"/>
            <a:ext cx="8229600" cy="54864"/>
          </a:xfrm>
          <a:prstGeom prst="rect">
            <a:avLst/>
          </a:prstGeom>
          <a:solidFill>
            <a:srgbClr val="FFB830"/>
          </a:solidFill>
          <a:ln w="12700">
            <a:solidFill>
              <a:srgbClr val="FFB830"/>
            </a:solidFill>
            <a:prstDash val="solid"/>
          </a:ln>
        </p:spPr>
      </p:sp>
      <p:sp>
        <p:nvSpPr>
          <p:cNvPr id="29" name="Text 23"/>
          <p:cNvSpPr/>
          <p:nvPr/>
        </p:nvSpPr>
        <p:spPr>
          <a:xfrm>
            <a:off x="347472" y="3273552"/>
            <a:ext cx="8229600" cy="347472"/>
          </a:xfrm>
          <a:prstGeom prst="rect">
            <a:avLst/>
          </a:prstGeom>
          <a:noFill/>
          <a:ln/>
        </p:spPr>
        <p:txBody>
          <a:bodyPr wrap="square" lIns="0" tIns="0" rIns="0" bIns="0" rtlCol="0" anchor="ctr"/>
          <a:lstStyle/>
          <a:p>
            <a:pPr indent="0" marL="0">
              <a:buNone/>
            </a:pPr>
            <a:r>
              <a:rPr lang="en-US" sz="1400" i="1" dirty="0">
                <a:solidFill>
                  <a:srgbClr val="FFB830"/>
                </a:solidFill>
                <a:latin typeface="Calibri" pitchFamily="34" charset="0"/>
                <a:ea typeface="Calibri" pitchFamily="34" charset="-122"/>
                <a:cs typeface="Calibri" pitchFamily="34" charset="-120"/>
              </a:rPr>
              <a:t>Design the API contract first. Kong enforces it everywhere, automatically.</a:t>
            </a:r>
            <a:endParaRPr lang="en-US" sz="1400" dirty="0"/>
          </a:p>
        </p:txBody>
      </p:sp>
      <p:sp>
        <p:nvSpPr>
          <p:cNvPr id="30" name="Shape 24"/>
          <p:cNvSpPr/>
          <p:nvPr/>
        </p:nvSpPr>
        <p:spPr>
          <a:xfrm>
            <a:off x="347472" y="3639312"/>
            <a:ext cx="5303520" cy="658368"/>
          </a:xfrm>
          <a:prstGeom prst="rect">
            <a:avLst/>
          </a:prstGeom>
          <a:solidFill>
            <a:srgbClr val="1A1445"/>
          </a:solidFill>
          <a:ln w="12700">
            <a:solidFill>
              <a:srgbClr val="3D3066"/>
            </a:solidFill>
            <a:prstDash val="solid"/>
          </a:ln>
        </p:spPr>
      </p:sp>
      <p:sp>
        <p:nvSpPr>
          <p:cNvPr id="31" name="Text 25"/>
          <p:cNvSpPr/>
          <p:nvPr/>
        </p:nvSpPr>
        <p:spPr>
          <a:xfrm>
            <a:off x="475488" y="3657600"/>
            <a:ext cx="1207008" cy="603504"/>
          </a:xfrm>
          <a:prstGeom prst="rect">
            <a:avLst/>
          </a:prstGeom>
          <a:noFill/>
          <a:ln/>
        </p:spPr>
        <p:txBody>
          <a:bodyPr wrap="square" lIns="0" tIns="0" rIns="0" bIns="0" rtlCol="0" anchor="ctr"/>
          <a:lstStyle/>
          <a:p>
            <a:pPr algn="ctr" indent="0" marL="0">
              <a:buNone/>
            </a:pPr>
            <a:r>
              <a:rPr lang="en-US" sz="850" b="1" dirty="0">
                <a:solidFill>
                  <a:srgbClr val="FFB830"/>
                </a:solidFill>
              </a:rPr>
              <a:t>Define API</a:t>
            </a:r>
            <a:endParaRPr lang="en-US" sz="850" dirty="0"/>
          </a:p>
          <a:p>
            <a:pPr algn="ctr" indent="0" marL="0">
              <a:buNone/>
            </a:pPr>
            <a:r>
              <a:rPr lang="en-US" sz="850" b="1" dirty="0">
                <a:solidFill>
                  <a:srgbClr val="FFB830"/>
                </a:solidFill>
              </a:rPr>
              <a:t>spec (OAS3)</a:t>
            </a:r>
            <a:endParaRPr lang="en-US" sz="850" dirty="0"/>
          </a:p>
        </p:txBody>
      </p:sp>
      <p:sp>
        <p:nvSpPr>
          <p:cNvPr id="32" name="Text 26"/>
          <p:cNvSpPr/>
          <p:nvPr/>
        </p:nvSpPr>
        <p:spPr>
          <a:xfrm>
            <a:off x="1773936" y="3657600"/>
            <a:ext cx="1207008" cy="603504"/>
          </a:xfrm>
          <a:prstGeom prst="rect">
            <a:avLst/>
          </a:prstGeom>
          <a:noFill/>
          <a:ln/>
        </p:spPr>
        <p:txBody>
          <a:bodyPr wrap="square" lIns="0" tIns="0" rIns="0" bIns="0" rtlCol="0" anchor="ctr"/>
          <a:lstStyle/>
          <a:p>
            <a:pPr algn="ctr" indent="0" marL="0">
              <a:buNone/>
            </a:pPr>
            <a:r>
              <a:rPr lang="en-US" sz="850" dirty="0">
                <a:solidFill>
                  <a:srgbClr val="9D5CFF"/>
                </a:solidFill>
              </a:rPr>
              <a:t>→  Kong auto-</a:t>
            </a:r>
            <a:endParaRPr lang="en-US" sz="850" dirty="0"/>
          </a:p>
          <a:p>
            <a:pPr algn="ctr" indent="0" marL="0">
              <a:buNone/>
            </a:pPr>
            <a:r>
              <a:rPr lang="en-US" sz="850" dirty="0">
                <a:solidFill>
                  <a:srgbClr val="9D5CFF"/>
                </a:solidFill>
              </a:rPr>
              <a:t>generates policy</a:t>
            </a:r>
            <a:endParaRPr lang="en-US" sz="850" dirty="0"/>
          </a:p>
        </p:txBody>
      </p:sp>
      <p:sp>
        <p:nvSpPr>
          <p:cNvPr id="33" name="Text 27"/>
          <p:cNvSpPr/>
          <p:nvPr/>
        </p:nvSpPr>
        <p:spPr>
          <a:xfrm>
            <a:off x="3072384" y="3657600"/>
            <a:ext cx="1207008" cy="603504"/>
          </a:xfrm>
          <a:prstGeom prst="rect">
            <a:avLst/>
          </a:prstGeom>
          <a:noFill/>
          <a:ln/>
        </p:spPr>
        <p:txBody>
          <a:bodyPr wrap="square" lIns="0" tIns="0" rIns="0" bIns="0" rtlCol="0" anchor="ctr"/>
          <a:lstStyle/>
          <a:p>
            <a:pPr algn="ctr" indent="0" marL="0">
              <a:buNone/>
            </a:pPr>
            <a:r>
              <a:rPr lang="en-US" sz="850" dirty="0">
                <a:solidFill>
                  <a:srgbClr val="9D5CFF"/>
                </a:solidFill>
              </a:rPr>
              <a:t>→  Auth, rate-limit,</a:t>
            </a:r>
            <a:endParaRPr lang="en-US" sz="850" dirty="0"/>
          </a:p>
          <a:p>
            <a:pPr algn="ctr" indent="0" marL="0">
              <a:buNone/>
            </a:pPr>
            <a:r>
              <a:rPr lang="en-US" sz="850" dirty="0">
                <a:solidFill>
                  <a:srgbClr val="9D5CFF"/>
                </a:solidFill>
              </a:rPr>
              <a:t>mTLS from day 1</a:t>
            </a:r>
            <a:endParaRPr lang="en-US" sz="850" dirty="0"/>
          </a:p>
        </p:txBody>
      </p:sp>
      <p:sp>
        <p:nvSpPr>
          <p:cNvPr id="34" name="Text 28"/>
          <p:cNvSpPr/>
          <p:nvPr/>
        </p:nvSpPr>
        <p:spPr>
          <a:xfrm>
            <a:off x="4370832" y="3657600"/>
            <a:ext cx="1207008" cy="603504"/>
          </a:xfrm>
          <a:prstGeom prst="rect">
            <a:avLst/>
          </a:prstGeom>
          <a:noFill/>
          <a:ln/>
        </p:spPr>
        <p:txBody>
          <a:bodyPr wrap="square" lIns="0" tIns="0" rIns="0" bIns="0" rtlCol="0" anchor="ctr"/>
          <a:lstStyle/>
          <a:p>
            <a:pPr algn="ctr" indent="0" marL="0">
              <a:buNone/>
            </a:pPr>
            <a:r>
              <a:rPr lang="en-US" sz="850" b="1" dirty="0">
                <a:solidFill>
                  <a:srgbClr val="C8E600"/>
                </a:solidFill>
              </a:rPr>
              <a:t>→  Prod just</a:t>
            </a:r>
            <a:endParaRPr lang="en-US" sz="850" dirty="0"/>
          </a:p>
          <a:p>
            <a:pPr algn="ctr" indent="0" marL="0">
              <a:buNone/>
            </a:pPr>
            <a:r>
              <a:rPr lang="en-US" sz="850" b="1" dirty="0">
                <a:solidFill>
                  <a:srgbClr val="C8E600"/>
                </a:solidFill>
              </a:rPr>
              <a:t>enforces the spec</a:t>
            </a:r>
            <a:endParaRPr lang="en-US" sz="850" dirty="0"/>
          </a:p>
        </p:txBody>
      </p:sp>
      <p:sp>
        <p:nvSpPr>
          <p:cNvPr id="35" name="Shape 29"/>
          <p:cNvSpPr/>
          <p:nvPr/>
        </p:nvSpPr>
        <p:spPr>
          <a:xfrm>
            <a:off x="347472" y="4224528"/>
            <a:ext cx="2578608" cy="896112"/>
          </a:xfrm>
          <a:prstGeom prst="rect">
            <a:avLst/>
          </a:prstGeom>
          <a:solidFill>
            <a:srgbClr val="FFB830">
              <a:alpha val="20000"/>
            </a:srgbClr>
          </a:solidFill>
          <a:ln w="25400">
            <a:solidFill>
              <a:srgbClr val="FFB830"/>
            </a:solidFill>
            <a:prstDash val="solid"/>
          </a:ln>
          <a:effectLst>
            <a:outerShdw sx="100000" sy="100000" kx="0" ky="0" algn="bl" rotWithShape="0" blurRad="101600" dist="25400" dir="8100000">
              <a:srgbClr val="000000">
                <a:alpha val="30000"/>
              </a:srgbClr>
            </a:outerShdw>
          </a:effectLst>
        </p:spPr>
      </p:sp>
      <p:sp>
        <p:nvSpPr>
          <p:cNvPr id="36" name="Text 30"/>
          <p:cNvSpPr/>
          <p:nvPr/>
        </p:nvSpPr>
        <p:spPr>
          <a:xfrm>
            <a:off x="347472" y="4242816"/>
            <a:ext cx="2578608" cy="402336"/>
          </a:xfrm>
          <a:prstGeom prst="rect">
            <a:avLst/>
          </a:prstGeom>
          <a:noFill/>
          <a:ln/>
        </p:spPr>
        <p:txBody>
          <a:bodyPr wrap="square" lIns="0" tIns="0" rIns="0" bIns="0" rtlCol="0" anchor="ctr"/>
          <a:lstStyle/>
          <a:p>
            <a:pPr algn="ctr" indent="0" marL="0">
              <a:buNone/>
            </a:pPr>
            <a:r>
              <a:rPr lang="en-US" sz="2800" b="1" dirty="0">
                <a:solidFill>
                  <a:srgbClr val="FFB830"/>
                </a:solidFill>
              </a:rPr>
              <a:t>&lt;4hrs</a:t>
            </a:r>
            <a:endParaRPr lang="en-US" sz="2800" dirty="0"/>
          </a:p>
        </p:txBody>
      </p:sp>
      <p:sp>
        <p:nvSpPr>
          <p:cNvPr id="37" name="Text 31"/>
          <p:cNvSpPr/>
          <p:nvPr/>
        </p:nvSpPr>
        <p:spPr>
          <a:xfrm>
            <a:off x="457200" y="4626864"/>
            <a:ext cx="2377440" cy="402336"/>
          </a:xfrm>
          <a:prstGeom prst="rect">
            <a:avLst/>
          </a:prstGeom>
          <a:noFill/>
          <a:ln/>
        </p:spPr>
        <p:txBody>
          <a:bodyPr wrap="square" lIns="0" tIns="0" rIns="0" bIns="0" rtlCol="0" anchor="ctr"/>
          <a:lstStyle/>
          <a:p>
            <a:pPr algn="ctr" indent="0" marL="0">
              <a:buNone/>
            </a:pPr>
            <a:r>
              <a:rPr lang="en-US" sz="850" dirty="0">
                <a:solidFill>
                  <a:srgbClr val="C4B8E0"/>
                </a:solidFill>
              </a:rPr>
              <a:t>API-to-production</a:t>
            </a:r>
            <a:endParaRPr lang="en-US" sz="850" dirty="0"/>
          </a:p>
          <a:p>
            <a:pPr algn="ctr" indent="0" marL="0">
              <a:buNone/>
            </a:pPr>
            <a:r>
              <a:rPr lang="en-US" sz="850" dirty="0">
                <a:solidFill>
                  <a:srgbClr val="C4B8E0"/>
                </a:solidFill>
              </a:rPr>
              <a:t>vs 2–3 weeks today</a:t>
            </a:r>
            <a:endParaRPr lang="en-US" sz="850" dirty="0"/>
          </a:p>
        </p:txBody>
      </p:sp>
      <p:sp>
        <p:nvSpPr>
          <p:cNvPr id="38" name="Shape 32"/>
          <p:cNvSpPr/>
          <p:nvPr/>
        </p:nvSpPr>
        <p:spPr>
          <a:xfrm>
            <a:off x="3145536" y="4224528"/>
            <a:ext cx="2578608" cy="896112"/>
          </a:xfrm>
          <a:prstGeom prst="rect">
            <a:avLst/>
          </a:prstGeom>
          <a:solidFill>
            <a:srgbClr val="1A1445"/>
          </a:solidFill>
          <a:ln w="12700">
            <a:solidFill>
              <a:srgbClr val="3D3066"/>
            </a:solidFill>
            <a:prstDash val="solid"/>
          </a:ln>
        </p:spPr>
      </p:sp>
      <p:sp>
        <p:nvSpPr>
          <p:cNvPr id="39" name="Text 33"/>
          <p:cNvSpPr/>
          <p:nvPr/>
        </p:nvSpPr>
        <p:spPr>
          <a:xfrm>
            <a:off x="3145536" y="4242816"/>
            <a:ext cx="2578608" cy="402336"/>
          </a:xfrm>
          <a:prstGeom prst="rect">
            <a:avLst/>
          </a:prstGeom>
          <a:noFill/>
          <a:ln/>
        </p:spPr>
        <p:txBody>
          <a:bodyPr wrap="square" lIns="0" tIns="0" rIns="0" bIns="0" rtlCol="0" anchor="ctr"/>
          <a:lstStyle/>
          <a:p>
            <a:pPr algn="ctr" indent="0" marL="0">
              <a:buNone/>
            </a:pPr>
            <a:r>
              <a:rPr lang="en-US" sz="2800" b="1" dirty="0">
                <a:solidFill>
                  <a:srgbClr val="FFB830"/>
                </a:solidFill>
              </a:rPr>
              <a:t>100%</a:t>
            </a:r>
            <a:endParaRPr lang="en-US" sz="2800" dirty="0"/>
          </a:p>
        </p:txBody>
      </p:sp>
      <p:sp>
        <p:nvSpPr>
          <p:cNvPr id="40" name="Text 34"/>
          <p:cNvSpPr/>
          <p:nvPr/>
        </p:nvSpPr>
        <p:spPr>
          <a:xfrm>
            <a:off x="3255264" y="4626864"/>
            <a:ext cx="2377440" cy="402336"/>
          </a:xfrm>
          <a:prstGeom prst="rect">
            <a:avLst/>
          </a:prstGeom>
          <a:noFill/>
          <a:ln/>
        </p:spPr>
        <p:txBody>
          <a:bodyPr wrap="square" lIns="0" tIns="0" rIns="0" bIns="0" rtlCol="0" anchor="ctr"/>
          <a:lstStyle/>
          <a:p>
            <a:pPr algn="ctr" indent="0" marL="0">
              <a:buNone/>
            </a:pPr>
            <a:r>
              <a:rPr lang="en-US" sz="850" dirty="0">
                <a:solidFill>
                  <a:srgbClr val="C4B8E0"/>
                </a:solidFill>
              </a:rPr>
              <a:t>auth &amp; rate-limit</a:t>
            </a:r>
            <a:endParaRPr lang="en-US" sz="850" dirty="0"/>
          </a:p>
          <a:p>
            <a:pPr algn="ctr" indent="0" marL="0">
              <a:buNone/>
            </a:pPr>
            <a:r>
              <a:rPr lang="en-US" sz="850" dirty="0">
                <a:solidFill>
                  <a:srgbClr val="C4B8E0"/>
                </a:solidFill>
              </a:rPr>
              <a:t>coverage from design</a:t>
            </a:r>
            <a:endParaRPr lang="en-US" sz="850" dirty="0"/>
          </a:p>
        </p:txBody>
      </p:sp>
      <p:sp>
        <p:nvSpPr>
          <p:cNvPr id="41" name="Shape 35"/>
          <p:cNvSpPr/>
          <p:nvPr/>
        </p:nvSpPr>
        <p:spPr>
          <a:xfrm>
            <a:off x="5943600" y="4224528"/>
            <a:ext cx="2578608" cy="896112"/>
          </a:xfrm>
          <a:prstGeom prst="rect">
            <a:avLst/>
          </a:prstGeom>
          <a:solidFill>
            <a:srgbClr val="1A1445"/>
          </a:solidFill>
          <a:ln w="12700">
            <a:solidFill>
              <a:srgbClr val="3D3066"/>
            </a:solidFill>
            <a:prstDash val="solid"/>
          </a:ln>
        </p:spPr>
      </p:sp>
      <p:sp>
        <p:nvSpPr>
          <p:cNvPr id="42" name="Text 36"/>
          <p:cNvSpPr/>
          <p:nvPr/>
        </p:nvSpPr>
        <p:spPr>
          <a:xfrm>
            <a:off x="5943600" y="4242816"/>
            <a:ext cx="2578608" cy="402336"/>
          </a:xfrm>
          <a:prstGeom prst="rect">
            <a:avLst/>
          </a:prstGeom>
          <a:noFill/>
          <a:ln/>
        </p:spPr>
        <p:txBody>
          <a:bodyPr wrap="square" lIns="0" tIns="0" rIns="0" bIns="0" rtlCol="0" anchor="ctr"/>
          <a:lstStyle/>
          <a:p>
            <a:pPr algn="ctr" indent="0" marL="0">
              <a:buNone/>
            </a:pPr>
            <a:r>
              <a:rPr lang="en-US" sz="2800" b="1" dirty="0">
                <a:solidFill>
                  <a:srgbClr val="FFB830"/>
                </a:solidFill>
              </a:rPr>
              <a:t>£120K</a:t>
            </a:r>
            <a:endParaRPr lang="en-US" sz="2800" dirty="0"/>
          </a:p>
        </p:txBody>
      </p:sp>
      <p:sp>
        <p:nvSpPr>
          <p:cNvPr id="43" name="Text 37"/>
          <p:cNvSpPr/>
          <p:nvPr/>
        </p:nvSpPr>
        <p:spPr>
          <a:xfrm>
            <a:off x="6053328" y="4626864"/>
            <a:ext cx="2377440" cy="402336"/>
          </a:xfrm>
          <a:prstGeom prst="rect">
            <a:avLst/>
          </a:prstGeom>
          <a:noFill/>
          <a:ln/>
        </p:spPr>
        <p:txBody>
          <a:bodyPr wrap="square" lIns="0" tIns="0" rIns="0" bIns="0" rtlCol="0" anchor="ctr"/>
          <a:lstStyle/>
          <a:p>
            <a:pPr algn="ctr" indent="0" marL="0">
              <a:buNone/>
            </a:pPr>
            <a:r>
              <a:rPr lang="en-US" sz="850" dirty="0">
                <a:solidFill>
                  <a:srgbClr val="C4B8E0"/>
                </a:solidFill>
              </a:rPr>
              <a:t>investment vs</a:t>
            </a:r>
            <a:endParaRPr lang="en-US" sz="850" dirty="0"/>
          </a:p>
          <a:p>
            <a:pPr algn="ctr" indent="0" marL="0">
              <a:buNone/>
            </a:pPr>
            <a:r>
              <a:rPr lang="en-US" sz="850" dirty="0">
                <a:solidFill>
                  <a:srgbClr val="C4B8E0"/>
                </a:solidFill>
              </a:rPr>
              <a:t>£800K+ incident risk</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B2E"/>
        </a:solidFill>
      </p:bgPr>
    </p:bg>
    <p:spTree>
      <p:nvGrpSpPr>
        <p:cNvPr id="1" name=""/>
        <p:cNvGrpSpPr/>
        <p:nvPr/>
      </p:nvGrpSpPr>
      <p:grpSpPr>
        <a:xfrm>
          <a:off x="0" y="0"/>
          <a:ext cx="0" cy="0"/>
          <a:chOff x="0" y="0"/>
          <a:chExt cx="0" cy="0"/>
        </a:xfrm>
      </p:grpSpPr>
      <p:sp>
        <p:nvSpPr>
          <p:cNvPr id="2" name="Shape 0"/>
          <p:cNvSpPr/>
          <p:nvPr/>
        </p:nvSpPr>
        <p:spPr>
          <a:xfrm>
            <a:off x="6144768" y="0"/>
            <a:ext cx="2999232" cy="5143500"/>
          </a:xfrm>
          <a:prstGeom prst="rect">
            <a:avLst/>
          </a:prstGeom>
          <a:solidFill>
            <a:srgbClr val="6B21A8">
              <a:alpha val="14000"/>
            </a:srgbClr>
          </a:solidFill>
          <a:ln w="12700">
            <a:solidFill>
              <a:srgbClr val="6B21A8">
                <a:alpha val="1000"/>
              </a:srgbClr>
            </a:solidFill>
            <a:prstDash val="solid"/>
          </a:ln>
        </p:spPr>
      </p:sp>
      <p:sp>
        <p:nvSpPr>
          <p:cNvPr id="3" name="Shape 1"/>
          <p:cNvSpPr/>
          <p:nvPr/>
        </p:nvSpPr>
        <p:spPr>
          <a:xfrm>
            <a:off x="7315200" y="0"/>
            <a:ext cx="1828800" cy="5143500"/>
          </a:xfrm>
          <a:prstGeom prst="rect">
            <a:avLst/>
          </a:prstGeom>
          <a:solidFill>
            <a:srgbClr val="6B21A8">
              <a:alpha val="18000"/>
            </a:srgbClr>
          </a:solidFill>
          <a:ln w="12700">
            <a:solidFill>
              <a:srgbClr val="6B21A8">
                <a:alpha val="1000"/>
              </a:srgbClr>
            </a:solidFill>
            <a:prstDash val="solid"/>
          </a:ln>
        </p:spPr>
      </p:sp>
      <p:sp>
        <p:nvSpPr>
          <p:cNvPr id="4" name="Shape 2"/>
          <p:cNvSpPr/>
          <p:nvPr/>
        </p:nvSpPr>
        <p:spPr>
          <a:xfrm>
            <a:off x="6126480" y="0"/>
            <a:ext cx="45720" cy="5143500"/>
          </a:xfrm>
          <a:prstGeom prst="rect">
            <a:avLst/>
          </a:prstGeom>
          <a:solidFill>
            <a:srgbClr val="C8E600"/>
          </a:solidFill>
          <a:ln w="12700">
            <a:solidFill>
              <a:srgbClr val="C8E600"/>
            </a:solidFill>
            <a:prstDash val="solid"/>
          </a:ln>
        </p:spPr>
      </p:sp>
      <p:sp>
        <p:nvSpPr>
          <p:cNvPr id="5" name="Shape 3"/>
          <p:cNvSpPr/>
          <p:nvPr/>
        </p:nvSpPr>
        <p:spPr>
          <a:xfrm>
            <a:off x="0" y="4956048"/>
            <a:ext cx="9144000" cy="187452"/>
          </a:xfrm>
          <a:prstGeom prst="rect">
            <a:avLst/>
          </a:prstGeom>
          <a:solidFill>
            <a:srgbClr val="6B21A8"/>
          </a:solidFill>
          <a:ln w="12700">
            <a:solidFill>
              <a:srgbClr val="6B21A8"/>
            </a:solidFill>
            <a:prstDash val="solid"/>
          </a:ln>
        </p:spPr>
      </p:sp>
      <p:sp>
        <p:nvSpPr>
          <p:cNvPr id="6" name="Shape 4"/>
          <p:cNvSpPr/>
          <p:nvPr/>
        </p:nvSpPr>
        <p:spPr>
          <a:xfrm>
            <a:off x="0" y="4956048"/>
            <a:ext cx="9144000" cy="36576"/>
          </a:xfrm>
          <a:prstGeom prst="rect">
            <a:avLst/>
          </a:prstGeom>
          <a:solidFill>
            <a:srgbClr val="C8E600"/>
          </a:solidFill>
          <a:ln w="12700">
            <a:solidFill>
              <a:srgbClr val="C8E600"/>
            </a:solidFill>
            <a:prstDash val="solid"/>
          </a:ln>
        </p:spPr>
      </p:sp>
      <p:sp>
        <p:nvSpPr>
          <p:cNvPr id="7" name="Shape 5"/>
          <p:cNvSpPr/>
          <p:nvPr/>
        </p:nvSpPr>
        <p:spPr>
          <a:xfrm>
            <a:off x="347472" y="201168"/>
            <a:ext cx="438912" cy="438912"/>
          </a:xfrm>
          <a:prstGeom prst="rect">
            <a:avLst/>
          </a:prstGeom>
          <a:solidFill>
            <a:srgbClr val="6B21A8"/>
          </a:solidFill>
          <a:ln w="12700">
            <a:solidFill>
              <a:srgbClr val="6B21A8"/>
            </a:solidFill>
            <a:prstDash val="solid"/>
          </a:ln>
        </p:spPr>
      </p:sp>
      <p:sp>
        <p:nvSpPr>
          <p:cNvPr id="8" name="Text 6"/>
          <p:cNvSpPr/>
          <p:nvPr/>
        </p:nvSpPr>
        <p:spPr>
          <a:xfrm>
            <a:off x="347472" y="201168"/>
            <a:ext cx="438912" cy="438912"/>
          </a:xfrm>
          <a:prstGeom prst="rect">
            <a:avLst/>
          </a:prstGeom>
          <a:noFill/>
          <a:ln/>
        </p:spPr>
        <p:txBody>
          <a:bodyPr wrap="square" lIns="0" tIns="0" rIns="0" bIns="0" rtlCol="0" anchor="ctr"/>
          <a:lstStyle/>
          <a:p>
            <a:pPr algn="ctr" indent="0" marL="0">
              <a:buNone/>
            </a:pPr>
            <a:r>
              <a:rPr lang="en-US" sz="1700" b="1" dirty="0">
                <a:solidFill>
                  <a:srgbClr val="C8E600"/>
                </a:solidFill>
              </a:rPr>
              <a:t>P</a:t>
            </a:r>
            <a:endParaRPr lang="en-US" sz="1700" dirty="0"/>
          </a:p>
        </p:txBody>
      </p:sp>
      <p:sp>
        <p:nvSpPr>
          <p:cNvPr id="9" name="Text 7"/>
          <p:cNvSpPr/>
          <p:nvPr/>
        </p:nvSpPr>
        <p:spPr>
          <a:xfrm>
            <a:off x="841248" y="237744"/>
            <a:ext cx="1188720" cy="201168"/>
          </a:xfrm>
          <a:prstGeom prst="rect">
            <a:avLst/>
          </a:prstGeom>
          <a:noFill/>
          <a:ln/>
        </p:spPr>
        <p:txBody>
          <a:bodyPr wrap="square" lIns="0" tIns="0" rIns="0" bIns="0" rtlCol="0" anchor="ctr"/>
          <a:lstStyle/>
          <a:p>
            <a:pPr indent="0" marL="0">
              <a:buNone/>
            </a:pPr>
            <a:r>
              <a:rPr lang="en-US" sz="900" b="1" spc="300" kern="0" dirty="0">
                <a:solidFill>
                  <a:srgbClr val="FFFFFF"/>
                </a:solidFill>
              </a:rPr>
              <a:t>PAYSAFE</a:t>
            </a:r>
            <a:endParaRPr lang="en-US" sz="900" dirty="0"/>
          </a:p>
        </p:txBody>
      </p:sp>
      <p:sp>
        <p:nvSpPr>
          <p:cNvPr id="10" name="Text 8"/>
          <p:cNvSpPr/>
          <p:nvPr/>
        </p:nvSpPr>
        <p:spPr>
          <a:xfrm>
            <a:off x="841248" y="438912"/>
            <a:ext cx="1188720" cy="164592"/>
          </a:xfrm>
          <a:prstGeom prst="rect">
            <a:avLst/>
          </a:prstGeom>
          <a:noFill/>
          <a:ln/>
        </p:spPr>
        <p:txBody>
          <a:bodyPr wrap="square" lIns="0" tIns="0" rIns="0" bIns="0" rtlCol="0" anchor="ctr"/>
          <a:lstStyle/>
          <a:p>
            <a:pPr indent="0" marL="0">
              <a:buNone/>
            </a:pPr>
            <a:r>
              <a:rPr lang="en-US" sz="650" spc="200" kern="0" dirty="0">
                <a:solidFill>
                  <a:srgbClr val="C4B8E0"/>
                </a:solidFill>
              </a:rPr>
              <a:t>ENGINEERING</a:t>
            </a:r>
            <a:endParaRPr lang="en-US" sz="650" dirty="0"/>
          </a:p>
        </p:txBody>
      </p:sp>
      <p:sp>
        <p:nvSpPr>
          <p:cNvPr id="11" name="Shape 9"/>
          <p:cNvSpPr/>
          <p:nvPr/>
        </p:nvSpPr>
        <p:spPr>
          <a:xfrm>
            <a:off x="2286000" y="228600"/>
            <a:ext cx="1645920" cy="292608"/>
          </a:xfrm>
          <a:prstGeom prst="rect">
            <a:avLst/>
          </a:prstGeom>
          <a:solidFill>
            <a:srgbClr val="C8E600"/>
          </a:solidFill>
          <a:ln w="12700">
            <a:solidFill>
              <a:srgbClr val="C8E600"/>
            </a:solidFill>
            <a:prstDash val="solid"/>
          </a:ln>
        </p:spPr>
      </p:sp>
      <p:sp>
        <p:nvSpPr>
          <p:cNvPr id="12" name="Text 10"/>
          <p:cNvSpPr/>
          <p:nvPr/>
        </p:nvSpPr>
        <p:spPr>
          <a:xfrm>
            <a:off x="2286000" y="228600"/>
            <a:ext cx="1645920" cy="292608"/>
          </a:xfrm>
          <a:prstGeom prst="rect">
            <a:avLst/>
          </a:prstGeom>
          <a:noFill/>
          <a:ln/>
        </p:spPr>
        <p:txBody>
          <a:bodyPr wrap="square" lIns="0" tIns="0" rIns="0" bIns="0" rtlCol="0" anchor="ctr"/>
          <a:lstStyle/>
          <a:p>
            <a:pPr algn="ctr" indent="0" marL="0">
              <a:buNone/>
            </a:pPr>
            <a:r>
              <a:rPr lang="en-US" sz="800" b="1" dirty="0">
                <a:solidFill>
                  <a:srgbClr val="0E0B2E"/>
                </a:solidFill>
              </a:rPr>
              <a:t>VALUE DELIVERED</a:t>
            </a:r>
            <a:endParaRPr lang="en-US" sz="800" dirty="0"/>
          </a:p>
        </p:txBody>
      </p:sp>
      <p:sp>
        <p:nvSpPr>
          <p:cNvPr id="13" name="Text 11"/>
          <p:cNvSpPr/>
          <p:nvPr/>
        </p:nvSpPr>
        <p:spPr>
          <a:xfrm>
            <a:off x="347472" y="658368"/>
            <a:ext cx="5669280" cy="694944"/>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Why Left-Shift Wins.</a:t>
            </a:r>
            <a:endParaRPr lang="en-US" sz="4400" dirty="0"/>
          </a:p>
        </p:txBody>
      </p:sp>
      <p:sp>
        <p:nvSpPr>
          <p:cNvPr id="14" name="Shape 12"/>
          <p:cNvSpPr/>
          <p:nvPr/>
        </p:nvSpPr>
        <p:spPr>
          <a:xfrm>
            <a:off x="347472" y="1316736"/>
            <a:ext cx="2194560" cy="54864"/>
          </a:xfrm>
          <a:prstGeom prst="rect">
            <a:avLst/>
          </a:prstGeom>
          <a:solidFill>
            <a:srgbClr val="C8E600"/>
          </a:solidFill>
          <a:ln w="12700">
            <a:solidFill>
              <a:srgbClr val="C8E600"/>
            </a:solidFill>
            <a:prstDash val="solid"/>
          </a:ln>
        </p:spPr>
      </p:sp>
      <p:sp>
        <p:nvSpPr>
          <p:cNvPr id="15" name="Text 13"/>
          <p:cNvSpPr/>
          <p:nvPr/>
        </p:nvSpPr>
        <p:spPr>
          <a:xfrm>
            <a:off x="347472" y="1426464"/>
            <a:ext cx="5669280" cy="310896"/>
          </a:xfrm>
          <a:prstGeom prst="rect">
            <a:avLst/>
          </a:prstGeom>
          <a:noFill/>
          <a:ln/>
        </p:spPr>
        <p:txBody>
          <a:bodyPr wrap="square" lIns="0" tIns="0" rIns="0" bIns="0" rtlCol="0" anchor="ctr"/>
          <a:lstStyle/>
          <a:p>
            <a:pPr indent="0" marL="0">
              <a:buNone/>
            </a:pPr>
            <a:r>
              <a:rPr lang="en-US" sz="1200" i="1" dirty="0">
                <a:solidFill>
                  <a:srgbClr val="C4B8E0"/>
                </a:solidFill>
              </a:rPr>
              <a:t>Three programmes. All designed in. Zero retrofitting.</a:t>
            </a:r>
            <a:endParaRPr lang="en-US" sz="1200" dirty="0"/>
          </a:p>
        </p:txBody>
      </p:sp>
      <p:sp>
        <p:nvSpPr>
          <p:cNvPr id="16" name="Shape 14"/>
          <p:cNvSpPr/>
          <p:nvPr/>
        </p:nvSpPr>
        <p:spPr>
          <a:xfrm>
            <a:off x="347472" y="1865376"/>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17" name="Shape 15"/>
          <p:cNvSpPr/>
          <p:nvPr/>
        </p:nvSpPr>
        <p:spPr>
          <a:xfrm>
            <a:off x="347472" y="1865376"/>
            <a:ext cx="54864" cy="822960"/>
          </a:xfrm>
          <a:prstGeom prst="rect">
            <a:avLst/>
          </a:prstGeom>
          <a:solidFill>
            <a:srgbClr val="C8E600"/>
          </a:solidFill>
          <a:ln w="12700">
            <a:solidFill>
              <a:srgbClr val="C8E600"/>
            </a:solidFill>
            <a:prstDash val="solid"/>
          </a:ln>
        </p:spPr>
      </p:sp>
      <p:pic>
        <p:nvPicPr>
          <p:cNvPr id="18" name="Image 0" descr="preencoded.png">    </p:cNvPr>
          <p:cNvPicPr>
            <a:picLocks noChangeAspect="1"/>
          </p:cNvPicPr>
          <p:nvPr/>
        </p:nvPicPr>
        <p:blipFill>
          <a:blip r:embed="rId1"/>
          <a:stretch>
            <a:fillRect/>
          </a:stretch>
        </p:blipFill>
        <p:spPr>
          <a:xfrm>
            <a:off x="475488" y="2066544"/>
            <a:ext cx="292608" cy="292608"/>
          </a:xfrm>
          <a:prstGeom prst="rect">
            <a:avLst/>
          </a:prstGeom>
        </p:spPr>
      </p:pic>
      <p:sp>
        <p:nvSpPr>
          <p:cNvPr id="19" name="Text 16"/>
          <p:cNvSpPr/>
          <p:nvPr/>
        </p:nvSpPr>
        <p:spPr>
          <a:xfrm>
            <a:off x="877824" y="1901952"/>
            <a:ext cx="1188720" cy="475488"/>
          </a:xfrm>
          <a:prstGeom prst="rect">
            <a:avLst/>
          </a:prstGeom>
          <a:noFill/>
          <a:ln/>
        </p:spPr>
        <p:txBody>
          <a:bodyPr wrap="square" lIns="0" tIns="0" rIns="0" bIns="0" rtlCol="0" anchor="ctr"/>
          <a:lstStyle/>
          <a:p>
            <a:pPr indent="0" marL="0">
              <a:buNone/>
            </a:pPr>
            <a:r>
              <a:rPr lang="en-US" sz="3000" b="1" dirty="0">
                <a:solidFill>
                  <a:srgbClr val="C8E600"/>
                </a:solidFill>
              </a:rPr>
              <a:t>62%</a:t>
            </a:r>
            <a:endParaRPr lang="en-US" sz="3000" dirty="0"/>
          </a:p>
        </p:txBody>
      </p:sp>
      <p:sp>
        <p:nvSpPr>
          <p:cNvPr id="20" name="Text 17"/>
          <p:cNvSpPr/>
          <p:nvPr/>
        </p:nvSpPr>
        <p:spPr>
          <a:xfrm>
            <a:off x="877824" y="2340864"/>
            <a:ext cx="1463040" cy="310896"/>
          </a:xfrm>
          <a:prstGeom prst="rect">
            <a:avLst/>
          </a:prstGeom>
          <a:noFill/>
          <a:ln/>
        </p:spPr>
        <p:txBody>
          <a:bodyPr wrap="square" lIns="0" tIns="0" rIns="0" bIns="0" rtlCol="0" anchor="ctr"/>
          <a:lstStyle/>
          <a:p>
            <a:pPr indent="0" marL="0">
              <a:buNone/>
            </a:pPr>
            <a:r>
              <a:rPr lang="en-US" sz="900" dirty="0">
                <a:solidFill>
                  <a:srgbClr val="C4B8E0"/>
                </a:solidFill>
              </a:rPr>
              <a:t>Security rework</a:t>
            </a:r>
            <a:endParaRPr lang="en-US" sz="900" dirty="0"/>
          </a:p>
          <a:p>
            <a:pPr indent="0" marL="0">
              <a:buNone/>
            </a:pPr>
            <a:r>
              <a:rPr lang="en-US" sz="900" dirty="0">
                <a:solidFill>
                  <a:srgbClr val="C4B8E0"/>
                </a:solidFill>
              </a:rPr>
              <a:t>reduced</a:t>
            </a:r>
            <a:endParaRPr lang="en-US" sz="900" dirty="0"/>
          </a:p>
        </p:txBody>
      </p:sp>
      <p:sp>
        <p:nvSpPr>
          <p:cNvPr id="21" name="Shape 18"/>
          <p:cNvSpPr/>
          <p:nvPr/>
        </p:nvSpPr>
        <p:spPr>
          <a:xfrm>
            <a:off x="2377440" y="2432304"/>
            <a:ext cx="566928" cy="182880"/>
          </a:xfrm>
          <a:prstGeom prst="rect">
            <a:avLst/>
          </a:prstGeom>
          <a:solidFill>
            <a:srgbClr val="C8E600">
              <a:alpha val="20000"/>
            </a:srgbClr>
          </a:solidFill>
          <a:ln w="12700">
            <a:solidFill>
              <a:srgbClr val="C8E600"/>
            </a:solidFill>
            <a:prstDash val="solid"/>
          </a:ln>
        </p:spPr>
      </p:sp>
      <p:sp>
        <p:nvSpPr>
          <p:cNvPr id="22" name="Text 19"/>
          <p:cNvSpPr/>
          <p:nvPr/>
        </p:nvSpPr>
        <p:spPr>
          <a:xfrm>
            <a:off x="2377440" y="2432304"/>
            <a:ext cx="566928" cy="182880"/>
          </a:xfrm>
          <a:prstGeom prst="rect">
            <a:avLst/>
          </a:prstGeom>
          <a:noFill/>
          <a:ln/>
        </p:spPr>
        <p:txBody>
          <a:bodyPr wrap="square" lIns="0" tIns="0" rIns="0" bIns="0" rtlCol="0" anchor="ctr"/>
          <a:lstStyle/>
          <a:p>
            <a:pPr algn="ctr" indent="0" marL="0">
              <a:buNone/>
            </a:pPr>
            <a:r>
              <a:rPr lang="en-US" sz="650" b="1" dirty="0">
                <a:solidFill>
                  <a:srgbClr val="C8E600"/>
                </a:solidFill>
              </a:rPr>
              <a:t>Threat</a:t>
            </a:r>
            <a:endParaRPr lang="en-US" sz="650" dirty="0"/>
          </a:p>
        </p:txBody>
      </p:sp>
      <p:sp>
        <p:nvSpPr>
          <p:cNvPr id="23" name="Shape 20"/>
          <p:cNvSpPr/>
          <p:nvPr/>
        </p:nvSpPr>
        <p:spPr>
          <a:xfrm>
            <a:off x="3200400" y="1865376"/>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24" name="Shape 21"/>
          <p:cNvSpPr/>
          <p:nvPr/>
        </p:nvSpPr>
        <p:spPr>
          <a:xfrm>
            <a:off x="3200400" y="1865376"/>
            <a:ext cx="54864" cy="822960"/>
          </a:xfrm>
          <a:prstGeom prst="rect">
            <a:avLst/>
          </a:prstGeom>
          <a:solidFill>
            <a:srgbClr val="FF4D6D"/>
          </a:solidFill>
          <a:ln w="12700">
            <a:solidFill>
              <a:srgbClr val="FF4D6D"/>
            </a:solidFill>
            <a:prstDash val="solid"/>
          </a:ln>
        </p:spPr>
      </p:sp>
      <p:pic>
        <p:nvPicPr>
          <p:cNvPr id="25" name="Image 1" descr="preencoded.png">    </p:cNvPr>
          <p:cNvPicPr>
            <a:picLocks noChangeAspect="1"/>
          </p:cNvPicPr>
          <p:nvPr/>
        </p:nvPicPr>
        <p:blipFill>
          <a:blip r:embed="rId2"/>
          <a:stretch>
            <a:fillRect/>
          </a:stretch>
        </p:blipFill>
        <p:spPr>
          <a:xfrm>
            <a:off x="3328416" y="2066544"/>
            <a:ext cx="292608" cy="292608"/>
          </a:xfrm>
          <a:prstGeom prst="rect">
            <a:avLst/>
          </a:prstGeom>
        </p:spPr>
      </p:pic>
      <p:sp>
        <p:nvSpPr>
          <p:cNvPr id="26" name="Text 22"/>
          <p:cNvSpPr/>
          <p:nvPr/>
        </p:nvSpPr>
        <p:spPr>
          <a:xfrm>
            <a:off x="3730752" y="1901952"/>
            <a:ext cx="1188720" cy="475488"/>
          </a:xfrm>
          <a:prstGeom prst="rect">
            <a:avLst/>
          </a:prstGeom>
          <a:noFill/>
          <a:ln/>
        </p:spPr>
        <p:txBody>
          <a:bodyPr wrap="square" lIns="0" tIns="0" rIns="0" bIns="0" rtlCol="0" anchor="ctr"/>
          <a:lstStyle/>
          <a:p>
            <a:pPr indent="0" marL="0">
              <a:buNone/>
            </a:pPr>
            <a:r>
              <a:rPr lang="en-US" sz="3000" b="1" dirty="0">
                <a:solidFill>
                  <a:srgbClr val="FF4D6D"/>
                </a:solidFill>
              </a:rPr>
              <a:t>×1000</a:t>
            </a:r>
            <a:endParaRPr lang="en-US" sz="3000" dirty="0"/>
          </a:p>
        </p:txBody>
      </p:sp>
      <p:sp>
        <p:nvSpPr>
          <p:cNvPr id="27" name="Text 23"/>
          <p:cNvSpPr/>
          <p:nvPr/>
        </p:nvSpPr>
        <p:spPr>
          <a:xfrm>
            <a:off x="3730752" y="2340864"/>
            <a:ext cx="1463040" cy="310896"/>
          </a:xfrm>
          <a:prstGeom prst="rect">
            <a:avLst/>
          </a:prstGeom>
          <a:noFill/>
          <a:ln/>
        </p:spPr>
        <p:txBody>
          <a:bodyPr wrap="square" lIns="0" tIns="0" rIns="0" bIns="0" rtlCol="0" anchor="ctr"/>
          <a:lstStyle/>
          <a:p>
            <a:pPr indent="0" marL="0">
              <a:buNone/>
            </a:pPr>
            <a:r>
              <a:rPr lang="en-US" sz="900" dirty="0">
                <a:solidFill>
                  <a:srgbClr val="C4B8E0"/>
                </a:solidFill>
              </a:rPr>
              <a:t>Incident cost vs</a:t>
            </a:r>
            <a:endParaRPr lang="en-US" sz="900" dirty="0"/>
          </a:p>
          <a:p>
            <a:pPr indent="0" marL="0">
              <a:buNone/>
            </a:pPr>
            <a:r>
              <a:rPr lang="en-US" sz="900" dirty="0">
                <a:solidFill>
                  <a:srgbClr val="C4B8E0"/>
                </a:solidFill>
              </a:rPr>
              <a:t>Design-stage fix</a:t>
            </a:r>
            <a:endParaRPr lang="en-US" sz="900" dirty="0"/>
          </a:p>
        </p:txBody>
      </p:sp>
      <p:sp>
        <p:nvSpPr>
          <p:cNvPr id="28" name="Shape 24"/>
          <p:cNvSpPr/>
          <p:nvPr/>
        </p:nvSpPr>
        <p:spPr>
          <a:xfrm>
            <a:off x="5230368" y="2432304"/>
            <a:ext cx="566928" cy="182880"/>
          </a:xfrm>
          <a:prstGeom prst="rect">
            <a:avLst/>
          </a:prstGeom>
          <a:solidFill>
            <a:srgbClr val="FF4D6D">
              <a:alpha val="20000"/>
            </a:srgbClr>
          </a:solidFill>
          <a:ln w="12700">
            <a:solidFill>
              <a:srgbClr val="FF4D6D"/>
            </a:solidFill>
            <a:prstDash val="solid"/>
          </a:ln>
        </p:spPr>
      </p:sp>
      <p:sp>
        <p:nvSpPr>
          <p:cNvPr id="29" name="Text 25"/>
          <p:cNvSpPr/>
          <p:nvPr/>
        </p:nvSpPr>
        <p:spPr>
          <a:xfrm>
            <a:off x="5230368" y="2432304"/>
            <a:ext cx="566928" cy="182880"/>
          </a:xfrm>
          <a:prstGeom prst="rect">
            <a:avLst/>
          </a:prstGeom>
          <a:noFill/>
          <a:ln/>
        </p:spPr>
        <p:txBody>
          <a:bodyPr wrap="square" lIns="0" tIns="0" rIns="0" bIns="0" rtlCol="0" anchor="ctr"/>
          <a:lstStyle/>
          <a:p>
            <a:pPr algn="ctr" indent="0" marL="0">
              <a:buNone/>
            </a:pPr>
            <a:r>
              <a:rPr lang="en-US" sz="650" b="1" dirty="0">
                <a:solidFill>
                  <a:srgbClr val="FF4D6D"/>
                </a:solidFill>
              </a:rPr>
              <a:t>IBM</a:t>
            </a:r>
            <a:endParaRPr lang="en-US" sz="650" dirty="0"/>
          </a:p>
        </p:txBody>
      </p:sp>
      <p:sp>
        <p:nvSpPr>
          <p:cNvPr id="30" name="Shape 26"/>
          <p:cNvSpPr/>
          <p:nvPr/>
        </p:nvSpPr>
        <p:spPr>
          <a:xfrm>
            <a:off x="347472" y="2816352"/>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31" name="Shape 27"/>
          <p:cNvSpPr/>
          <p:nvPr/>
        </p:nvSpPr>
        <p:spPr>
          <a:xfrm>
            <a:off x="347472" y="2816352"/>
            <a:ext cx="54864" cy="822960"/>
          </a:xfrm>
          <a:prstGeom prst="rect">
            <a:avLst/>
          </a:prstGeom>
          <a:solidFill>
            <a:srgbClr val="9D5CFF"/>
          </a:solidFill>
          <a:ln w="12700">
            <a:solidFill>
              <a:srgbClr val="9D5CFF"/>
            </a:solidFill>
            <a:prstDash val="solid"/>
          </a:ln>
        </p:spPr>
      </p:sp>
      <p:pic>
        <p:nvPicPr>
          <p:cNvPr id="32" name="Image 2" descr="preencoded.png">    </p:cNvPr>
          <p:cNvPicPr>
            <a:picLocks noChangeAspect="1"/>
          </p:cNvPicPr>
          <p:nvPr/>
        </p:nvPicPr>
        <p:blipFill>
          <a:blip r:embed="rId3"/>
          <a:stretch>
            <a:fillRect/>
          </a:stretch>
        </p:blipFill>
        <p:spPr>
          <a:xfrm>
            <a:off x="475488" y="3017520"/>
            <a:ext cx="292608" cy="292608"/>
          </a:xfrm>
          <a:prstGeom prst="rect">
            <a:avLst/>
          </a:prstGeom>
        </p:spPr>
      </p:pic>
      <p:sp>
        <p:nvSpPr>
          <p:cNvPr id="33" name="Text 28"/>
          <p:cNvSpPr/>
          <p:nvPr/>
        </p:nvSpPr>
        <p:spPr>
          <a:xfrm>
            <a:off x="877824" y="2852928"/>
            <a:ext cx="1188720" cy="475488"/>
          </a:xfrm>
          <a:prstGeom prst="rect">
            <a:avLst/>
          </a:prstGeom>
          <a:noFill/>
          <a:ln/>
        </p:spPr>
        <p:txBody>
          <a:bodyPr wrap="square" lIns="0" tIns="0" rIns="0" bIns="0" rtlCol="0" anchor="ctr"/>
          <a:lstStyle/>
          <a:p>
            <a:pPr indent="0" marL="0">
              <a:buNone/>
            </a:pPr>
            <a:r>
              <a:rPr lang="en-US" sz="3000" b="1" dirty="0">
                <a:solidFill>
                  <a:srgbClr val="9D5CFF"/>
                </a:solidFill>
              </a:rPr>
              <a:t>40%</a:t>
            </a:r>
            <a:endParaRPr lang="en-US" sz="3000" dirty="0"/>
          </a:p>
        </p:txBody>
      </p:sp>
      <p:sp>
        <p:nvSpPr>
          <p:cNvPr id="34" name="Text 29"/>
          <p:cNvSpPr/>
          <p:nvPr/>
        </p:nvSpPr>
        <p:spPr>
          <a:xfrm>
            <a:off x="877824" y="3291840"/>
            <a:ext cx="1463040" cy="310896"/>
          </a:xfrm>
          <a:prstGeom prst="rect">
            <a:avLst/>
          </a:prstGeom>
          <a:noFill/>
          <a:ln/>
        </p:spPr>
        <p:txBody>
          <a:bodyPr wrap="square" lIns="0" tIns="0" rIns="0" bIns="0" rtlCol="0" anchor="ctr"/>
          <a:lstStyle/>
          <a:p>
            <a:pPr indent="0" marL="0">
              <a:buNone/>
            </a:pPr>
            <a:r>
              <a:rPr lang="en-US" sz="900" dirty="0">
                <a:solidFill>
                  <a:srgbClr val="C4B8E0"/>
                </a:solidFill>
              </a:rPr>
              <a:t>MTTR</a:t>
            </a:r>
            <a:endParaRPr lang="en-US" sz="900" dirty="0"/>
          </a:p>
          <a:p>
            <a:pPr indent="0" marL="0">
              <a:buNone/>
            </a:pPr>
            <a:r>
              <a:rPr lang="en-US" sz="900" dirty="0">
                <a:solidFill>
                  <a:srgbClr val="C4B8E0"/>
                </a:solidFill>
              </a:rPr>
              <a:t>reduction</a:t>
            </a:r>
            <a:endParaRPr lang="en-US" sz="900" dirty="0"/>
          </a:p>
        </p:txBody>
      </p:sp>
      <p:sp>
        <p:nvSpPr>
          <p:cNvPr id="35" name="Shape 30"/>
          <p:cNvSpPr/>
          <p:nvPr/>
        </p:nvSpPr>
        <p:spPr>
          <a:xfrm>
            <a:off x="2377440" y="3383280"/>
            <a:ext cx="566928" cy="182880"/>
          </a:xfrm>
          <a:prstGeom prst="rect">
            <a:avLst/>
          </a:prstGeom>
          <a:solidFill>
            <a:srgbClr val="9D5CFF">
              <a:alpha val="20000"/>
            </a:srgbClr>
          </a:solidFill>
          <a:ln w="12700">
            <a:solidFill>
              <a:srgbClr val="9D5CFF"/>
            </a:solidFill>
            <a:prstDash val="solid"/>
          </a:ln>
        </p:spPr>
      </p:sp>
      <p:sp>
        <p:nvSpPr>
          <p:cNvPr id="36" name="Text 31"/>
          <p:cNvSpPr/>
          <p:nvPr/>
        </p:nvSpPr>
        <p:spPr>
          <a:xfrm>
            <a:off x="2377440" y="3383280"/>
            <a:ext cx="566928" cy="182880"/>
          </a:xfrm>
          <a:prstGeom prst="rect">
            <a:avLst/>
          </a:prstGeom>
          <a:noFill/>
          <a:ln/>
        </p:spPr>
        <p:txBody>
          <a:bodyPr wrap="square" lIns="0" tIns="0" rIns="0" bIns="0" rtlCol="0" anchor="ctr"/>
          <a:lstStyle/>
          <a:p>
            <a:pPr algn="ctr" indent="0" marL="0">
              <a:buNone/>
            </a:pPr>
            <a:r>
              <a:rPr lang="en-US" sz="650" b="1" dirty="0">
                <a:solidFill>
                  <a:srgbClr val="9D5CFF"/>
                </a:solidFill>
              </a:rPr>
              <a:t>Chaos</a:t>
            </a:r>
            <a:endParaRPr lang="en-US" sz="650" dirty="0"/>
          </a:p>
        </p:txBody>
      </p:sp>
      <p:sp>
        <p:nvSpPr>
          <p:cNvPr id="37" name="Shape 32"/>
          <p:cNvSpPr/>
          <p:nvPr/>
        </p:nvSpPr>
        <p:spPr>
          <a:xfrm>
            <a:off x="3200400" y="2816352"/>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38" name="Shape 33"/>
          <p:cNvSpPr/>
          <p:nvPr/>
        </p:nvSpPr>
        <p:spPr>
          <a:xfrm>
            <a:off x="3200400" y="2816352"/>
            <a:ext cx="54864" cy="822960"/>
          </a:xfrm>
          <a:prstGeom prst="rect">
            <a:avLst/>
          </a:prstGeom>
          <a:solidFill>
            <a:srgbClr val="9D5CFF"/>
          </a:solidFill>
          <a:ln w="12700">
            <a:solidFill>
              <a:srgbClr val="9D5CFF"/>
            </a:solidFill>
            <a:prstDash val="solid"/>
          </a:ln>
        </p:spPr>
      </p:sp>
      <p:pic>
        <p:nvPicPr>
          <p:cNvPr id="39" name="Image 3" descr="preencoded.png">    </p:cNvPr>
          <p:cNvPicPr>
            <a:picLocks noChangeAspect="1"/>
          </p:cNvPicPr>
          <p:nvPr/>
        </p:nvPicPr>
        <p:blipFill>
          <a:blip r:embed="rId4"/>
          <a:stretch>
            <a:fillRect/>
          </a:stretch>
        </p:blipFill>
        <p:spPr>
          <a:xfrm>
            <a:off x="3328416" y="3017520"/>
            <a:ext cx="292608" cy="292608"/>
          </a:xfrm>
          <a:prstGeom prst="rect">
            <a:avLst/>
          </a:prstGeom>
        </p:spPr>
      </p:pic>
      <p:sp>
        <p:nvSpPr>
          <p:cNvPr id="40" name="Text 34"/>
          <p:cNvSpPr/>
          <p:nvPr/>
        </p:nvSpPr>
        <p:spPr>
          <a:xfrm>
            <a:off x="3730752" y="2852928"/>
            <a:ext cx="1188720" cy="475488"/>
          </a:xfrm>
          <a:prstGeom prst="rect">
            <a:avLst/>
          </a:prstGeom>
          <a:noFill/>
          <a:ln/>
        </p:spPr>
        <p:txBody>
          <a:bodyPr wrap="square" lIns="0" tIns="0" rIns="0" bIns="0" rtlCol="0" anchor="ctr"/>
          <a:lstStyle/>
          <a:p>
            <a:pPr indent="0" marL="0">
              <a:buNone/>
            </a:pPr>
            <a:r>
              <a:rPr lang="en-US" sz="3000" b="1" dirty="0">
                <a:solidFill>
                  <a:srgbClr val="9D5CFF"/>
                </a:solidFill>
              </a:rPr>
              <a:t>90%+</a:t>
            </a:r>
            <a:endParaRPr lang="en-US" sz="3000" dirty="0"/>
          </a:p>
        </p:txBody>
      </p:sp>
      <p:sp>
        <p:nvSpPr>
          <p:cNvPr id="41" name="Text 35"/>
          <p:cNvSpPr/>
          <p:nvPr/>
        </p:nvSpPr>
        <p:spPr>
          <a:xfrm>
            <a:off x="3730752" y="3291840"/>
            <a:ext cx="1463040" cy="310896"/>
          </a:xfrm>
          <a:prstGeom prst="rect">
            <a:avLst/>
          </a:prstGeom>
          <a:noFill/>
          <a:ln/>
        </p:spPr>
        <p:txBody>
          <a:bodyPr wrap="square" lIns="0" tIns="0" rIns="0" bIns="0" rtlCol="0" anchor="ctr"/>
          <a:lstStyle/>
          <a:p>
            <a:pPr indent="0" marL="0">
              <a:buNone/>
            </a:pPr>
            <a:r>
              <a:rPr lang="en-US" sz="900" dirty="0">
                <a:solidFill>
                  <a:srgbClr val="C4B8E0"/>
                </a:solidFill>
              </a:rPr>
              <a:t>Runbook</a:t>
            </a:r>
            <a:endParaRPr lang="en-US" sz="900" dirty="0"/>
          </a:p>
          <a:p>
            <a:pPr indent="0" marL="0">
              <a:buNone/>
            </a:pPr>
            <a:r>
              <a:rPr lang="en-US" sz="900" dirty="0">
                <a:solidFill>
                  <a:srgbClr val="C4B8E0"/>
                </a:solidFill>
              </a:rPr>
              <a:t>coverage</a:t>
            </a:r>
            <a:endParaRPr lang="en-US" sz="900" dirty="0"/>
          </a:p>
        </p:txBody>
      </p:sp>
      <p:sp>
        <p:nvSpPr>
          <p:cNvPr id="42" name="Shape 36"/>
          <p:cNvSpPr/>
          <p:nvPr/>
        </p:nvSpPr>
        <p:spPr>
          <a:xfrm>
            <a:off x="5230368" y="3383280"/>
            <a:ext cx="566928" cy="182880"/>
          </a:xfrm>
          <a:prstGeom prst="rect">
            <a:avLst/>
          </a:prstGeom>
          <a:solidFill>
            <a:srgbClr val="9D5CFF">
              <a:alpha val="20000"/>
            </a:srgbClr>
          </a:solidFill>
          <a:ln w="12700">
            <a:solidFill>
              <a:srgbClr val="9D5CFF"/>
            </a:solidFill>
            <a:prstDash val="solid"/>
          </a:ln>
        </p:spPr>
      </p:sp>
      <p:sp>
        <p:nvSpPr>
          <p:cNvPr id="43" name="Text 37"/>
          <p:cNvSpPr/>
          <p:nvPr/>
        </p:nvSpPr>
        <p:spPr>
          <a:xfrm>
            <a:off x="5230368" y="3383280"/>
            <a:ext cx="566928" cy="182880"/>
          </a:xfrm>
          <a:prstGeom prst="rect">
            <a:avLst/>
          </a:prstGeom>
          <a:noFill/>
          <a:ln/>
        </p:spPr>
        <p:txBody>
          <a:bodyPr wrap="square" lIns="0" tIns="0" rIns="0" bIns="0" rtlCol="0" anchor="ctr"/>
          <a:lstStyle/>
          <a:p>
            <a:pPr algn="ctr" indent="0" marL="0">
              <a:buNone/>
            </a:pPr>
            <a:r>
              <a:rPr lang="en-US" sz="650" b="1" dirty="0">
                <a:solidFill>
                  <a:srgbClr val="9D5CFF"/>
                </a:solidFill>
              </a:rPr>
              <a:t>Chaos</a:t>
            </a:r>
            <a:endParaRPr lang="en-US" sz="650" dirty="0"/>
          </a:p>
        </p:txBody>
      </p:sp>
      <p:sp>
        <p:nvSpPr>
          <p:cNvPr id="44" name="Shape 38"/>
          <p:cNvSpPr/>
          <p:nvPr/>
        </p:nvSpPr>
        <p:spPr>
          <a:xfrm>
            <a:off x="347472" y="3767328"/>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45" name="Shape 39"/>
          <p:cNvSpPr/>
          <p:nvPr/>
        </p:nvSpPr>
        <p:spPr>
          <a:xfrm>
            <a:off x="347472" y="3767328"/>
            <a:ext cx="54864" cy="822960"/>
          </a:xfrm>
          <a:prstGeom prst="rect">
            <a:avLst/>
          </a:prstGeom>
          <a:solidFill>
            <a:srgbClr val="FFB830"/>
          </a:solidFill>
          <a:ln w="12700">
            <a:solidFill>
              <a:srgbClr val="FFB830"/>
            </a:solidFill>
            <a:prstDash val="solid"/>
          </a:ln>
        </p:spPr>
      </p:sp>
      <p:pic>
        <p:nvPicPr>
          <p:cNvPr id="46" name="Image 4" descr="preencoded.png">    </p:cNvPr>
          <p:cNvPicPr>
            <a:picLocks noChangeAspect="1"/>
          </p:cNvPicPr>
          <p:nvPr/>
        </p:nvPicPr>
        <p:blipFill>
          <a:blip r:embed="rId5"/>
          <a:stretch>
            <a:fillRect/>
          </a:stretch>
        </p:blipFill>
        <p:spPr>
          <a:xfrm>
            <a:off x="475488" y="3968496"/>
            <a:ext cx="292608" cy="292608"/>
          </a:xfrm>
          <a:prstGeom prst="rect">
            <a:avLst/>
          </a:prstGeom>
        </p:spPr>
      </p:pic>
      <p:sp>
        <p:nvSpPr>
          <p:cNvPr id="47" name="Text 40"/>
          <p:cNvSpPr/>
          <p:nvPr/>
        </p:nvSpPr>
        <p:spPr>
          <a:xfrm>
            <a:off x="877824" y="3803904"/>
            <a:ext cx="1188720" cy="475488"/>
          </a:xfrm>
          <a:prstGeom prst="rect">
            <a:avLst/>
          </a:prstGeom>
          <a:noFill/>
          <a:ln/>
        </p:spPr>
        <p:txBody>
          <a:bodyPr wrap="square" lIns="0" tIns="0" rIns="0" bIns="0" rtlCol="0" anchor="ctr"/>
          <a:lstStyle/>
          <a:p>
            <a:pPr indent="0" marL="0">
              <a:buNone/>
            </a:pPr>
            <a:r>
              <a:rPr lang="en-US" sz="3000" b="1" dirty="0">
                <a:solidFill>
                  <a:srgbClr val="FFB830"/>
                </a:solidFill>
              </a:rPr>
              <a:t>&lt;4hrs</a:t>
            </a:r>
            <a:endParaRPr lang="en-US" sz="3000" dirty="0"/>
          </a:p>
        </p:txBody>
      </p:sp>
      <p:sp>
        <p:nvSpPr>
          <p:cNvPr id="48" name="Text 41"/>
          <p:cNvSpPr/>
          <p:nvPr/>
        </p:nvSpPr>
        <p:spPr>
          <a:xfrm>
            <a:off x="877824" y="4242816"/>
            <a:ext cx="1463040" cy="310896"/>
          </a:xfrm>
          <a:prstGeom prst="rect">
            <a:avLst/>
          </a:prstGeom>
          <a:noFill/>
          <a:ln/>
        </p:spPr>
        <p:txBody>
          <a:bodyPr wrap="square" lIns="0" tIns="0" rIns="0" bIns="0" rtlCol="0" anchor="ctr"/>
          <a:lstStyle/>
          <a:p>
            <a:pPr indent="0" marL="0">
              <a:buNone/>
            </a:pPr>
            <a:r>
              <a:rPr lang="en-US" sz="900" dirty="0">
                <a:solidFill>
                  <a:srgbClr val="C4B8E0"/>
                </a:solidFill>
              </a:rPr>
              <a:t>API to</a:t>
            </a:r>
            <a:endParaRPr lang="en-US" sz="900" dirty="0"/>
          </a:p>
          <a:p>
            <a:pPr indent="0" marL="0">
              <a:buNone/>
            </a:pPr>
            <a:r>
              <a:rPr lang="en-US" sz="900" dirty="0">
                <a:solidFill>
                  <a:srgbClr val="C4B8E0"/>
                </a:solidFill>
              </a:rPr>
              <a:t>production</a:t>
            </a:r>
            <a:endParaRPr lang="en-US" sz="900" dirty="0"/>
          </a:p>
        </p:txBody>
      </p:sp>
      <p:sp>
        <p:nvSpPr>
          <p:cNvPr id="49" name="Shape 42"/>
          <p:cNvSpPr/>
          <p:nvPr/>
        </p:nvSpPr>
        <p:spPr>
          <a:xfrm>
            <a:off x="2377440" y="4334256"/>
            <a:ext cx="566928" cy="182880"/>
          </a:xfrm>
          <a:prstGeom prst="rect">
            <a:avLst/>
          </a:prstGeom>
          <a:solidFill>
            <a:srgbClr val="FFB830">
              <a:alpha val="20000"/>
            </a:srgbClr>
          </a:solidFill>
          <a:ln w="12700">
            <a:solidFill>
              <a:srgbClr val="FFB830"/>
            </a:solidFill>
            <a:prstDash val="solid"/>
          </a:ln>
        </p:spPr>
      </p:sp>
      <p:sp>
        <p:nvSpPr>
          <p:cNvPr id="50" name="Text 43"/>
          <p:cNvSpPr/>
          <p:nvPr/>
        </p:nvSpPr>
        <p:spPr>
          <a:xfrm>
            <a:off x="2377440" y="4334256"/>
            <a:ext cx="566928" cy="182880"/>
          </a:xfrm>
          <a:prstGeom prst="rect">
            <a:avLst/>
          </a:prstGeom>
          <a:noFill/>
          <a:ln/>
        </p:spPr>
        <p:txBody>
          <a:bodyPr wrap="square" lIns="0" tIns="0" rIns="0" bIns="0" rtlCol="0" anchor="ctr"/>
          <a:lstStyle/>
          <a:p>
            <a:pPr algn="ctr" indent="0" marL="0">
              <a:buNone/>
            </a:pPr>
            <a:r>
              <a:rPr lang="en-US" sz="650" b="1" dirty="0">
                <a:solidFill>
                  <a:srgbClr val="FFB830"/>
                </a:solidFill>
              </a:rPr>
              <a:t>Kong</a:t>
            </a:r>
            <a:endParaRPr lang="en-US" sz="650" dirty="0"/>
          </a:p>
        </p:txBody>
      </p:sp>
      <p:sp>
        <p:nvSpPr>
          <p:cNvPr id="51" name="Shape 44"/>
          <p:cNvSpPr/>
          <p:nvPr/>
        </p:nvSpPr>
        <p:spPr>
          <a:xfrm>
            <a:off x="3200400" y="3767328"/>
            <a:ext cx="2670048" cy="822960"/>
          </a:xfrm>
          <a:prstGeom prst="rect">
            <a:avLst/>
          </a:prstGeom>
          <a:solidFill>
            <a:srgbClr val="1A1445"/>
          </a:solidFill>
          <a:ln/>
          <a:effectLst>
            <a:outerShdw sx="100000" sy="100000" kx="0" ky="0" algn="bl" rotWithShape="0" blurRad="101600" dist="25400" dir="8100000">
              <a:srgbClr val="000000">
                <a:alpha val="30000"/>
              </a:srgbClr>
            </a:outerShdw>
          </a:effectLst>
        </p:spPr>
      </p:sp>
      <p:sp>
        <p:nvSpPr>
          <p:cNvPr id="52" name="Shape 45"/>
          <p:cNvSpPr/>
          <p:nvPr/>
        </p:nvSpPr>
        <p:spPr>
          <a:xfrm>
            <a:off x="3200400" y="3767328"/>
            <a:ext cx="54864" cy="822960"/>
          </a:xfrm>
          <a:prstGeom prst="rect">
            <a:avLst/>
          </a:prstGeom>
          <a:solidFill>
            <a:srgbClr val="FFB830"/>
          </a:solidFill>
          <a:ln w="12700">
            <a:solidFill>
              <a:srgbClr val="FFB830"/>
            </a:solidFill>
            <a:prstDash val="solid"/>
          </a:ln>
        </p:spPr>
      </p:sp>
      <p:pic>
        <p:nvPicPr>
          <p:cNvPr id="53" name="Image 5" descr="preencoded.png">    </p:cNvPr>
          <p:cNvPicPr>
            <a:picLocks noChangeAspect="1"/>
          </p:cNvPicPr>
          <p:nvPr/>
        </p:nvPicPr>
        <p:blipFill>
          <a:blip r:embed="rId6"/>
          <a:stretch>
            <a:fillRect/>
          </a:stretch>
        </p:blipFill>
        <p:spPr>
          <a:xfrm>
            <a:off x="3328416" y="3968496"/>
            <a:ext cx="292608" cy="292608"/>
          </a:xfrm>
          <a:prstGeom prst="rect">
            <a:avLst/>
          </a:prstGeom>
        </p:spPr>
      </p:pic>
      <p:sp>
        <p:nvSpPr>
          <p:cNvPr id="54" name="Text 46"/>
          <p:cNvSpPr/>
          <p:nvPr/>
        </p:nvSpPr>
        <p:spPr>
          <a:xfrm>
            <a:off x="3730752" y="3803904"/>
            <a:ext cx="1188720" cy="475488"/>
          </a:xfrm>
          <a:prstGeom prst="rect">
            <a:avLst/>
          </a:prstGeom>
          <a:noFill/>
          <a:ln/>
        </p:spPr>
        <p:txBody>
          <a:bodyPr wrap="square" lIns="0" tIns="0" rIns="0" bIns="0" rtlCol="0" anchor="ctr"/>
          <a:lstStyle/>
          <a:p>
            <a:pPr indent="0" marL="0">
              <a:buNone/>
            </a:pPr>
            <a:r>
              <a:rPr lang="en-US" sz="3000" b="1" dirty="0">
                <a:solidFill>
                  <a:srgbClr val="FFB830"/>
                </a:solidFill>
              </a:rPr>
              <a:t>100%</a:t>
            </a:r>
            <a:endParaRPr lang="en-US" sz="3000" dirty="0"/>
          </a:p>
        </p:txBody>
      </p:sp>
      <p:sp>
        <p:nvSpPr>
          <p:cNvPr id="55" name="Text 47"/>
          <p:cNvSpPr/>
          <p:nvPr/>
        </p:nvSpPr>
        <p:spPr>
          <a:xfrm>
            <a:off x="3730752" y="4242816"/>
            <a:ext cx="1463040" cy="310896"/>
          </a:xfrm>
          <a:prstGeom prst="rect">
            <a:avLst/>
          </a:prstGeom>
          <a:noFill/>
          <a:ln/>
        </p:spPr>
        <p:txBody>
          <a:bodyPr wrap="square" lIns="0" tIns="0" rIns="0" bIns="0" rtlCol="0" anchor="ctr"/>
          <a:lstStyle/>
          <a:p>
            <a:pPr indent="0" marL="0">
              <a:buNone/>
            </a:pPr>
            <a:r>
              <a:rPr lang="en-US" sz="900" dirty="0">
                <a:solidFill>
                  <a:srgbClr val="C4B8E0"/>
                </a:solidFill>
              </a:rPr>
              <a:t>API policy</a:t>
            </a:r>
            <a:endParaRPr lang="en-US" sz="900" dirty="0"/>
          </a:p>
          <a:p>
            <a:pPr indent="0" marL="0">
              <a:buNone/>
            </a:pPr>
            <a:r>
              <a:rPr lang="en-US" sz="900" dirty="0">
                <a:solidFill>
                  <a:srgbClr val="C4B8E0"/>
                </a:solidFill>
              </a:rPr>
              <a:t>coverage</a:t>
            </a:r>
            <a:endParaRPr lang="en-US" sz="900" dirty="0"/>
          </a:p>
        </p:txBody>
      </p:sp>
      <p:sp>
        <p:nvSpPr>
          <p:cNvPr id="56" name="Shape 48"/>
          <p:cNvSpPr/>
          <p:nvPr/>
        </p:nvSpPr>
        <p:spPr>
          <a:xfrm>
            <a:off x="5230368" y="4334256"/>
            <a:ext cx="566928" cy="182880"/>
          </a:xfrm>
          <a:prstGeom prst="rect">
            <a:avLst/>
          </a:prstGeom>
          <a:solidFill>
            <a:srgbClr val="FFB830">
              <a:alpha val="20000"/>
            </a:srgbClr>
          </a:solidFill>
          <a:ln w="12700">
            <a:solidFill>
              <a:srgbClr val="FFB830"/>
            </a:solidFill>
            <a:prstDash val="solid"/>
          </a:ln>
        </p:spPr>
      </p:sp>
      <p:sp>
        <p:nvSpPr>
          <p:cNvPr id="57" name="Text 49"/>
          <p:cNvSpPr/>
          <p:nvPr/>
        </p:nvSpPr>
        <p:spPr>
          <a:xfrm>
            <a:off x="5230368" y="4334256"/>
            <a:ext cx="566928" cy="182880"/>
          </a:xfrm>
          <a:prstGeom prst="rect">
            <a:avLst/>
          </a:prstGeom>
          <a:noFill/>
          <a:ln/>
        </p:spPr>
        <p:txBody>
          <a:bodyPr wrap="square" lIns="0" tIns="0" rIns="0" bIns="0" rtlCol="0" anchor="ctr"/>
          <a:lstStyle/>
          <a:p>
            <a:pPr algn="ctr" indent="0" marL="0">
              <a:buNone/>
            </a:pPr>
            <a:r>
              <a:rPr lang="en-US" sz="650" b="1" dirty="0">
                <a:solidFill>
                  <a:srgbClr val="FFB830"/>
                </a:solidFill>
              </a:rPr>
              <a:t>Kong</a:t>
            </a:r>
            <a:endParaRPr lang="en-US" sz="650" dirty="0"/>
          </a:p>
        </p:txBody>
      </p:sp>
      <p:sp>
        <p:nvSpPr>
          <p:cNvPr id="58" name="Text 50"/>
          <p:cNvSpPr/>
          <p:nvPr/>
        </p:nvSpPr>
        <p:spPr>
          <a:xfrm>
            <a:off x="6400800" y="658368"/>
            <a:ext cx="2514600" cy="21031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Paysafe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Advantage.</a:t>
            </a:r>
            <a:endParaRPr lang="en-US" sz="2800" dirty="0"/>
          </a:p>
        </p:txBody>
      </p:sp>
      <p:sp>
        <p:nvSpPr>
          <p:cNvPr id="59" name="Shape 51"/>
          <p:cNvSpPr/>
          <p:nvPr/>
        </p:nvSpPr>
        <p:spPr>
          <a:xfrm>
            <a:off x="6400800" y="2834640"/>
            <a:ext cx="2286000" cy="0"/>
          </a:xfrm>
          <a:prstGeom prst="line">
            <a:avLst/>
          </a:prstGeom>
          <a:noFill/>
          <a:ln w="25400">
            <a:solidFill>
              <a:srgbClr val="C8E600"/>
            </a:solidFill>
            <a:prstDash val="solid"/>
          </a:ln>
        </p:spPr>
      </p:sp>
      <p:pic>
        <p:nvPicPr>
          <p:cNvPr id="60" name="Image 6" descr="preencoded.png">    </p:cNvPr>
          <p:cNvPicPr>
            <a:picLocks noChangeAspect="1"/>
          </p:cNvPicPr>
          <p:nvPr/>
        </p:nvPicPr>
        <p:blipFill>
          <a:blip r:embed="rId7"/>
          <a:stretch>
            <a:fillRect/>
          </a:stretch>
        </p:blipFill>
        <p:spPr>
          <a:xfrm>
            <a:off x="6400800" y="2962656"/>
            <a:ext cx="256032" cy="256032"/>
          </a:xfrm>
          <a:prstGeom prst="rect">
            <a:avLst/>
          </a:prstGeom>
        </p:spPr>
      </p:pic>
      <p:sp>
        <p:nvSpPr>
          <p:cNvPr id="61" name="Text 52"/>
          <p:cNvSpPr/>
          <p:nvPr/>
        </p:nvSpPr>
        <p:spPr>
          <a:xfrm>
            <a:off x="6748272" y="2962656"/>
            <a:ext cx="2029968" cy="274320"/>
          </a:xfrm>
          <a:prstGeom prst="rect">
            <a:avLst/>
          </a:prstGeom>
          <a:noFill/>
          <a:ln/>
        </p:spPr>
        <p:txBody>
          <a:bodyPr wrap="square" lIns="0" tIns="0" rIns="0" bIns="0" rtlCol="0" anchor="ctr"/>
          <a:lstStyle/>
          <a:p>
            <a:pPr indent="0" marL="0">
              <a:buNone/>
            </a:pPr>
            <a:r>
              <a:rPr lang="en-US" sz="1100" dirty="0">
                <a:solidFill>
                  <a:srgbClr val="FFFFFF"/>
                </a:solidFill>
              </a:rPr>
              <a:t>Security by design</a:t>
            </a:r>
            <a:endParaRPr lang="en-US" sz="1100" dirty="0"/>
          </a:p>
        </p:txBody>
      </p:sp>
      <p:pic>
        <p:nvPicPr>
          <p:cNvPr id="62" name="Image 7" descr="preencoded.png">    </p:cNvPr>
          <p:cNvPicPr>
            <a:picLocks noChangeAspect="1"/>
          </p:cNvPicPr>
          <p:nvPr/>
        </p:nvPicPr>
        <p:blipFill>
          <a:blip r:embed="rId8"/>
          <a:stretch>
            <a:fillRect/>
          </a:stretch>
        </p:blipFill>
        <p:spPr>
          <a:xfrm>
            <a:off x="6400800" y="3401568"/>
            <a:ext cx="256032" cy="256032"/>
          </a:xfrm>
          <a:prstGeom prst="rect">
            <a:avLst/>
          </a:prstGeom>
        </p:spPr>
      </p:pic>
      <p:sp>
        <p:nvSpPr>
          <p:cNvPr id="63" name="Text 53"/>
          <p:cNvSpPr/>
          <p:nvPr/>
        </p:nvSpPr>
        <p:spPr>
          <a:xfrm>
            <a:off x="6748272" y="3401568"/>
            <a:ext cx="2029968" cy="274320"/>
          </a:xfrm>
          <a:prstGeom prst="rect">
            <a:avLst/>
          </a:prstGeom>
          <a:noFill/>
          <a:ln/>
        </p:spPr>
        <p:txBody>
          <a:bodyPr wrap="square" lIns="0" tIns="0" rIns="0" bIns="0" rtlCol="0" anchor="ctr"/>
          <a:lstStyle/>
          <a:p>
            <a:pPr indent="0" marL="0">
              <a:buNone/>
            </a:pPr>
            <a:r>
              <a:rPr lang="en-US" sz="1100" dirty="0">
                <a:solidFill>
                  <a:srgbClr val="FFFFFF"/>
                </a:solidFill>
              </a:rPr>
              <a:t>Resilience by default</a:t>
            </a:r>
            <a:endParaRPr lang="en-US" sz="1100" dirty="0"/>
          </a:p>
        </p:txBody>
      </p:sp>
      <p:pic>
        <p:nvPicPr>
          <p:cNvPr id="64" name="Image 8" descr="preencoded.png">    </p:cNvPr>
          <p:cNvPicPr>
            <a:picLocks noChangeAspect="1"/>
          </p:cNvPicPr>
          <p:nvPr/>
        </p:nvPicPr>
        <p:blipFill>
          <a:blip r:embed="rId9"/>
          <a:stretch>
            <a:fillRect/>
          </a:stretch>
        </p:blipFill>
        <p:spPr>
          <a:xfrm>
            <a:off x="6400800" y="3840480"/>
            <a:ext cx="256032" cy="256032"/>
          </a:xfrm>
          <a:prstGeom prst="rect">
            <a:avLst/>
          </a:prstGeom>
        </p:spPr>
      </p:pic>
      <p:sp>
        <p:nvSpPr>
          <p:cNvPr id="65" name="Text 54"/>
          <p:cNvSpPr/>
          <p:nvPr/>
        </p:nvSpPr>
        <p:spPr>
          <a:xfrm>
            <a:off x="6748272" y="3840480"/>
            <a:ext cx="2029968" cy="274320"/>
          </a:xfrm>
          <a:prstGeom prst="rect">
            <a:avLst/>
          </a:prstGeom>
          <a:noFill/>
          <a:ln/>
        </p:spPr>
        <p:txBody>
          <a:bodyPr wrap="square" lIns="0" tIns="0" rIns="0" bIns="0" rtlCol="0" anchor="ctr"/>
          <a:lstStyle/>
          <a:p>
            <a:pPr indent="0" marL="0">
              <a:buNone/>
            </a:pPr>
            <a:r>
              <a:rPr lang="en-US" sz="1100" dirty="0">
                <a:solidFill>
                  <a:srgbClr val="FFFFFF"/>
                </a:solidFill>
              </a:rPr>
              <a:t>APIs born compliant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2026-06-09T05:51:52Z</dcterms:created>
  <dcterms:modified xsi:type="dcterms:W3CDTF">2026-06-09T05:51:52Z</dcterms:modified>
</cp:coreProperties>
</file>