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26464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1952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52928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28416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03904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30368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05856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6832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07808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83296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58784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34272" y="0"/>
            <a:ext cx="0" cy="5143500"/>
          </a:xfrm>
          <a:prstGeom prst="line">
            <a:avLst/>
          </a:prstGeom>
          <a:noFill/>
          <a:ln w="6350">
            <a:solidFill>
              <a:srgbClr val="6B21A8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164592"/>
            <a:ext cx="402336" cy="402336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164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E600"/>
                </a:solidFill>
              </a:rPr>
              <a:t>P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9808" y="201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</a:rPr>
              <a:t>PAYSAFE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49808" y="3840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00" kern="0" dirty="0">
                <a:solidFill>
                  <a:srgbClr val="BEB3D8"/>
                </a:solidFill>
              </a:rPr>
              <a:t>ENGINEERING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516368" y="164592"/>
            <a:ext cx="1463040" cy="256032"/>
          </a:xfrm>
          <a:prstGeom prst="rect">
            <a:avLst/>
          </a:prstGeom>
          <a:solidFill>
            <a:srgbClr val="C8E600">
              <a:alpha val="16000"/>
            </a:srgbClr>
          </a:solidFill>
          <a:ln w="12700">
            <a:solidFill>
              <a:srgbClr val="C8E6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16368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8E600"/>
                </a:solidFill>
              </a:rPr>
              <a:t>CNCF · LEFT-SHIFT · 2025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74320" y="713232"/>
            <a:ext cx="2286000" cy="237744"/>
          </a:xfrm>
          <a:prstGeom prst="rect">
            <a:avLst/>
          </a:prstGeom>
          <a:solidFill>
            <a:srgbClr val="C8E600">
              <a:alpha val="12000"/>
            </a:srgbClr>
          </a:solidFill>
          <a:ln w="12700">
            <a:solidFill>
              <a:srgbClr val="C8E6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713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8E600"/>
                </a:solidFill>
              </a:rPr>
              <a:t>DEVELOPER EXPERIENCE  ·  ALL 3 WORKSTREAMS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74320" y="1005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code.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guard the door.</a:t>
            </a:r>
            <a:endParaRPr lang="en-US" sz="3800" dirty="0"/>
          </a:p>
        </p:txBody>
      </p:sp>
      <p:sp>
        <p:nvSpPr>
          <p:cNvPr id="46" name="Shape 44"/>
          <p:cNvSpPr/>
          <p:nvPr/>
        </p:nvSpPr>
        <p:spPr>
          <a:xfrm>
            <a:off x="274320" y="2176272"/>
            <a:ext cx="1828800" cy="45720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26771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resilience &amp; API control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into your workflow — not bolted on after.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394960" y="713232"/>
            <a:ext cx="1463040" cy="237744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4960" y="7132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071F"/>
                </a:solidFill>
              </a:rPr>
              <a:t>◀  LEFT SHIFT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394960" y="1005840"/>
            <a:ext cx="3584448" cy="1261872"/>
          </a:xfrm>
          <a:prstGeom prst="rect">
            <a:avLst/>
          </a:prstGeom>
          <a:solidFill>
            <a:srgbClr val="130F35"/>
          </a:solidFill>
          <a:ln w="12700">
            <a:solidFill>
              <a:srgbClr val="3A2E6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394960" y="1901952"/>
            <a:ext cx="658368" cy="292608"/>
          </a:xfrm>
          <a:prstGeom prst="rect">
            <a:avLst/>
          </a:prstGeom>
          <a:solidFill>
            <a:srgbClr val="C8E600">
              <a:alpha val="40000"/>
            </a:srgbClr>
          </a:solidFill>
          <a:ln w="19050">
            <a:solidFill>
              <a:srgbClr val="C8E6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16276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E600"/>
                </a:solidFill>
              </a:rPr>
              <a:t>×1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394960" y="23225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8E600"/>
                </a:solidFill>
              </a:rPr>
              <a:t>Design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394960" y="25054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8E600"/>
                </a:solidFill>
              </a:rPr>
              <a:t>IDE + PR</a:t>
            </a:r>
            <a:endParaRPr lang="en-US" sz="550" dirty="0"/>
          </a:p>
        </p:txBody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2" y="1664208"/>
            <a:ext cx="128016" cy="128016"/>
          </a:xfrm>
          <a:prstGeom prst="rect">
            <a:avLst/>
          </a:prstGeom>
        </p:spPr>
      </p:pic>
      <p:sp>
        <p:nvSpPr>
          <p:cNvPr id="56" name="Shape 53"/>
          <p:cNvSpPr/>
          <p:nvPr/>
        </p:nvSpPr>
        <p:spPr>
          <a:xfrm>
            <a:off x="6144768" y="1783080"/>
            <a:ext cx="438912" cy="411480"/>
          </a:xfrm>
          <a:prstGeom prst="rect">
            <a:avLst/>
          </a:prstGeom>
          <a:solidFill>
            <a:srgbClr val="9D5CFF">
              <a:alpha val="40000"/>
            </a:srgbClr>
          </a:solidFill>
          <a:ln w="19050">
            <a:solidFill>
              <a:srgbClr val="9D5C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44768" y="150876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D5CFF"/>
                </a:solidFill>
              </a:rPr>
              <a:t>×5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6144768" y="2322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EB3D8"/>
                </a:solidFill>
              </a:rPr>
              <a:t>Develop</a:t>
            </a:r>
            <a:endParaRPr lang="en-US" sz="650" dirty="0"/>
          </a:p>
        </p:txBody>
      </p:sp>
      <p:pic>
        <p:nvPicPr>
          <p:cNvPr id="5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664208"/>
            <a:ext cx="128016" cy="128016"/>
          </a:xfrm>
          <a:prstGeom prst="rect">
            <a:avLst/>
          </a:prstGeom>
        </p:spPr>
      </p:pic>
      <p:sp>
        <p:nvSpPr>
          <p:cNvPr id="60" name="Shape 56"/>
          <p:cNvSpPr/>
          <p:nvPr/>
        </p:nvSpPr>
        <p:spPr>
          <a:xfrm>
            <a:off x="6675120" y="1664208"/>
            <a:ext cx="512064" cy="530352"/>
          </a:xfrm>
          <a:prstGeom prst="rect">
            <a:avLst/>
          </a:prstGeom>
          <a:solidFill>
            <a:srgbClr val="7C3AED">
              <a:alpha val="4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675120" y="138988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×15</a:t>
            </a:r>
            <a:endParaRPr lang="en-US" sz="950" dirty="0"/>
          </a:p>
        </p:txBody>
      </p:sp>
      <p:sp>
        <p:nvSpPr>
          <p:cNvPr id="62" name="Text 58"/>
          <p:cNvSpPr/>
          <p:nvPr/>
        </p:nvSpPr>
        <p:spPr>
          <a:xfrm>
            <a:off x="6675120" y="232257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EB3D8"/>
                </a:solidFill>
              </a:rPr>
              <a:t>Test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6675120" y="250545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C3AED"/>
                </a:solidFill>
              </a:rPr>
              <a:t>Chaos gate</a:t>
            </a:r>
            <a:endParaRPr lang="en-US" sz="550" dirty="0"/>
          </a:p>
        </p:txBody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664208"/>
            <a:ext cx="128016" cy="128016"/>
          </a:xfrm>
          <a:prstGeom prst="rect">
            <a:avLst/>
          </a:prstGeom>
        </p:spPr>
      </p:pic>
      <p:sp>
        <p:nvSpPr>
          <p:cNvPr id="65" name="Shape 60"/>
          <p:cNvSpPr/>
          <p:nvPr/>
        </p:nvSpPr>
        <p:spPr>
          <a:xfrm>
            <a:off x="7278624" y="1536192"/>
            <a:ext cx="438912" cy="658368"/>
          </a:xfrm>
          <a:prstGeom prst="rect">
            <a:avLst/>
          </a:prstGeom>
          <a:solidFill>
            <a:srgbClr val="FFB830">
              <a:alpha val="40000"/>
            </a:srgbClr>
          </a:solidFill>
          <a:ln w="19050">
            <a:solidFill>
              <a:srgbClr val="FFB830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7278624" y="1261872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830"/>
                </a:solidFill>
              </a:rPr>
              <a:t>×50</a:t>
            </a:r>
            <a:endParaRPr lang="en-US" sz="950" dirty="0"/>
          </a:p>
        </p:txBody>
      </p:sp>
      <p:sp>
        <p:nvSpPr>
          <p:cNvPr id="67" name="Text 62"/>
          <p:cNvSpPr/>
          <p:nvPr/>
        </p:nvSpPr>
        <p:spPr>
          <a:xfrm>
            <a:off x="7278624" y="2322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EB3D8"/>
                </a:solidFill>
              </a:rPr>
              <a:t>Staging</a:t>
            </a:r>
            <a:endParaRPr lang="en-US" sz="650" dirty="0"/>
          </a:p>
        </p:txBody>
      </p:sp>
      <p:pic>
        <p:nvPicPr>
          <p:cNvPr id="6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664208"/>
            <a:ext cx="128016" cy="128016"/>
          </a:xfrm>
          <a:prstGeom prst="rect">
            <a:avLst/>
          </a:prstGeom>
        </p:spPr>
      </p:pic>
      <p:sp>
        <p:nvSpPr>
          <p:cNvPr id="69" name="Shape 63"/>
          <p:cNvSpPr/>
          <p:nvPr/>
        </p:nvSpPr>
        <p:spPr>
          <a:xfrm>
            <a:off x="7808976" y="1353312"/>
            <a:ext cx="512064" cy="841248"/>
          </a:xfrm>
          <a:prstGeom prst="rect">
            <a:avLst/>
          </a:prstGeom>
          <a:solidFill>
            <a:srgbClr val="E8601A">
              <a:alpha val="40000"/>
            </a:srgbClr>
          </a:solidFill>
          <a:ln w="19050">
            <a:solidFill>
              <a:srgbClr val="E8601A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7808976" y="1078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01A"/>
                </a:solidFill>
              </a:rPr>
              <a:t>×200</a:t>
            </a:r>
            <a:endParaRPr lang="en-US" sz="1100" dirty="0"/>
          </a:p>
        </p:txBody>
      </p:sp>
      <p:sp>
        <p:nvSpPr>
          <p:cNvPr id="71" name="Text 65"/>
          <p:cNvSpPr/>
          <p:nvPr/>
        </p:nvSpPr>
        <p:spPr>
          <a:xfrm>
            <a:off x="7808976" y="232257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EB3D8"/>
                </a:solidFill>
              </a:rPr>
              <a:t>Prod</a:t>
            </a:r>
            <a:endParaRPr lang="en-US" sz="650" dirty="0"/>
          </a:p>
        </p:txBody>
      </p:sp>
      <p:sp>
        <p:nvSpPr>
          <p:cNvPr id="72" name="Text 66"/>
          <p:cNvSpPr/>
          <p:nvPr/>
        </p:nvSpPr>
        <p:spPr>
          <a:xfrm>
            <a:off x="7808976" y="250545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8601A"/>
                </a:solidFill>
              </a:rPr>
              <a:t>Kong enforces</a:t>
            </a:r>
            <a:endParaRPr lang="en-US" sz="550" dirty="0"/>
          </a:p>
        </p:txBody>
      </p:sp>
      <p:pic>
        <p:nvPicPr>
          <p:cNvPr id="7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1664208"/>
            <a:ext cx="128016" cy="128016"/>
          </a:xfrm>
          <a:prstGeom prst="rect">
            <a:avLst/>
          </a:prstGeom>
        </p:spPr>
      </p:pic>
      <p:sp>
        <p:nvSpPr>
          <p:cNvPr id="74" name="Shape 67"/>
          <p:cNvSpPr/>
          <p:nvPr/>
        </p:nvSpPr>
        <p:spPr>
          <a:xfrm>
            <a:off x="8412480" y="1115568"/>
            <a:ext cx="566928" cy="1078992"/>
          </a:xfrm>
          <a:prstGeom prst="rect">
            <a:avLst/>
          </a:prstGeom>
          <a:solidFill>
            <a:srgbClr val="FF4D6D">
              <a:alpha val="40000"/>
            </a:srgbClr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8412480" y="841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6D"/>
                </a:solidFill>
              </a:rPr>
              <a:t>×1000</a:t>
            </a:r>
            <a:endParaRPr lang="en-US" sz="1100" dirty="0"/>
          </a:p>
        </p:txBody>
      </p:sp>
      <p:sp>
        <p:nvSpPr>
          <p:cNvPr id="76" name="Text 69"/>
          <p:cNvSpPr/>
          <p:nvPr/>
        </p:nvSpPr>
        <p:spPr>
          <a:xfrm>
            <a:off x="8412480" y="23225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EB3D8"/>
                </a:solidFill>
              </a:rPr>
              <a:t>Incident</a:t>
            </a:r>
            <a:endParaRPr lang="en-US" sz="650" dirty="0"/>
          </a:p>
        </p:txBody>
      </p:sp>
      <p:sp>
        <p:nvSpPr>
          <p:cNvPr id="77" name="Text 70"/>
          <p:cNvSpPr/>
          <p:nvPr/>
        </p:nvSpPr>
        <p:spPr>
          <a:xfrm>
            <a:off x="8412480" y="25054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4D6D"/>
                </a:solidFill>
              </a:rPr>
              <a:t>avoid this ↑</a:t>
            </a:r>
            <a:endParaRPr lang="en-US" sz="550" dirty="0"/>
          </a:p>
        </p:txBody>
      </p:sp>
      <p:sp>
        <p:nvSpPr>
          <p:cNvPr id="78" name="Shape 71"/>
          <p:cNvSpPr/>
          <p:nvPr/>
        </p:nvSpPr>
        <p:spPr>
          <a:xfrm>
            <a:off x="5394960" y="1024128"/>
            <a:ext cx="804672" cy="201168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</p:sp>
      <p:sp>
        <p:nvSpPr>
          <p:cNvPr id="79" name="Text 72"/>
          <p:cNvSpPr/>
          <p:nvPr/>
        </p:nvSpPr>
        <p:spPr>
          <a:xfrm>
            <a:off x="5394960" y="102412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9071F"/>
                </a:solidFill>
              </a:rPr>
              <a:t>CATCH IT HERE</a:t>
            </a:r>
            <a:endParaRPr lang="en-US" sz="550" dirty="0"/>
          </a:p>
        </p:txBody>
      </p:sp>
      <p:sp>
        <p:nvSpPr>
          <p:cNvPr id="80" name="Text 73"/>
          <p:cNvSpPr/>
          <p:nvPr/>
        </p:nvSpPr>
        <p:spPr>
          <a:xfrm>
            <a:off x="5394960" y="2688336"/>
            <a:ext cx="3584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3A2E65"/>
                </a:solidFill>
              </a:rPr>
              <a:t>IBM Systems Sciences Institute</a:t>
            </a:r>
            <a:endParaRPr lang="en-US" sz="600" dirty="0"/>
          </a:p>
        </p:txBody>
      </p:sp>
      <p:sp>
        <p:nvSpPr>
          <p:cNvPr id="81" name="Text 74"/>
          <p:cNvSpPr/>
          <p:nvPr/>
        </p:nvSpPr>
        <p:spPr>
          <a:xfrm>
            <a:off x="274320" y="28529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8E600"/>
                </a:solidFill>
              </a:rPr>
              <a:t>YOUR WORKFLOW →</a:t>
            </a:r>
            <a:endParaRPr lang="en-US" sz="700" dirty="0"/>
          </a:p>
        </p:txBody>
      </p:sp>
      <p:sp>
        <p:nvSpPr>
          <p:cNvPr id="82" name="Shape 75"/>
          <p:cNvSpPr/>
          <p:nvPr/>
        </p:nvSpPr>
        <p:spPr>
          <a:xfrm>
            <a:off x="274320" y="3255264"/>
            <a:ext cx="4992624" cy="45720"/>
          </a:xfrm>
          <a:prstGeom prst="rect">
            <a:avLst/>
          </a:prstGeom>
          <a:solidFill>
            <a:srgbClr val="3A2E65"/>
          </a:solidFill>
          <a:ln w="12700">
            <a:solidFill>
              <a:srgbClr val="3A2E65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612648" y="3163824"/>
            <a:ext cx="219456" cy="219456"/>
          </a:xfrm>
          <a:prstGeom prst="ellipse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274320" y="3364992"/>
            <a:ext cx="914400" cy="1353312"/>
          </a:xfrm>
          <a:prstGeom prst="rect">
            <a:avLst/>
          </a:prstGeom>
          <a:solidFill>
            <a:srgbClr val="130F3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5" name="Shape 78"/>
          <p:cNvSpPr/>
          <p:nvPr/>
        </p:nvSpPr>
        <p:spPr>
          <a:xfrm>
            <a:off x="274320" y="3364992"/>
            <a:ext cx="914400" cy="45720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</p:sp>
      <p:pic>
        <p:nvPicPr>
          <p:cNvPr id="8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456432"/>
            <a:ext cx="274320" cy="274320"/>
          </a:xfrm>
          <a:prstGeom prst="rect">
            <a:avLst/>
          </a:prstGeom>
        </p:spPr>
      </p:pic>
      <p:sp>
        <p:nvSpPr>
          <p:cNvPr id="87" name="Text 79"/>
          <p:cNvSpPr/>
          <p:nvPr/>
        </p:nvSpPr>
        <p:spPr>
          <a:xfrm>
            <a:off x="292608" y="378561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E600"/>
                </a:solidFill>
              </a:rPr>
              <a:t>IDE</a:t>
            </a:r>
            <a:endParaRPr lang="en-US" sz="800" dirty="0"/>
          </a:p>
        </p:txBody>
      </p:sp>
      <p:sp>
        <p:nvSpPr>
          <p:cNvPr id="88" name="Text 80"/>
          <p:cNvSpPr/>
          <p:nvPr/>
        </p:nvSpPr>
        <p:spPr>
          <a:xfrm>
            <a:off x="310896" y="4005072"/>
            <a:ext cx="84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EB3D8"/>
                </a:solidFill>
              </a:rPr>
              <a:t>Threat model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EB3D8"/>
                </a:solidFill>
              </a:rPr>
              <a:t>VS Code</a:t>
            </a:r>
            <a:endParaRPr lang="en-US" sz="750" dirty="0"/>
          </a:p>
        </p:txBody>
      </p:sp>
      <p:sp>
        <p:nvSpPr>
          <p:cNvPr id="89" name="Shape 81"/>
          <p:cNvSpPr/>
          <p:nvPr/>
        </p:nvSpPr>
        <p:spPr>
          <a:xfrm>
            <a:off x="1609344" y="3163824"/>
            <a:ext cx="219456" cy="219456"/>
          </a:xfrm>
          <a:prstGeom prst="ellipse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</p:sp>
      <p:sp>
        <p:nvSpPr>
          <p:cNvPr id="90" name="Shape 82"/>
          <p:cNvSpPr/>
          <p:nvPr/>
        </p:nvSpPr>
        <p:spPr>
          <a:xfrm>
            <a:off x="1271016" y="3364992"/>
            <a:ext cx="914400" cy="1353312"/>
          </a:xfrm>
          <a:prstGeom prst="rect">
            <a:avLst/>
          </a:prstGeom>
          <a:solidFill>
            <a:srgbClr val="130F3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1" name="Shape 83"/>
          <p:cNvSpPr/>
          <p:nvPr/>
        </p:nvSpPr>
        <p:spPr>
          <a:xfrm>
            <a:off x="1271016" y="3364992"/>
            <a:ext cx="914400" cy="45720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</p:sp>
      <p:pic>
        <p:nvPicPr>
          <p:cNvPr id="9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1056" y="3456432"/>
            <a:ext cx="274320" cy="274320"/>
          </a:xfrm>
          <a:prstGeom prst="rect">
            <a:avLst/>
          </a:prstGeom>
        </p:spPr>
      </p:pic>
      <p:sp>
        <p:nvSpPr>
          <p:cNvPr id="93" name="Text 84"/>
          <p:cNvSpPr/>
          <p:nvPr/>
        </p:nvSpPr>
        <p:spPr>
          <a:xfrm>
            <a:off x="1289304" y="378561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E600"/>
                </a:solidFill>
              </a:rPr>
              <a:t>Commit</a:t>
            </a:r>
            <a:endParaRPr lang="en-US" sz="800" dirty="0"/>
          </a:p>
        </p:txBody>
      </p:sp>
      <p:sp>
        <p:nvSpPr>
          <p:cNvPr id="94" name="Text 85"/>
          <p:cNvSpPr/>
          <p:nvPr/>
        </p:nvSpPr>
        <p:spPr>
          <a:xfrm>
            <a:off x="1307592" y="4005072"/>
            <a:ext cx="84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EB3D8"/>
                </a:solidFill>
              </a:rPr>
              <a:t>STRIDE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EB3D8"/>
                </a:solidFill>
              </a:rPr>
              <a:t>pre-commit gate</a:t>
            </a:r>
            <a:endParaRPr lang="en-US" sz="750" dirty="0"/>
          </a:p>
        </p:txBody>
      </p:sp>
      <p:sp>
        <p:nvSpPr>
          <p:cNvPr id="95" name="Shape 86"/>
          <p:cNvSpPr/>
          <p:nvPr/>
        </p:nvSpPr>
        <p:spPr>
          <a:xfrm>
            <a:off x="2606040" y="3163824"/>
            <a:ext cx="219456" cy="219456"/>
          </a:xfrm>
          <a:prstGeom prst="ellipse">
            <a:avLst/>
          </a:prstGeom>
          <a:solidFill>
            <a:srgbClr val="9D5CFF"/>
          </a:solidFill>
          <a:ln w="12700">
            <a:solidFill>
              <a:srgbClr val="9D5CFF"/>
            </a:solidFill>
            <a:prstDash val="solid"/>
          </a:ln>
        </p:spPr>
      </p:sp>
      <p:sp>
        <p:nvSpPr>
          <p:cNvPr id="96" name="Shape 87"/>
          <p:cNvSpPr/>
          <p:nvPr/>
        </p:nvSpPr>
        <p:spPr>
          <a:xfrm>
            <a:off x="2267712" y="3364992"/>
            <a:ext cx="914400" cy="1353312"/>
          </a:xfrm>
          <a:prstGeom prst="rect">
            <a:avLst/>
          </a:prstGeom>
          <a:solidFill>
            <a:srgbClr val="130F3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7" name="Shape 88"/>
          <p:cNvSpPr/>
          <p:nvPr/>
        </p:nvSpPr>
        <p:spPr>
          <a:xfrm>
            <a:off x="2267712" y="3364992"/>
            <a:ext cx="914400" cy="45720"/>
          </a:xfrm>
          <a:prstGeom prst="rect">
            <a:avLst/>
          </a:prstGeom>
          <a:solidFill>
            <a:srgbClr val="9D5CFF"/>
          </a:solidFill>
          <a:ln w="12700">
            <a:solidFill>
              <a:srgbClr val="9D5CFF"/>
            </a:solidFill>
            <a:prstDash val="solid"/>
          </a:ln>
        </p:spPr>
      </p:sp>
      <p:pic>
        <p:nvPicPr>
          <p:cNvPr id="9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7752" y="3456432"/>
            <a:ext cx="274320" cy="274320"/>
          </a:xfrm>
          <a:prstGeom prst="rect">
            <a:avLst/>
          </a:prstGeom>
        </p:spPr>
      </p:pic>
      <p:sp>
        <p:nvSpPr>
          <p:cNvPr id="99" name="Text 89"/>
          <p:cNvSpPr/>
          <p:nvPr/>
        </p:nvSpPr>
        <p:spPr>
          <a:xfrm>
            <a:off x="2286000" y="378561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5CFF"/>
                </a:solidFill>
              </a:rPr>
              <a:t>PR</a:t>
            </a:r>
            <a:endParaRPr lang="en-US" sz="800" dirty="0"/>
          </a:p>
        </p:txBody>
      </p:sp>
      <p:sp>
        <p:nvSpPr>
          <p:cNvPr id="100" name="Text 90"/>
          <p:cNvSpPr/>
          <p:nvPr/>
        </p:nvSpPr>
        <p:spPr>
          <a:xfrm>
            <a:off x="2304288" y="4005072"/>
            <a:ext cx="84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EB3D8"/>
                </a:solidFill>
              </a:rPr>
              <a:t>Security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EB3D8"/>
                </a:solidFill>
              </a:rPr>
              <a:t>score on PR</a:t>
            </a:r>
            <a:endParaRPr lang="en-US" sz="750" dirty="0"/>
          </a:p>
        </p:txBody>
      </p:sp>
      <p:sp>
        <p:nvSpPr>
          <p:cNvPr id="101" name="Shape 91"/>
          <p:cNvSpPr/>
          <p:nvPr/>
        </p:nvSpPr>
        <p:spPr>
          <a:xfrm>
            <a:off x="3602736" y="3163824"/>
            <a:ext cx="219456" cy="219456"/>
          </a:xfrm>
          <a:prstGeom prst="ellipse">
            <a:avLst/>
          </a:prstGeom>
          <a:solidFill>
            <a:srgbClr val="9D5CFF"/>
          </a:solidFill>
          <a:ln w="12700">
            <a:solidFill>
              <a:srgbClr val="9D5CFF"/>
            </a:solidFill>
            <a:prstDash val="solid"/>
          </a:ln>
        </p:spPr>
      </p:sp>
      <p:sp>
        <p:nvSpPr>
          <p:cNvPr id="102" name="Shape 92"/>
          <p:cNvSpPr/>
          <p:nvPr/>
        </p:nvSpPr>
        <p:spPr>
          <a:xfrm>
            <a:off x="3264408" y="3364992"/>
            <a:ext cx="914400" cy="1353312"/>
          </a:xfrm>
          <a:prstGeom prst="rect">
            <a:avLst/>
          </a:prstGeom>
          <a:solidFill>
            <a:srgbClr val="130F3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3" name="Shape 93"/>
          <p:cNvSpPr/>
          <p:nvPr/>
        </p:nvSpPr>
        <p:spPr>
          <a:xfrm>
            <a:off x="3264408" y="3364992"/>
            <a:ext cx="914400" cy="45720"/>
          </a:xfrm>
          <a:prstGeom prst="rect">
            <a:avLst/>
          </a:prstGeom>
          <a:solidFill>
            <a:srgbClr val="9D5CFF"/>
          </a:solidFill>
          <a:ln w="12700">
            <a:solidFill>
              <a:srgbClr val="9D5CFF"/>
            </a:solidFill>
            <a:prstDash val="solid"/>
          </a:ln>
        </p:spPr>
      </p:sp>
      <p:pic>
        <p:nvPicPr>
          <p:cNvPr id="10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4448" y="3456432"/>
            <a:ext cx="274320" cy="274320"/>
          </a:xfrm>
          <a:prstGeom prst="rect">
            <a:avLst/>
          </a:prstGeom>
        </p:spPr>
      </p:pic>
      <p:sp>
        <p:nvSpPr>
          <p:cNvPr id="105" name="Text 94"/>
          <p:cNvSpPr/>
          <p:nvPr/>
        </p:nvSpPr>
        <p:spPr>
          <a:xfrm>
            <a:off x="3282696" y="378561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5CFF"/>
                </a:solidFill>
              </a:rPr>
              <a:t>Pipeline</a:t>
            </a:r>
            <a:endParaRPr lang="en-US" sz="800" dirty="0"/>
          </a:p>
        </p:txBody>
      </p:sp>
      <p:sp>
        <p:nvSpPr>
          <p:cNvPr id="106" name="Text 95"/>
          <p:cNvSpPr/>
          <p:nvPr/>
        </p:nvSpPr>
        <p:spPr>
          <a:xfrm>
            <a:off x="3300984" y="4005072"/>
            <a:ext cx="84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EB3D8"/>
                </a:solidFill>
              </a:rPr>
              <a:t>Chaos +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EB3D8"/>
                </a:solidFill>
              </a:rPr>
              <a:t>API policy</a:t>
            </a:r>
            <a:endParaRPr lang="en-US" sz="750" dirty="0"/>
          </a:p>
        </p:txBody>
      </p:sp>
      <p:sp>
        <p:nvSpPr>
          <p:cNvPr id="107" name="Shape 96"/>
          <p:cNvSpPr/>
          <p:nvPr/>
        </p:nvSpPr>
        <p:spPr>
          <a:xfrm>
            <a:off x="4599432" y="3163824"/>
            <a:ext cx="219456" cy="21945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8" name="Shape 97"/>
          <p:cNvSpPr/>
          <p:nvPr/>
        </p:nvSpPr>
        <p:spPr>
          <a:xfrm>
            <a:off x="4261104" y="3364992"/>
            <a:ext cx="914400" cy="1353312"/>
          </a:xfrm>
          <a:prstGeom prst="rect">
            <a:avLst/>
          </a:prstGeom>
          <a:solidFill>
            <a:srgbClr val="130F3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9" name="Shape 98"/>
          <p:cNvSpPr/>
          <p:nvPr/>
        </p:nvSpPr>
        <p:spPr>
          <a:xfrm>
            <a:off x="4261104" y="3364992"/>
            <a:ext cx="9144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1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1144" y="3456432"/>
            <a:ext cx="274320" cy="274320"/>
          </a:xfrm>
          <a:prstGeom prst="rect">
            <a:avLst/>
          </a:prstGeom>
        </p:spPr>
      </p:pic>
      <p:sp>
        <p:nvSpPr>
          <p:cNvPr id="111" name="Text 99"/>
          <p:cNvSpPr/>
          <p:nvPr/>
        </p:nvSpPr>
        <p:spPr>
          <a:xfrm>
            <a:off x="4279392" y="378561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</a:rPr>
              <a:t>Deploy ✓</a:t>
            </a:r>
            <a:endParaRPr lang="en-US" sz="800" dirty="0"/>
          </a:p>
        </p:txBody>
      </p:sp>
      <p:sp>
        <p:nvSpPr>
          <p:cNvPr id="112" name="Text 100"/>
          <p:cNvSpPr/>
          <p:nvPr/>
        </p:nvSpPr>
        <p:spPr>
          <a:xfrm>
            <a:off x="4297680" y="4005072"/>
            <a:ext cx="84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EB3D8"/>
                </a:solidFill>
              </a:rPr>
              <a:t>Born compliant.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EB3D8"/>
                </a:solidFill>
              </a:rPr>
              <a:t>Ship it.</a:t>
            </a:r>
            <a:endParaRPr lang="en-US" sz="750" dirty="0"/>
          </a:p>
        </p:txBody>
      </p:sp>
      <p:sp>
        <p:nvSpPr>
          <p:cNvPr id="113" name="Shape 101"/>
          <p:cNvSpPr/>
          <p:nvPr/>
        </p:nvSpPr>
        <p:spPr>
          <a:xfrm>
            <a:off x="5394960" y="2816352"/>
            <a:ext cx="3584448" cy="640080"/>
          </a:xfrm>
          <a:prstGeom prst="rect">
            <a:avLst/>
          </a:prstGeom>
          <a:solidFill>
            <a:srgbClr val="1E1850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4" name="Shape 102"/>
          <p:cNvSpPr/>
          <p:nvPr/>
        </p:nvSpPr>
        <p:spPr>
          <a:xfrm>
            <a:off x="5394960" y="2816352"/>
            <a:ext cx="54864" cy="640080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</p:sp>
      <p:sp>
        <p:nvSpPr>
          <p:cNvPr id="115" name="Shape 103"/>
          <p:cNvSpPr/>
          <p:nvPr/>
        </p:nvSpPr>
        <p:spPr>
          <a:xfrm>
            <a:off x="5504688" y="2926080"/>
            <a:ext cx="384048" cy="384048"/>
          </a:xfrm>
          <a:prstGeom prst="ellipse">
            <a:avLst/>
          </a:prstGeom>
          <a:solidFill>
            <a:srgbClr val="C8E600">
              <a:alpha val="20000"/>
            </a:srgbClr>
          </a:solidFill>
          <a:ln w="12700">
            <a:solidFill>
              <a:srgbClr val="C8E600"/>
            </a:solidFill>
            <a:prstDash val="solid"/>
          </a:ln>
        </p:spPr>
      </p:sp>
      <p:pic>
        <p:nvPicPr>
          <p:cNvPr id="1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5272" y="3026664"/>
            <a:ext cx="182880" cy="182880"/>
          </a:xfrm>
          <a:prstGeom prst="rect">
            <a:avLst/>
          </a:prstGeom>
        </p:spPr>
      </p:pic>
      <p:sp>
        <p:nvSpPr>
          <p:cNvPr id="117" name="Text 104"/>
          <p:cNvSpPr/>
          <p:nvPr/>
        </p:nvSpPr>
        <p:spPr>
          <a:xfrm>
            <a:off x="5989320" y="28529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Find it in your IDE.</a:t>
            </a:r>
            <a:endParaRPr lang="en-US" sz="1200" dirty="0"/>
          </a:p>
        </p:txBody>
      </p:sp>
      <p:sp>
        <p:nvSpPr>
          <p:cNvPr id="118" name="Text 105"/>
          <p:cNvSpPr/>
          <p:nvPr/>
        </p:nvSpPr>
        <p:spPr>
          <a:xfrm>
            <a:off x="5989320" y="309067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B3D8"/>
                </a:solidFill>
              </a:rPr>
              <a:t>STRIDE templates. Attack vectors surfaced before line one. Security = dev skill.</a:t>
            </a:r>
            <a:endParaRPr lang="en-US" sz="800" dirty="0"/>
          </a:p>
        </p:txBody>
      </p:sp>
      <p:sp>
        <p:nvSpPr>
          <p:cNvPr id="119" name="Shape 106"/>
          <p:cNvSpPr/>
          <p:nvPr/>
        </p:nvSpPr>
        <p:spPr>
          <a:xfrm>
            <a:off x="5989320" y="3273552"/>
            <a:ext cx="2907792" cy="164592"/>
          </a:xfrm>
          <a:prstGeom prst="rect">
            <a:avLst/>
          </a:prstGeom>
          <a:solidFill>
            <a:srgbClr val="C8E600">
              <a:alpha val="10000"/>
            </a:srgbClr>
          </a:solidFill>
          <a:ln w="12700">
            <a:solidFill>
              <a:srgbClr val="C8E600">
                <a:alpha val="20000"/>
              </a:srgbClr>
            </a:solidFill>
            <a:prstDash val="solid"/>
          </a:ln>
        </p:spPr>
      </p:sp>
      <p:sp>
        <p:nvSpPr>
          <p:cNvPr id="120" name="Text 107"/>
          <p:cNvSpPr/>
          <p:nvPr/>
        </p:nvSpPr>
        <p:spPr>
          <a:xfrm>
            <a:off x="6016752" y="32735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8E600"/>
                </a:solidFill>
              </a:rPr>
              <a:t>Threat Modeling  ·  OWASP · GHAS</a:t>
            </a:r>
            <a:endParaRPr lang="en-US" sz="650" dirty="0"/>
          </a:p>
        </p:txBody>
      </p:sp>
      <p:sp>
        <p:nvSpPr>
          <p:cNvPr id="121" name="Shape 108"/>
          <p:cNvSpPr/>
          <p:nvPr/>
        </p:nvSpPr>
        <p:spPr>
          <a:xfrm>
            <a:off x="5394960" y="3529584"/>
            <a:ext cx="3584448" cy="640080"/>
          </a:xfrm>
          <a:prstGeom prst="rect">
            <a:avLst/>
          </a:prstGeom>
          <a:solidFill>
            <a:srgbClr val="1E1850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2" name="Shape 109"/>
          <p:cNvSpPr/>
          <p:nvPr/>
        </p:nvSpPr>
        <p:spPr>
          <a:xfrm>
            <a:off x="5394960" y="3529584"/>
            <a:ext cx="54864" cy="640080"/>
          </a:xfrm>
          <a:prstGeom prst="rect">
            <a:avLst/>
          </a:prstGeom>
          <a:solidFill>
            <a:srgbClr val="9D5CFF"/>
          </a:solidFill>
          <a:ln w="12700">
            <a:solidFill>
              <a:srgbClr val="9D5CFF"/>
            </a:solidFill>
            <a:prstDash val="solid"/>
          </a:ln>
        </p:spPr>
      </p:sp>
      <p:sp>
        <p:nvSpPr>
          <p:cNvPr id="123" name="Shape 110"/>
          <p:cNvSpPr/>
          <p:nvPr/>
        </p:nvSpPr>
        <p:spPr>
          <a:xfrm>
            <a:off x="5504688" y="3639312"/>
            <a:ext cx="384048" cy="384048"/>
          </a:xfrm>
          <a:prstGeom prst="ellipse">
            <a:avLst/>
          </a:prstGeom>
          <a:solidFill>
            <a:srgbClr val="9D5CFF">
              <a:alpha val="20000"/>
            </a:srgbClr>
          </a:solidFill>
          <a:ln w="12700">
            <a:solidFill>
              <a:srgbClr val="9D5CFF"/>
            </a:solidFill>
            <a:prstDash val="solid"/>
          </a:ln>
        </p:spPr>
      </p:sp>
      <p:pic>
        <p:nvPicPr>
          <p:cNvPr id="1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5272" y="3739896"/>
            <a:ext cx="182880" cy="182880"/>
          </a:xfrm>
          <a:prstGeom prst="rect">
            <a:avLst/>
          </a:prstGeom>
        </p:spPr>
      </p:pic>
      <p:sp>
        <p:nvSpPr>
          <p:cNvPr id="125" name="Text 111"/>
          <p:cNvSpPr/>
          <p:nvPr/>
        </p:nvSpPr>
        <p:spPr>
          <a:xfrm>
            <a:off x="5989320" y="35661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Break it before staging.</a:t>
            </a:r>
            <a:endParaRPr lang="en-US" sz="1200" dirty="0"/>
          </a:p>
        </p:txBody>
      </p:sp>
      <p:sp>
        <p:nvSpPr>
          <p:cNvPr id="126" name="Text 112"/>
          <p:cNvSpPr/>
          <p:nvPr/>
        </p:nvSpPr>
        <p:spPr>
          <a:xfrm>
            <a:off x="5989320" y="380390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B3D8"/>
                </a:solidFill>
              </a:rPr>
              <a:t>Litmus Chaos injects failures in CI. Define hypothesis. Pipeline proves it.</a:t>
            </a:r>
            <a:endParaRPr lang="en-US" sz="800" dirty="0"/>
          </a:p>
        </p:txBody>
      </p:sp>
      <p:sp>
        <p:nvSpPr>
          <p:cNvPr id="127" name="Shape 113"/>
          <p:cNvSpPr/>
          <p:nvPr/>
        </p:nvSpPr>
        <p:spPr>
          <a:xfrm>
            <a:off x="5989320" y="3986784"/>
            <a:ext cx="2907792" cy="164592"/>
          </a:xfrm>
          <a:prstGeom prst="rect">
            <a:avLst/>
          </a:prstGeom>
          <a:solidFill>
            <a:srgbClr val="9D5CFF">
              <a:alpha val="10000"/>
            </a:srgbClr>
          </a:solidFill>
          <a:ln w="12700">
            <a:solidFill>
              <a:srgbClr val="9D5CFF">
                <a:alpha val="20000"/>
              </a:srgbClr>
            </a:solidFill>
            <a:prstDash val="solid"/>
          </a:ln>
        </p:spPr>
      </p:sp>
      <p:sp>
        <p:nvSpPr>
          <p:cNvPr id="128" name="Text 114"/>
          <p:cNvSpPr/>
          <p:nvPr/>
        </p:nvSpPr>
        <p:spPr>
          <a:xfrm>
            <a:off x="6016752" y="39867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5CFF"/>
                </a:solidFill>
              </a:rPr>
              <a:t>Chaos Engineering  ·  Litmus · Argo</a:t>
            </a:r>
            <a:endParaRPr lang="en-US" sz="650" dirty="0"/>
          </a:p>
        </p:txBody>
      </p:sp>
      <p:sp>
        <p:nvSpPr>
          <p:cNvPr id="129" name="Shape 115"/>
          <p:cNvSpPr/>
          <p:nvPr/>
        </p:nvSpPr>
        <p:spPr>
          <a:xfrm>
            <a:off x="5394960" y="4242816"/>
            <a:ext cx="3584448" cy="640080"/>
          </a:xfrm>
          <a:prstGeom prst="rect">
            <a:avLst/>
          </a:prstGeom>
          <a:solidFill>
            <a:srgbClr val="1E1850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0" name="Shape 116"/>
          <p:cNvSpPr/>
          <p:nvPr/>
        </p:nvSpPr>
        <p:spPr>
          <a:xfrm>
            <a:off x="5394960" y="4242816"/>
            <a:ext cx="54864" cy="640080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31" name="Shape 117"/>
          <p:cNvSpPr/>
          <p:nvPr/>
        </p:nvSpPr>
        <p:spPr>
          <a:xfrm>
            <a:off x="5504688" y="4352544"/>
            <a:ext cx="384048" cy="384048"/>
          </a:xfrm>
          <a:prstGeom prst="ellipse">
            <a:avLst/>
          </a:prstGeom>
          <a:solidFill>
            <a:srgbClr val="FFB830">
              <a:alpha val="20000"/>
            </a:srgbClr>
          </a:solidFill>
          <a:ln w="12700">
            <a:solidFill>
              <a:srgbClr val="FFB830"/>
            </a:solidFill>
            <a:prstDash val="solid"/>
          </a:ln>
        </p:spPr>
      </p:sp>
      <p:pic>
        <p:nvPicPr>
          <p:cNvPr id="1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5272" y="4453128"/>
            <a:ext cx="182880" cy="182880"/>
          </a:xfrm>
          <a:prstGeom prst="rect">
            <a:avLst/>
          </a:prstGeom>
        </p:spPr>
      </p:pic>
      <p:sp>
        <p:nvSpPr>
          <p:cNvPr id="133" name="Text 118"/>
          <p:cNvSpPr/>
          <p:nvPr/>
        </p:nvSpPr>
        <p:spPr>
          <a:xfrm>
            <a:off x="5989320" y="427939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contract first. Always.</a:t>
            </a:r>
            <a:endParaRPr lang="en-US" sz="1200" dirty="0"/>
          </a:p>
        </p:txBody>
      </p:sp>
      <p:sp>
        <p:nvSpPr>
          <p:cNvPr id="134" name="Text 119"/>
          <p:cNvSpPr/>
          <p:nvPr/>
        </p:nvSpPr>
        <p:spPr>
          <a:xfrm>
            <a:off x="5989320" y="451713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EB3D8"/>
                </a:solidFill>
              </a:rPr>
              <a:t>Write OAS3 spec. Kong auto-generates auth, rate-limits, mTLS. Ship in hours.</a:t>
            </a:r>
            <a:endParaRPr lang="en-US" sz="800" dirty="0"/>
          </a:p>
        </p:txBody>
      </p:sp>
      <p:sp>
        <p:nvSpPr>
          <p:cNvPr id="135" name="Shape 120"/>
          <p:cNvSpPr/>
          <p:nvPr/>
        </p:nvSpPr>
        <p:spPr>
          <a:xfrm>
            <a:off x="5989320" y="4700016"/>
            <a:ext cx="2907792" cy="164592"/>
          </a:xfrm>
          <a:prstGeom prst="rect">
            <a:avLst/>
          </a:prstGeom>
          <a:solidFill>
            <a:srgbClr val="FFB830">
              <a:alpha val="10000"/>
            </a:srgbClr>
          </a:solidFill>
          <a:ln w="12700">
            <a:solidFill>
              <a:srgbClr val="FFB830">
                <a:alpha val="20000"/>
              </a:srgbClr>
            </a:solidFill>
            <a:prstDash val="solid"/>
          </a:ln>
        </p:spPr>
      </p:sp>
      <p:sp>
        <p:nvSpPr>
          <p:cNvPr id="136" name="Text 121"/>
          <p:cNvSpPr/>
          <p:nvPr/>
        </p:nvSpPr>
        <p:spPr>
          <a:xfrm>
            <a:off x="6016752" y="47000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B830"/>
                </a:solidFill>
              </a:rPr>
              <a:t>Kong Gateway  ·  Konnect · OAS3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2026-06-09T07:32:04Z</dcterms:created>
  <dcterms:modified xsi:type="dcterms:W3CDTF">2026-06-09T07:32:04Z</dcterms:modified>
</cp:coreProperties>
</file>