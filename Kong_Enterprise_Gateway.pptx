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"/>
            <a:ext cx="8686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FB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Paysafe  —  Kong API Gateway + AI Gateway  ·  Enterprise Fully Managed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301752"/>
            <a:ext cx="10972800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API &amp; AI Traffic  ·  Multi-Region Data Planes  ·  Outbound Routing  ·  On-Premise Canada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28016" y="566928"/>
            <a:ext cx="274320" cy="274320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" y="566928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2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" y="512064"/>
            <a:ext cx="11942064" cy="566928"/>
          </a:xfrm>
          <a:prstGeom prst="rect">
            <a:avLst/>
          </a:prstGeom>
          <a:solidFill>
            <a:srgbClr val="5A28F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512064"/>
            <a:ext cx="40233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1FB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⬡  KONG KONNECT  —  Fully Managed Control Plane  (SaaS)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548640"/>
            <a:ext cx="3474720" cy="493776"/>
          </a:xfrm>
          <a:prstGeom prst="rect">
            <a:avLst/>
          </a:prstGeom>
          <a:solidFill>
            <a:srgbClr val="1A0850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681728" y="731520"/>
            <a:ext cx="34198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 ·  OAuth2 / JWT  ·  Rate Limiting  ·  Routing  ·  Plugin Hub  ·  GitOps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321040" y="548640"/>
            <a:ext cx="3694176" cy="493776"/>
          </a:xfrm>
          <a:prstGeom prst="rect">
            <a:avLst/>
          </a:prstGeom>
          <a:solidFill>
            <a:srgbClr val="1A0440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548640"/>
            <a:ext cx="10058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339328" y="731520"/>
            <a:ext cx="36393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Routing  ·  Provider Fallback  ·  PII Guard  ·  Spend Control  ·  Prompt Guardrails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8016" y="1234440"/>
            <a:ext cx="274320" cy="274320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2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" y="1152144"/>
            <a:ext cx="11942064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 w="6350">
            <a:solidFill>
              <a:srgbClr val="66666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0" y="1161288"/>
            <a:ext cx="10058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554480" y="1188720"/>
            <a:ext cx="1901952" cy="347472"/>
          </a:xfrm>
          <a:prstGeom prst="roundRect">
            <a:avLst>
              <a:gd name="adj" fmla="val 34211"/>
            </a:avLst>
          </a:prstGeom>
          <a:solidFill>
            <a:srgbClr val="0D08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1188720"/>
            <a:ext cx="190195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67328" y="1188720"/>
            <a:ext cx="1901952" cy="347472"/>
          </a:xfrm>
          <a:prstGeom prst="roundRect">
            <a:avLst>
              <a:gd name="adj" fmla="val 34211"/>
            </a:avLst>
          </a:prstGeom>
          <a:solidFill>
            <a:srgbClr val="0D08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1188720"/>
            <a:ext cx="190195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80176" y="1188720"/>
            <a:ext cx="1901952" cy="347472"/>
          </a:xfrm>
          <a:prstGeom prst="roundRect">
            <a:avLst>
              <a:gd name="adj" fmla="val 34211"/>
            </a:avLst>
          </a:prstGeom>
          <a:solidFill>
            <a:srgbClr val="0D084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0176" y="1188720"/>
            <a:ext cx="190195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iGaming / B2B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93024" y="1188720"/>
            <a:ext cx="1901952" cy="347472"/>
          </a:xfrm>
          <a:prstGeom prst="roundRect">
            <a:avLst>
              <a:gd name="adj" fmla="val 34211"/>
            </a:avLst>
          </a:prstGeom>
          <a:solidFill>
            <a:srgbClr val="0D0840"/>
          </a:solidFill>
          <a:ln w="889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1188720"/>
            <a:ext cx="190195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72768" y="1572768"/>
            <a:ext cx="822960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API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29600" y="1572768"/>
            <a:ext cx="731520" cy="1463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AI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28016" y="1783080"/>
            <a:ext cx="274320" cy="274320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2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9728" y="1700784"/>
            <a:ext cx="11942064" cy="2706624"/>
          </a:xfrm>
          <a:prstGeom prst="rect">
            <a:avLst/>
          </a:prstGeom>
          <a:solidFill>
            <a:srgbClr val="FFFFFF">
              <a:alpha val="3000"/>
            </a:srgbClr>
          </a:solidFill>
          <a:ln w="13970">
            <a:solidFill>
              <a:srgbClr val="5A28FE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38912" y="1700784"/>
            <a:ext cx="115214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1FB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KONG MANAGED DATA PLANES  —  API Gateway + AI Gateway  ·  AWS Multi-Region  ·  EKS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9728" y="1956816"/>
            <a:ext cx="2985516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" y="1956816"/>
            <a:ext cx="298551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ca-central-1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602486" y="1078992"/>
            <a:ext cx="0" cy="621792"/>
          </a:xfrm>
          <a:prstGeom prst="line">
            <a:avLst/>
          </a:prstGeom>
          <a:noFill/>
          <a:ln w="8890">
            <a:solidFill>
              <a:srgbClr val="3B82F6"/>
            </a:solidFill>
            <a:prstDash val="sysDot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095244" y="1956816"/>
            <a:ext cx="2985516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5244" y="1956816"/>
            <a:ext cx="298551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ca-west-1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95244" y="1956816"/>
            <a:ext cx="0" cy="2450592"/>
          </a:xfrm>
          <a:prstGeom prst="line">
            <a:avLst/>
          </a:prstGeom>
          <a:noFill/>
          <a:ln w="7620">
            <a:solidFill>
              <a:srgbClr val="222244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588002" y="1078992"/>
            <a:ext cx="0" cy="621792"/>
          </a:xfrm>
          <a:prstGeom prst="line">
            <a:avLst/>
          </a:prstGeom>
          <a:noFill/>
          <a:ln w="8890">
            <a:solidFill>
              <a:srgbClr val="A855F7"/>
            </a:solidFill>
            <a:prstDash val="sysDot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080760" y="1956816"/>
            <a:ext cx="2985516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80760" y="1956816"/>
            <a:ext cx="298551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80760" y="1956816"/>
            <a:ext cx="0" cy="2450592"/>
          </a:xfrm>
          <a:prstGeom prst="line">
            <a:avLst/>
          </a:prstGeom>
          <a:noFill/>
          <a:ln w="7620">
            <a:solidFill>
              <a:srgbClr val="222244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7573518" y="1078992"/>
            <a:ext cx="0" cy="621792"/>
          </a:xfrm>
          <a:prstGeom prst="line">
            <a:avLst/>
          </a:prstGeom>
          <a:noFill/>
          <a:ln w="8890">
            <a:solidFill>
              <a:srgbClr val="F59E0B"/>
            </a:solidFill>
            <a:prstDash val="sysDot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066276" y="1956816"/>
            <a:ext cx="2985516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66276" y="1956816"/>
            <a:ext cx="2985516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eu-west-1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9066276" y="1956816"/>
            <a:ext cx="0" cy="2450592"/>
          </a:xfrm>
          <a:prstGeom prst="line">
            <a:avLst/>
          </a:prstGeom>
          <a:noFill/>
          <a:ln w="7620">
            <a:solidFill>
              <a:srgbClr val="222244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0559034" y="1078992"/>
            <a:ext cx="0" cy="621792"/>
          </a:xfrm>
          <a:prstGeom prst="line">
            <a:avLst/>
          </a:prstGeom>
          <a:noFill/>
          <a:ln w="8890">
            <a:solidFill>
              <a:srgbClr val="06B6D4"/>
            </a:solidFill>
            <a:prstDash val="sysDot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64592" y="2212848"/>
            <a:ext cx="11832336" cy="512064"/>
          </a:xfrm>
          <a:prstGeom prst="rect">
            <a:avLst/>
          </a:prstGeom>
          <a:solidFill>
            <a:srgbClr val="0E0550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9456" y="2286000"/>
            <a:ext cx="420624" cy="201168"/>
          </a:xfrm>
          <a:prstGeom prst="roundRect">
            <a:avLst>
              <a:gd name="adj" fmla="val 59091"/>
            </a:avLst>
          </a:prstGeom>
          <a:solidFill>
            <a:srgbClr val="0A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9456" y="2286000"/>
            <a:ext cx="42062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6656" y="2304288"/>
            <a:ext cx="11247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·  Inbound &amp; Outbound  ·  mTLS  ·  Rate Limiting  ·  OAuth2 / JWT  ·  Routing  ·  Load Balancing  ·  Health Checks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4592" y="2651760"/>
            <a:ext cx="2985516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50108" y="2651760"/>
            <a:ext cx="2985516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35624" y="2651760"/>
            <a:ext cx="2985516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21140" y="2651760"/>
            <a:ext cx="2985516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4592" y="2761488"/>
            <a:ext cx="11832336" cy="512064"/>
          </a:xfrm>
          <a:prstGeom prst="rect">
            <a:avLst/>
          </a:prstGeom>
          <a:solidFill>
            <a:srgbClr val="180840"/>
          </a:solidFill>
          <a:ln w="8890">
            <a:solidFill>
              <a:srgbClr val="A855F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9456" y="2834640"/>
            <a:ext cx="420624" cy="201168"/>
          </a:xfrm>
          <a:prstGeom prst="roundRect">
            <a:avLst>
              <a:gd name="adj" fmla="val 59091"/>
            </a:avLst>
          </a:prstGeom>
          <a:solidFill>
            <a:srgbClr val="4C1D9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19456" y="2834640"/>
            <a:ext cx="42062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76656" y="2852928"/>
            <a:ext cx="8686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 ·  LLM Routing  ·  Model Fallback  ·  PII Guard  ·  Spend Control  ·  Prompt Guardrails  ·  Per-App Rate Limit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473184" y="2852928"/>
            <a:ext cx="2468880" cy="329184"/>
          </a:xfrm>
          <a:prstGeom prst="roundRect">
            <a:avLst>
              <a:gd name="adj" fmla="val 36111"/>
            </a:avLst>
          </a:prstGeom>
          <a:solidFill>
            <a:srgbClr val="0D084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473184" y="2852928"/>
            <a:ext cx="2468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Enabled:  ca-central-1  ·  us-east-1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64592" y="3200400"/>
            <a:ext cx="2985516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50108" y="3200400"/>
            <a:ext cx="2985516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35624" y="3200400"/>
            <a:ext cx="2985516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21140" y="3200400"/>
            <a:ext cx="2985516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4592" y="3310128"/>
            <a:ext cx="11832336" cy="402336"/>
          </a:xfrm>
          <a:prstGeom prst="rect">
            <a:avLst/>
          </a:prstGeom>
          <a:solidFill>
            <a:srgbClr val="050A20"/>
          </a:solidFill>
          <a:ln w="6350">
            <a:solidFill>
              <a:srgbClr val="5A28F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19456" y="3383280"/>
            <a:ext cx="402336" cy="182880"/>
          </a:xfrm>
          <a:prstGeom prst="roundRect">
            <a:avLst>
              <a:gd name="adj" fmla="val 65000"/>
            </a:avLst>
          </a:prstGeom>
          <a:solidFill>
            <a:srgbClr val="1244A0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9456" y="3383280"/>
            <a:ext cx="402336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58368" y="3401568"/>
            <a:ext cx="1106424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DP Pods  ·  Istio Service Mesh  ·  Prometheus  ·  Fluentd  ·  Active-Active across all regions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64592" y="3749040"/>
            <a:ext cx="11832336" cy="457200"/>
          </a:xfrm>
          <a:prstGeom prst="rect">
            <a:avLst/>
          </a:prstGeom>
          <a:solidFill>
            <a:srgbClr val="0A0A0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9456" y="3822192"/>
            <a:ext cx="566928" cy="201168"/>
          </a:xfrm>
          <a:prstGeom prst="roundRect">
            <a:avLst>
              <a:gd name="adj" fmla="val 59091"/>
            </a:avLst>
          </a:prstGeom>
          <a:solidFill>
            <a:srgbClr val="7A4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19456" y="3822192"/>
            <a:ext cx="566928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22960" y="3840480"/>
            <a:ext cx="85953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 ·  Region-Based Egress  ·  Routing to 3rd-Party APIs  ·  SWIFT / Banking Rails  ·  Partner SaaS  ·  On-Premise Canada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473184" y="3822192"/>
            <a:ext cx="11832336" cy="0"/>
          </a:xfrm>
          <a:prstGeom prst="roundRect">
            <a:avLst>
              <a:gd name="adj" fmla="val Infinity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82328" y="3822192"/>
            <a:ext cx="11832336" cy="0"/>
          </a:xfrm>
          <a:prstGeom prst="roundRect">
            <a:avLst>
              <a:gd name="adj" fmla="val Infinity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91472" y="3822192"/>
            <a:ext cx="11832336" cy="0"/>
          </a:xfrm>
          <a:prstGeom prst="roundRect">
            <a:avLst>
              <a:gd name="adj" fmla="val Infinity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051792" y="3858768"/>
            <a:ext cx="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12051792" y="3986784"/>
            <a:ext cx="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2051792" y="4114800"/>
            <a:ext cx="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164592" y="4242816"/>
            <a:ext cx="11832336" cy="201168"/>
          </a:xfrm>
          <a:prstGeom prst="roundRect">
            <a:avLst>
              <a:gd name="adj" fmla="val 59091"/>
            </a:avLst>
          </a:prstGeom>
          <a:solidFill>
            <a:srgbClr val="0A2210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4592" y="4242816"/>
            <a:ext cx="11832336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On-Premise Canada  (ca-central-1 + ca-west-1  via AWS PrivateLink + Site-to-Site VPN)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542032" y="1609344"/>
            <a:ext cx="0" cy="9144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4754880" y="1609344"/>
            <a:ext cx="0" cy="9144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6967728" y="1609344"/>
            <a:ext cx="0" cy="9144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9144000" y="1609344"/>
            <a:ext cx="0" cy="91440"/>
          </a:xfrm>
          <a:prstGeom prst="line">
            <a:avLst/>
          </a:prstGeom>
          <a:noFill/>
          <a:ln w="15240">
            <a:solidFill>
              <a:srgbClr val="A855F7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11064240" y="3776472"/>
            <a:ext cx="1051560" cy="128016"/>
          </a:xfrm>
          <a:prstGeom prst="roundRect">
            <a:avLst>
              <a:gd name="adj" fmla="val 92857"/>
            </a:avLst>
          </a:prstGeom>
          <a:solidFill>
            <a:srgbClr val="0D0840"/>
          </a:solidFill>
          <a:ln w="6350">
            <a:solidFill>
              <a:srgbClr val="E1FBB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064240" y="3785616"/>
            <a:ext cx="1042416" cy="118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APIs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11064240" y="3922776"/>
            <a:ext cx="1051560" cy="128016"/>
          </a:xfrm>
          <a:prstGeom prst="roundRect">
            <a:avLst>
              <a:gd name="adj" fmla="val 92857"/>
            </a:avLst>
          </a:prstGeom>
          <a:solidFill>
            <a:srgbClr val="0D0840"/>
          </a:solidFill>
          <a:ln w="6350">
            <a:solidFill>
              <a:srgbClr val="E1FBB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1064240" y="3922776"/>
            <a:ext cx="1042416" cy="118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Banking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1064240" y="4069080"/>
            <a:ext cx="1051560" cy="128016"/>
          </a:xfrm>
          <a:prstGeom prst="roundRect">
            <a:avLst>
              <a:gd name="adj" fmla="val 92857"/>
            </a:avLst>
          </a:prstGeom>
          <a:solidFill>
            <a:srgbClr val="0D0840"/>
          </a:solidFill>
          <a:ln w="6350">
            <a:solidFill>
              <a:srgbClr val="E1FBB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1064240" y="4059936"/>
            <a:ext cx="1042416" cy="118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SaaS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11996928" y="3977640"/>
            <a:ext cx="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128016" y="4590288"/>
            <a:ext cx="274320" cy="274320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28016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2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109728" y="4480560"/>
            <a:ext cx="5888736" cy="1572768"/>
          </a:xfrm>
          <a:prstGeom prst="rect">
            <a:avLst/>
          </a:prstGeom>
          <a:solidFill>
            <a:srgbClr val="FFFFFF">
              <a:alpha val="3000"/>
            </a:srgbClr>
          </a:solidFill>
          <a:ln w="13970">
            <a:solidFill>
              <a:srgbClr val="22C55E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109728" y="4480560"/>
            <a:ext cx="5888736" cy="256032"/>
          </a:xfrm>
          <a:prstGeom prst="rect">
            <a:avLst/>
          </a:prstGeom>
          <a:solidFill>
            <a:srgbClr val="0A221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9728" y="4480560"/>
            <a:ext cx="5888736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 CANADA  —  Toronto DC  +  Vancouver DC  ·  EKS Anywhere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82880" y="4773168"/>
            <a:ext cx="2688336" cy="1207008"/>
          </a:xfrm>
          <a:prstGeom prst="rect">
            <a:avLst/>
          </a:prstGeom>
          <a:solidFill>
            <a:srgbClr val="FFFFFF">
              <a:alpha val="3000"/>
            </a:srgbClr>
          </a:solidFill>
          <a:ln w="7620">
            <a:solidFill>
              <a:srgbClr val="22C55E"/>
            </a:solidFill>
            <a:prstDash val="dash"/>
          </a:ln>
        </p:spPr>
      </p:sp>
      <p:sp>
        <p:nvSpPr>
          <p:cNvPr id="99" name="Text 97"/>
          <p:cNvSpPr/>
          <p:nvPr/>
        </p:nvSpPr>
        <p:spPr>
          <a:xfrm>
            <a:off x="237744" y="4791456"/>
            <a:ext cx="261518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DC  ·  EKS Anywhere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56032" y="5010912"/>
            <a:ext cx="2542032" cy="274320"/>
          </a:xfrm>
          <a:prstGeom prst="rect">
            <a:avLst/>
          </a:prstGeom>
          <a:solidFill>
            <a:srgbClr val="1E0A80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56032" y="5010912"/>
            <a:ext cx="25420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  ·  API Gateway + Service Mesh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56032" y="5321808"/>
            <a:ext cx="512064" cy="201168"/>
          </a:xfrm>
          <a:prstGeom prst="roundRect">
            <a:avLst>
              <a:gd name="adj" fmla="val 59091"/>
            </a:avLst>
          </a:prstGeom>
          <a:solidFill>
            <a:srgbClr val="082010"/>
          </a:solidFill>
          <a:ln w="5080">
            <a:solidFill>
              <a:srgbClr val="22C55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6032" y="5321808"/>
            <a:ext cx="51206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0F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EKS⚡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804672" y="5321808"/>
            <a:ext cx="197510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Netbanx Core  ·  Risk Engine  ·  Payment Svc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56032" y="5559552"/>
            <a:ext cx="2542032" cy="201168"/>
          </a:xfrm>
          <a:prstGeom prst="rect">
            <a:avLst/>
          </a:prstGeom>
          <a:solidFill>
            <a:srgbClr val="050A10"/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6032" y="5559552"/>
            <a:ext cx="25420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PrivateLink + VPN  →  ca-central-1  ·  ca-west-1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527048" y="1078992"/>
            <a:ext cx="0" cy="3401568"/>
          </a:xfrm>
          <a:prstGeom prst="line">
            <a:avLst/>
          </a:prstGeom>
          <a:noFill/>
          <a:ln w="8890">
            <a:solidFill>
              <a:srgbClr val="22C55E"/>
            </a:solidFill>
            <a:prstDash val="sysDot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3090672" y="4773168"/>
            <a:ext cx="2688336" cy="1207008"/>
          </a:xfrm>
          <a:prstGeom prst="rect">
            <a:avLst/>
          </a:prstGeom>
          <a:solidFill>
            <a:srgbClr val="FFFFFF">
              <a:alpha val="3000"/>
            </a:srgbClr>
          </a:solidFill>
          <a:ln w="7620">
            <a:solidFill>
              <a:srgbClr val="16A34A"/>
            </a:solidFill>
            <a:prstDash val="dash"/>
          </a:ln>
        </p:spPr>
      </p:sp>
      <p:sp>
        <p:nvSpPr>
          <p:cNvPr id="109" name="Text 107"/>
          <p:cNvSpPr/>
          <p:nvPr/>
        </p:nvSpPr>
        <p:spPr>
          <a:xfrm>
            <a:off x="3145536" y="4791456"/>
            <a:ext cx="261518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Vancouver DC  ·  EKS Anywhere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3163824" y="5010912"/>
            <a:ext cx="2542032" cy="274320"/>
          </a:xfrm>
          <a:prstGeom prst="rect">
            <a:avLst/>
          </a:prstGeom>
          <a:solidFill>
            <a:srgbClr val="1E0A80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163824" y="5010912"/>
            <a:ext cx="254203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DATA PLANE  ·  API Gateway + AI Gateway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3163824" y="5321808"/>
            <a:ext cx="512064" cy="201168"/>
          </a:xfrm>
          <a:prstGeom prst="roundRect">
            <a:avLst>
              <a:gd name="adj" fmla="val 59091"/>
            </a:avLst>
          </a:prstGeom>
          <a:solidFill>
            <a:srgbClr val="082010"/>
          </a:solidFill>
          <a:ln w="5080">
            <a:solidFill>
              <a:srgbClr val="16A34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163824" y="5321808"/>
            <a:ext cx="51206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0F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EKS⚡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3712464" y="5321808"/>
            <a:ext cx="1975104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API  ·  Compliance  ·  Wallet Svc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3163824" y="5559552"/>
            <a:ext cx="2542032" cy="201168"/>
          </a:xfrm>
          <a:prstGeom prst="rect">
            <a:avLst/>
          </a:prstGeom>
          <a:solidFill>
            <a:srgbClr val="050A10"/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163824" y="5559552"/>
            <a:ext cx="2542032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PrivateLink + VPN  →  ca-central-1  ·  ca-west-1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4434840" y="1078992"/>
            <a:ext cx="0" cy="3401568"/>
          </a:xfrm>
          <a:prstGeom prst="line">
            <a:avLst/>
          </a:prstGeom>
          <a:noFill/>
          <a:ln w="8890">
            <a:solidFill>
              <a:srgbClr val="16A34A"/>
            </a:solidFill>
            <a:prstDash val="sysDot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6126480" y="4590288"/>
            <a:ext cx="274320" cy="274320"/>
          </a:xfrm>
          <a:prstGeom prst="ellipse">
            <a:avLst/>
          </a:prstGeom>
          <a:solidFill>
            <a:srgbClr val="E1FBBE"/>
          </a:solidFill>
          <a:ln w="12700">
            <a:solidFill>
              <a:srgbClr val="E1FBB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2648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28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6108192" y="4480560"/>
            <a:ext cx="5943600" cy="1572768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5A28FE"/>
            </a:solidFill>
            <a:prstDash val="dash"/>
          </a:ln>
        </p:spPr>
      </p:sp>
      <p:sp>
        <p:nvSpPr>
          <p:cNvPr id="121" name="Shape 119"/>
          <p:cNvSpPr/>
          <p:nvPr/>
        </p:nvSpPr>
        <p:spPr>
          <a:xfrm>
            <a:off x="6108192" y="4480560"/>
            <a:ext cx="5943600" cy="256032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108192" y="4480560"/>
            <a:ext cx="5943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PAYSAFE ENTERPRISE MICROSERVICES  —  AWS EKS  +  On-Premise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6199632" y="4791456"/>
            <a:ext cx="646938" cy="1078992"/>
          </a:xfrm>
          <a:prstGeom prst="rect">
            <a:avLst/>
          </a:prstGeom>
          <a:solidFill>
            <a:srgbClr val="0D0840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99632" y="4791456"/>
            <a:ext cx="64693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6919722" y="4791456"/>
            <a:ext cx="646938" cy="1078992"/>
          </a:xfrm>
          <a:prstGeom prst="rect">
            <a:avLst/>
          </a:prstGeom>
          <a:solidFill>
            <a:srgbClr val="0D0840"/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919722" y="4791456"/>
            <a:ext cx="64693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639812" y="4791456"/>
            <a:ext cx="646938" cy="1078992"/>
          </a:xfrm>
          <a:prstGeom prst="rect">
            <a:avLst/>
          </a:prstGeom>
          <a:solidFill>
            <a:srgbClr val="0D0840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639812" y="4791456"/>
            <a:ext cx="64693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8359902" y="4791456"/>
            <a:ext cx="646938" cy="1078992"/>
          </a:xfrm>
          <a:prstGeom prst="rect">
            <a:avLst/>
          </a:prstGeom>
          <a:solidFill>
            <a:srgbClr val="0D0840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359902" y="4791456"/>
            <a:ext cx="64693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9079992" y="4791456"/>
            <a:ext cx="646938" cy="1078992"/>
          </a:xfrm>
          <a:prstGeom prst="rect">
            <a:avLst/>
          </a:prstGeom>
          <a:solidFill>
            <a:srgbClr val="0D0840"/>
          </a:solidFill>
          <a:ln w="7620">
            <a:solidFill>
              <a:srgbClr val="A855F7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079992" y="4791456"/>
            <a:ext cx="64693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iGaming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9800082" y="4791456"/>
            <a:ext cx="646938" cy="1078992"/>
          </a:xfrm>
          <a:prstGeom prst="rect">
            <a:avLst/>
          </a:prstGeom>
          <a:solidFill>
            <a:srgbClr val="0D0840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800082" y="4791456"/>
            <a:ext cx="64693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10520172" y="4791456"/>
            <a:ext cx="646938" cy="1078992"/>
          </a:xfrm>
          <a:prstGeom prst="rect">
            <a:avLst/>
          </a:prstGeom>
          <a:solidFill>
            <a:srgbClr val="0D0840"/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520172" y="4791456"/>
            <a:ext cx="64693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11240262" y="4791456"/>
            <a:ext cx="646938" cy="1078992"/>
          </a:xfrm>
          <a:prstGeom prst="rect">
            <a:avLst/>
          </a:prstGeom>
          <a:solidFill>
            <a:srgbClr val="0D0840"/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1240262" y="4791456"/>
            <a:ext cx="646938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6080760" y="4407408"/>
            <a:ext cx="0" cy="73152"/>
          </a:xfrm>
          <a:prstGeom prst="line">
            <a:avLst/>
          </a:prstGeom>
          <a:noFill/>
          <a:ln w="13970">
            <a:solidFill>
              <a:srgbClr val="5A28FE"/>
            </a:solidFill>
            <a:prstDash val="solid"/>
            <a:headEnd type="triangle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5998464" y="5266944"/>
            <a:ext cx="109728" cy="0"/>
          </a:xfrm>
          <a:prstGeom prst="line">
            <a:avLst/>
          </a:prstGeom>
          <a:noFill/>
          <a:ln w="13970">
            <a:solidFill>
              <a:srgbClr val="E1FBBE"/>
            </a:solidFill>
            <a:prstDash val="solid"/>
            <a:headEnd type="triangle"/>
            <a:tailEnd type="triangle"/>
          </a:ln>
        </p:spPr>
      </p:sp>
      <p:sp>
        <p:nvSpPr>
          <p:cNvPr id="141" name="Text 139"/>
          <p:cNvSpPr/>
          <p:nvPr/>
        </p:nvSpPr>
        <p:spPr>
          <a:xfrm>
            <a:off x="6089904" y="5120640"/>
            <a:ext cx="82296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11064240" y="3767328"/>
            <a:ext cx="1042416" cy="128016"/>
          </a:xfrm>
          <a:prstGeom prst="roundRect">
            <a:avLst>
              <a:gd name="adj" fmla="val 92857"/>
            </a:avLst>
          </a:prstGeom>
          <a:solidFill>
            <a:srgbClr val="0D0840"/>
          </a:solidFill>
          <a:ln w="6350">
            <a:solidFill>
              <a:srgbClr val="E1FBBE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064240" y="3767328"/>
            <a:ext cx="1042416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APIs</a:t>
            </a:r>
            <a:endParaRPr lang="en-US" sz="650" dirty="0"/>
          </a:p>
        </p:txBody>
      </p:sp>
      <p:sp>
        <p:nvSpPr>
          <p:cNvPr id="144" name="Shape 142"/>
          <p:cNvSpPr/>
          <p:nvPr/>
        </p:nvSpPr>
        <p:spPr>
          <a:xfrm>
            <a:off x="11064240" y="3922776"/>
            <a:ext cx="1042416" cy="128016"/>
          </a:xfrm>
          <a:prstGeom prst="roundRect">
            <a:avLst>
              <a:gd name="adj" fmla="val 92857"/>
            </a:avLst>
          </a:prstGeom>
          <a:solidFill>
            <a:srgbClr val="0D0840"/>
          </a:solidFill>
          <a:ln w="6350">
            <a:solidFill>
              <a:srgbClr val="E1FBBE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1064240" y="3922776"/>
            <a:ext cx="1042416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Banking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11064240" y="4078224"/>
            <a:ext cx="1042416" cy="128016"/>
          </a:xfrm>
          <a:prstGeom prst="roundRect">
            <a:avLst>
              <a:gd name="adj" fmla="val 92857"/>
            </a:avLst>
          </a:prstGeom>
          <a:solidFill>
            <a:srgbClr val="0D0840"/>
          </a:solidFill>
          <a:ln w="6350">
            <a:solidFill>
              <a:srgbClr val="E1FBBE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1064240" y="4078224"/>
            <a:ext cx="1042416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SaaS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11996928" y="3977640"/>
            <a:ext cx="109728" cy="0"/>
          </a:xfrm>
          <a:prstGeom prst="line">
            <a:avLst/>
          </a:prstGeom>
          <a:noFill/>
          <a:ln w="1143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49" name="Text 147"/>
          <p:cNvSpPr/>
          <p:nvPr/>
        </p:nvSpPr>
        <p:spPr>
          <a:xfrm>
            <a:off x="11064240" y="3621024"/>
            <a:ext cx="1042416" cy="12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109728" y="6108192"/>
            <a:ext cx="11942064" cy="182880"/>
          </a:xfrm>
          <a:prstGeom prst="rect">
            <a:avLst/>
          </a:prstGeom>
          <a:solidFill>
            <a:srgbClr val="050218"/>
          </a:solidFill>
          <a:ln w="3810">
            <a:solidFill>
              <a:srgbClr val="33336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82880" y="6117336"/>
            <a:ext cx="16916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─▶  API Ingress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1828800" y="6117336"/>
            <a:ext cx="16916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─▶  AI / LLM Traffic</a:t>
            </a:r>
            <a:endParaRPr lang="en-US" sz="750" dirty="0"/>
          </a:p>
        </p:txBody>
      </p:sp>
      <p:sp>
        <p:nvSpPr>
          <p:cNvPr id="153" name="Text 151"/>
          <p:cNvSpPr/>
          <p:nvPr/>
        </p:nvSpPr>
        <p:spPr>
          <a:xfrm>
            <a:off x="3474720" y="6117336"/>
            <a:ext cx="16916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─▶  Outbound Egress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5120640" y="6117336"/>
            <a:ext cx="16916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◀─▶  Active-Active (all regions)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7315200" y="6117336"/>
            <a:ext cx="16916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-  Region Boundary</a:t>
            </a:r>
            <a:endParaRPr lang="en-US" sz="750" dirty="0"/>
          </a:p>
        </p:txBody>
      </p:sp>
      <p:sp>
        <p:nvSpPr>
          <p:cNvPr id="156" name="Text 154"/>
          <p:cNvSpPr/>
          <p:nvPr/>
        </p:nvSpPr>
        <p:spPr>
          <a:xfrm>
            <a:off x="9235440" y="6117336"/>
            <a:ext cx="1691640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EKS Anywhere On-Prem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0" y="6327648"/>
            <a:ext cx="12161520" cy="201168"/>
          </a:xfrm>
          <a:prstGeom prst="rect">
            <a:avLst/>
          </a:prstGeom>
          <a:solidFill>
            <a:srgbClr val="5A28FE"/>
          </a:solidFill>
          <a:ln w="12700">
            <a:solidFill>
              <a:srgbClr val="5A28F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0" y="6336792"/>
            <a:ext cx="1216152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1F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PAYSAFE × KONG  |  Enterprise Fully Managed  ·  API Gateway + AI Gateway Only  ·  ca-central-1  ·  ca-west-1  ·  us-east-1  ·  eu-west-1  ·  On-Premise Canada  |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2026-06-06T21:50:29Z</dcterms:created>
  <dcterms:modified xsi:type="dcterms:W3CDTF">2026-06-06T21:50:29Z</dcterms:modified>
</cp:coreProperties>
</file>