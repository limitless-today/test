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2A0FBE"/>
          </a:solidFill>
          <a:ln w="12700">
            <a:solidFill>
              <a:srgbClr val="2A0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743200"/>
            <a:ext cx="3474720" cy="3474720"/>
          </a:xfrm>
          <a:prstGeom prst="ellipse">
            <a:avLst/>
          </a:prstGeom>
          <a:solidFill>
            <a:srgbClr val="5A28FE">
              <a:alpha val="15000"/>
            </a:srgbClr>
          </a:solidFill>
          <a:ln w="12700">
            <a:solidFill>
              <a:srgbClr val="5A28FE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-594360"/>
            <a:ext cx="1371600" cy="1371600"/>
          </a:xfrm>
          <a:prstGeom prst="ellipse">
            <a:avLst/>
          </a:prstGeom>
          <a:solidFill>
            <a:srgbClr val="E1FBBE">
              <a:alpha val="10000"/>
            </a:srgbClr>
          </a:solidFill>
          <a:ln w="12700">
            <a:solidFill>
              <a:srgbClr val="E1FBBE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201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paysafe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81328" y="246888"/>
            <a:ext cx="82296" cy="82296"/>
          </a:xfrm>
          <a:prstGeom prst="ellipse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658368"/>
            <a:ext cx="1371600" cy="9144"/>
          </a:xfrm>
          <a:prstGeom prst="line">
            <a:avLst/>
          </a:prstGeom>
          <a:noFill/>
          <a:ln w="12700">
            <a:solidFill>
              <a:srgbClr val="E1FB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804672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PCNF?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01168" y="215798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E1FBB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PAYSAFE CLOUD</a:t>
            </a:r>
            <a:endParaRPr lang="en-US" sz="750" dirty="0"/>
          </a:p>
          <a:p>
            <a:pPr indent="0" marL="0">
              <a:buNone/>
            </a:pPr>
            <a:r>
              <a:rPr lang="en-US" sz="750" b="1" spc="200" kern="0" dirty="0">
                <a:solidFill>
                  <a:srgbClr val="E1FBB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NATIVE FOUNDATION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01168" y="2715768"/>
            <a:ext cx="2560320" cy="9144"/>
          </a:xfrm>
          <a:prstGeom prst="line">
            <a:avLst/>
          </a:prstGeom>
          <a:noFill/>
          <a:ln w="9525">
            <a:solidFill>
              <a:srgbClr val="E1FBBE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2816352"/>
            <a:ext cx="26974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initiative to build a strong Cloud-Native culture across Paysafe — empowering teams, defining clear best practices, enforcing automated compliance, and enabling continuous improvement at scale.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36392" y="521208"/>
            <a:ext cx="3931920" cy="3931920"/>
          </a:xfrm>
          <a:prstGeom prst="ellipse">
            <a:avLst/>
          </a:prstGeom>
          <a:solidFill>
            <a:srgbClr val="5A28FE">
              <a:alpha val="8000"/>
            </a:srgbClr>
          </a:solidFill>
          <a:ln w="6350">
            <a:solidFill>
              <a:srgbClr val="E1FBBE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64992" y="749808"/>
            <a:ext cx="3474720" cy="3474720"/>
          </a:xfrm>
          <a:prstGeom prst="ellipse">
            <a:avLst/>
          </a:prstGeom>
          <a:solidFill>
            <a:srgbClr val="6A3AEE">
              <a:alpha val="38000"/>
            </a:srgbClr>
          </a:solidFill>
          <a:ln w="12700">
            <a:solidFill>
              <a:srgbClr val="8B62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1133856"/>
            <a:ext cx="2706624" cy="2706624"/>
          </a:xfrm>
          <a:prstGeom prst="ellipse">
            <a:avLst/>
          </a:prstGeom>
          <a:solidFill>
            <a:srgbClr val="2A0FBE"/>
          </a:solidFill>
          <a:ln w="12700">
            <a:solidFill>
              <a:srgbClr val="8B62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02352" y="2487168"/>
            <a:ext cx="1353312" cy="9144"/>
          </a:xfrm>
          <a:prstGeom prst="line">
            <a:avLst/>
          </a:prstGeom>
          <a:noFill/>
          <a:ln w="9525">
            <a:solidFill>
              <a:srgbClr val="8B62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02352" y="2487168"/>
            <a:ext cx="676656" cy="1172003"/>
          </a:xfrm>
          <a:prstGeom prst="line">
            <a:avLst/>
          </a:prstGeom>
          <a:noFill/>
          <a:ln w="9525">
            <a:solidFill>
              <a:srgbClr val="8B62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02352" y="2487168"/>
            <a:ext cx="-676656" cy="1172003"/>
          </a:xfrm>
          <a:prstGeom prst="line">
            <a:avLst/>
          </a:prstGeom>
          <a:noFill/>
          <a:ln w="9525">
            <a:solidFill>
              <a:srgbClr val="8B62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02352" y="2487168"/>
            <a:ext cx="-1353312" cy="9144"/>
          </a:xfrm>
          <a:prstGeom prst="line">
            <a:avLst/>
          </a:prstGeom>
          <a:noFill/>
          <a:ln w="9525">
            <a:solidFill>
              <a:srgbClr val="8B62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02352" y="2487168"/>
            <a:ext cx="-676656" cy="-1172003"/>
          </a:xfrm>
          <a:prstGeom prst="line">
            <a:avLst/>
          </a:prstGeom>
          <a:noFill/>
          <a:ln w="9525">
            <a:solidFill>
              <a:srgbClr val="8B62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02352" y="2487168"/>
            <a:ext cx="676656" cy="-1172003"/>
          </a:xfrm>
          <a:prstGeom prst="line">
            <a:avLst/>
          </a:prstGeom>
          <a:noFill/>
          <a:ln w="9525">
            <a:solidFill>
              <a:srgbClr val="8B6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34596" y="2734056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1F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626864" y="3200400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1F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3819132" y="2734056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1F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E1F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Tolerance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3819132" y="1801368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1F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E1F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Opt.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4626864" y="1335024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1F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E1F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5434596" y="1801368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1F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E1F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Enforce.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4572000" y="1956816"/>
            <a:ext cx="1060704" cy="1060704"/>
          </a:xfrm>
          <a:prstGeom prst="ellipse">
            <a:avLst/>
          </a:prstGeom>
          <a:solidFill>
            <a:srgbClr val="5A28FE"/>
          </a:solidFill>
          <a:ln w="25400">
            <a:solidFill>
              <a:srgbClr val="E1FB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45152" y="2029968"/>
            <a:ext cx="914400" cy="914400"/>
          </a:xfrm>
          <a:prstGeom prst="ellipse">
            <a:avLst/>
          </a:prstGeom>
          <a:solidFill>
            <a:srgbClr val="8B62FF">
              <a:alpha val="45000"/>
            </a:srgbClr>
          </a:solidFill>
          <a:ln w="12700">
            <a:solidFill>
              <a:srgbClr val="8B62FF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6864" y="230428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FBB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PCNF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27384" y="801665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Ops Teams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6010615" y="2623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Architecture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Guild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4241235" y="381714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Engineering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3005369" y="19848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Info Sec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3749040" y="4462272"/>
            <a:ext cx="1115568" cy="237744"/>
          </a:xfrm>
          <a:prstGeom prst="rect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9040" y="446227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A0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PRINCIPLES</a:t>
            </a:r>
            <a:endParaRPr lang="en-US" sz="580" dirty="0"/>
          </a:p>
        </p:txBody>
      </p:sp>
      <p:sp>
        <p:nvSpPr>
          <p:cNvPr id="37" name="Shape 35"/>
          <p:cNvSpPr/>
          <p:nvPr/>
        </p:nvSpPr>
        <p:spPr>
          <a:xfrm>
            <a:off x="4956048" y="4462272"/>
            <a:ext cx="1115568" cy="237744"/>
          </a:xfrm>
          <a:prstGeom prst="rect">
            <a:avLst/>
          </a:prstGeom>
          <a:solidFill>
            <a:srgbClr val="8B62FF"/>
          </a:solidFill>
          <a:ln w="12700">
            <a:solidFill>
              <a:srgbClr val="8B62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446227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STAKEHOLDERS</a:t>
            </a:r>
            <a:endParaRPr lang="en-US" sz="580" dirty="0"/>
          </a:p>
        </p:txBody>
      </p:sp>
      <p:sp>
        <p:nvSpPr>
          <p:cNvPr id="39" name="Shape 37"/>
          <p:cNvSpPr/>
          <p:nvPr/>
        </p:nvSpPr>
        <p:spPr>
          <a:xfrm>
            <a:off x="6163056" y="4462272"/>
            <a:ext cx="1115568" cy="237744"/>
          </a:xfrm>
          <a:prstGeom prst="rect">
            <a:avLst/>
          </a:prstGeom>
          <a:solidFill>
            <a:srgbClr val="6A3AEE"/>
          </a:solidFill>
          <a:ln w="12700">
            <a:solidFill>
              <a:srgbClr val="6A3A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63056" y="446227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WORKSTREAMS</a:t>
            </a:r>
            <a:endParaRPr lang="en-US" sz="580" dirty="0"/>
          </a:p>
        </p:txBody>
      </p:sp>
      <p:sp>
        <p:nvSpPr>
          <p:cNvPr id="41" name="Text 39"/>
          <p:cNvSpPr/>
          <p:nvPr/>
        </p:nvSpPr>
        <p:spPr>
          <a:xfrm>
            <a:off x="6967728" y="182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E1FBB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WORKSTREAMS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967728" y="457200"/>
            <a:ext cx="2011680" cy="9144"/>
          </a:xfrm>
          <a:prstGeom prst="line">
            <a:avLst/>
          </a:prstGeom>
          <a:noFill/>
          <a:ln w="12700">
            <a:solidFill>
              <a:srgbClr val="E1FBB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67728" y="530352"/>
            <a:ext cx="2029968" cy="507492"/>
          </a:xfrm>
          <a:prstGeom prst="rect">
            <a:avLst/>
          </a:prstGeom>
          <a:solidFill>
            <a:srgbClr val="2A0FBE"/>
          </a:solidFill>
          <a:ln w="7620">
            <a:solidFill>
              <a:srgbClr val="8B62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59168" y="612648"/>
            <a:ext cx="338328" cy="338328"/>
          </a:xfrm>
          <a:prstGeom prst="ellipse">
            <a:avLst/>
          </a:prstGeom>
          <a:solidFill>
            <a:srgbClr val="8B62FF"/>
          </a:solidFill>
          <a:ln w="12700">
            <a:solidFill>
              <a:srgbClr val="8B62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59168" y="61264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WS-1</a:t>
            </a:r>
            <a:endParaRPr lang="en-US" sz="520" dirty="0"/>
          </a:p>
        </p:txBody>
      </p:sp>
      <p:sp>
        <p:nvSpPr>
          <p:cNvPr id="46" name="Text 44"/>
          <p:cNvSpPr/>
          <p:nvPr/>
        </p:nvSpPr>
        <p:spPr>
          <a:xfrm>
            <a:off x="7461504" y="576072"/>
            <a:ext cx="15087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Developer-Centric Security &amp;</a:t>
            </a:r>
            <a:endParaRPr lang="en-US" sz="78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Automation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6967728" y="1074420"/>
            <a:ext cx="2029968" cy="507492"/>
          </a:xfrm>
          <a:prstGeom prst="rect">
            <a:avLst/>
          </a:prstGeom>
          <a:solidFill>
            <a:srgbClr val="5A28FE"/>
          </a:solidFill>
          <a:ln w="19050">
            <a:solidFill>
              <a:srgbClr val="E1FBB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67728" y="1074420"/>
            <a:ext cx="54864" cy="507492"/>
          </a:xfrm>
          <a:prstGeom prst="rect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59168" y="1156716"/>
            <a:ext cx="338328" cy="338328"/>
          </a:xfrm>
          <a:prstGeom prst="ellipse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59168" y="115671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1A0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WS-2</a:t>
            </a:r>
            <a:endParaRPr lang="en-US" sz="520" dirty="0"/>
          </a:p>
        </p:txBody>
      </p:sp>
      <p:sp>
        <p:nvSpPr>
          <p:cNvPr id="51" name="Text 49"/>
          <p:cNvSpPr/>
          <p:nvPr/>
        </p:nvSpPr>
        <p:spPr>
          <a:xfrm>
            <a:off x="7461504" y="1120140"/>
            <a:ext cx="15087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for Developers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6967728" y="1618488"/>
            <a:ext cx="2029968" cy="507492"/>
          </a:xfrm>
          <a:prstGeom prst="rect">
            <a:avLst/>
          </a:prstGeom>
          <a:solidFill>
            <a:srgbClr val="2A0FBE"/>
          </a:solidFill>
          <a:ln w="7620">
            <a:solidFill>
              <a:srgbClr val="8B62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059168" y="1700784"/>
            <a:ext cx="338328" cy="338328"/>
          </a:xfrm>
          <a:prstGeom prst="ellipse">
            <a:avLst/>
          </a:prstGeom>
          <a:solidFill>
            <a:srgbClr val="8B62FF"/>
          </a:solidFill>
          <a:ln w="12700">
            <a:solidFill>
              <a:srgbClr val="8B62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59168" y="1700784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WS-3</a:t>
            </a:r>
            <a:endParaRPr lang="en-US" sz="520" dirty="0"/>
          </a:p>
        </p:txBody>
      </p:sp>
      <p:sp>
        <p:nvSpPr>
          <p:cNvPr id="55" name="Text 53"/>
          <p:cNvSpPr/>
          <p:nvPr/>
        </p:nvSpPr>
        <p:spPr>
          <a:xfrm>
            <a:off x="7461504" y="1664208"/>
            <a:ext cx="15087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for Developers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6967728" y="2162556"/>
            <a:ext cx="2029968" cy="507492"/>
          </a:xfrm>
          <a:prstGeom prst="rect">
            <a:avLst/>
          </a:prstGeom>
          <a:solidFill>
            <a:srgbClr val="2A0FBE"/>
          </a:solidFill>
          <a:ln w="7620">
            <a:solidFill>
              <a:srgbClr val="8B62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59168" y="2244852"/>
            <a:ext cx="338328" cy="338328"/>
          </a:xfrm>
          <a:prstGeom prst="ellipse">
            <a:avLst/>
          </a:prstGeom>
          <a:solidFill>
            <a:srgbClr val="8B62FF"/>
          </a:solidFill>
          <a:ln w="12700">
            <a:solidFill>
              <a:srgbClr val="8B62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59168" y="224485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WS-4</a:t>
            </a:r>
            <a:endParaRPr lang="en-US" sz="520" dirty="0"/>
          </a:p>
        </p:txBody>
      </p:sp>
      <p:sp>
        <p:nvSpPr>
          <p:cNvPr id="59" name="Text 57"/>
          <p:cNvSpPr/>
          <p:nvPr/>
        </p:nvSpPr>
        <p:spPr>
          <a:xfrm>
            <a:off x="7461504" y="2208276"/>
            <a:ext cx="15087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Netbanx Payment Gateway</a:t>
            </a:r>
            <a:endParaRPr lang="en-US" sz="78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Modernisation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6967728" y="2706624"/>
            <a:ext cx="2029968" cy="507492"/>
          </a:xfrm>
          <a:prstGeom prst="rect">
            <a:avLst/>
          </a:prstGeom>
          <a:solidFill>
            <a:srgbClr val="5A28FE"/>
          </a:solidFill>
          <a:ln w="19050">
            <a:solidFill>
              <a:srgbClr val="E1FBB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67728" y="2706624"/>
            <a:ext cx="54864" cy="507492"/>
          </a:xfrm>
          <a:prstGeom prst="rect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59168" y="2788920"/>
            <a:ext cx="338328" cy="338328"/>
          </a:xfrm>
          <a:prstGeom prst="ellipse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59168" y="278892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1A0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WS-5</a:t>
            </a:r>
            <a:endParaRPr lang="en-US" sz="520" dirty="0"/>
          </a:p>
        </p:txBody>
      </p:sp>
      <p:sp>
        <p:nvSpPr>
          <p:cNvPr id="64" name="Text 62"/>
          <p:cNvSpPr/>
          <p:nvPr/>
        </p:nvSpPr>
        <p:spPr>
          <a:xfrm>
            <a:off x="7461504" y="2752344"/>
            <a:ext cx="15087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Engineering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6967728" y="3250692"/>
            <a:ext cx="2029968" cy="507492"/>
          </a:xfrm>
          <a:prstGeom prst="rect">
            <a:avLst/>
          </a:prstGeom>
          <a:solidFill>
            <a:srgbClr val="5A28FE"/>
          </a:solidFill>
          <a:ln w="19050">
            <a:solidFill>
              <a:srgbClr val="E1FBB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967728" y="3250692"/>
            <a:ext cx="54864" cy="507492"/>
          </a:xfrm>
          <a:prstGeom prst="rect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059168" y="3332988"/>
            <a:ext cx="338328" cy="338328"/>
          </a:xfrm>
          <a:prstGeom prst="ellipse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59168" y="333298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1A0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WS-6</a:t>
            </a:r>
            <a:endParaRPr lang="en-US" sz="520" dirty="0"/>
          </a:p>
        </p:txBody>
      </p:sp>
      <p:sp>
        <p:nvSpPr>
          <p:cNvPr id="69" name="Text 67"/>
          <p:cNvSpPr/>
          <p:nvPr/>
        </p:nvSpPr>
        <p:spPr>
          <a:xfrm>
            <a:off x="7461504" y="3296412"/>
            <a:ext cx="15087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and Management</a:t>
            </a:r>
            <a:endParaRPr lang="en-US" sz="78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6967728" y="3794760"/>
            <a:ext cx="2029968" cy="507492"/>
          </a:xfrm>
          <a:prstGeom prst="rect">
            <a:avLst/>
          </a:prstGeom>
          <a:solidFill>
            <a:srgbClr val="2A0FBE"/>
          </a:solidFill>
          <a:ln w="7620">
            <a:solidFill>
              <a:srgbClr val="8B62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059168" y="3877056"/>
            <a:ext cx="338328" cy="338328"/>
          </a:xfrm>
          <a:prstGeom prst="ellipse">
            <a:avLst/>
          </a:prstGeom>
          <a:solidFill>
            <a:srgbClr val="8B62FF"/>
          </a:solidFill>
          <a:ln w="12700">
            <a:solidFill>
              <a:srgbClr val="8B62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059168" y="387705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WS-7</a:t>
            </a:r>
            <a:endParaRPr lang="en-US" sz="520" dirty="0"/>
          </a:p>
        </p:txBody>
      </p:sp>
      <p:sp>
        <p:nvSpPr>
          <p:cNvPr id="73" name="Text 71"/>
          <p:cNvSpPr/>
          <p:nvPr/>
        </p:nvSpPr>
        <p:spPr>
          <a:xfrm>
            <a:off x="7461504" y="3840480"/>
            <a:ext cx="15087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Optimisation (FinOps)</a:t>
            </a:r>
            <a:endParaRPr lang="en-US" sz="78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Developers</a:t>
            </a:r>
            <a:endParaRPr lang="en-US" sz="780" dirty="0"/>
          </a:p>
        </p:txBody>
      </p:sp>
      <p:sp>
        <p:nvSpPr>
          <p:cNvPr id="74" name="Shape 7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5A28FE"/>
          </a:solidFill>
          <a:ln w="12700">
            <a:solidFill>
              <a:srgbClr val="5A28F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0" y="4919472"/>
            <a:ext cx="9144000" cy="36576"/>
          </a:xfrm>
          <a:prstGeom prst="rect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8E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PAYSAFE  ·  CLOUD NATIVE FOUNDATION  ·  CONFIDENTIAL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7772400" y="49560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18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2026-06-01T11:20:23Z</dcterms:created>
  <dcterms:modified xsi:type="dcterms:W3CDTF">2026-06-01T11:20:23Z</dcterms:modified>
</cp:coreProperties>
</file>