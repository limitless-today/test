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A9E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A9E0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0" y="457200"/>
            <a:ext cx="3200400" cy="27432"/>
          </a:xfrm>
          <a:prstGeom prst="rect">
            <a:avLst/>
          </a:prstGeom>
          <a:solidFill>
            <a:srgbClr val="00A9E0">
              <a:alpha val="1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035040" y="822960"/>
            <a:ext cx="2926080" cy="27432"/>
          </a:xfrm>
          <a:prstGeom prst="rect">
            <a:avLst/>
          </a:prstGeom>
          <a:solidFill>
            <a:srgbClr val="00A9E0">
              <a:alpha val="1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583680" y="1188720"/>
            <a:ext cx="2651760" cy="27432"/>
          </a:xfrm>
          <a:prstGeom prst="rect">
            <a:avLst/>
          </a:prstGeom>
          <a:solidFill>
            <a:srgbClr val="00A9E0">
              <a:alpha val="1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132320" y="1554480"/>
            <a:ext cx="2377440" cy="27432"/>
          </a:xfrm>
          <a:prstGeom prst="rect">
            <a:avLst/>
          </a:prstGeom>
          <a:solidFill>
            <a:srgbClr val="00A9E0">
              <a:alpha val="1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680960" y="1920240"/>
            <a:ext cx="2103120" cy="27432"/>
          </a:xfrm>
          <a:prstGeom prst="rect">
            <a:avLst/>
          </a:prstGeom>
          <a:solidFill>
            <a:srgbClr val="00A9E0">
              <a:alpha val="1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8229600" y="2286000"/>
            <a:ext cx="1828800" cy="27432"/>
          </a:xfrm>
          <a:prstGeom prst="rect">
            <a:avLst/>
          </a:prstGeom>
          <a:solidFill>
            <a:srgbClr val="00A9E0">
              <a:alpha val="1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" y="228600"/>
            <a:ext cx="2011680" cy="502920"/>
          </a:xfrm>
          <a:prstGeom prst="rect">
            <a:avLst/>
          </a:prstGeom>
          <a:solidFill>
            <a:srgbClr val="00A9E0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0040" y="2286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PAYSAFE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20040" y="11887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Chaos Engineering</a:t>
            </a:r>
            <a:endParaRPr lang="en-US" sz="5200" dirty="0"/>
          </a:p>
        </p:txBody>
      </p:sp>
      <p:sp>
        <p:nvSpPr>
          <p:cNvPr id="13" name="Text 11"/>
          <p:cNvSpPr/>
          <p:nvPr/>
        </p:nvSpPr>
        <p:spPr>
          <a:xfrm>
            <a:off x="320040" y="21031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A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Resilience at Scale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320040" y="2834640"/>
            <a:ext cx="3657600" cy="36576"/>
          </a:xfrm>
          <a:prstGeom prst="rect">
            <a:avLst/>
          </a:prstGeom>
          <a:solidFill>
            <a:srgbClr val="00A9E0"/>
          </a:solidFill>
          <a:ln/>
        </p:spPr>
      </p:sp>
      <p:sp>
        <p:nvSpPr>
          <p:cNvPr id="15" name="Text 13"/>
          <p:cNvSpPr/>
          <p:nvPr/>
        </p:nvSpPr>
        <p:spPr>
          <a:xfrm>
            <a:off x="320040" y="2971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Shift · Litmus · GitLab · CI/CD · SDLC Monitor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20040" y="448056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Excellence  |  Platform Reliability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03087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9E0"/>
                </a:solidFill>
              </a:rPr>
              <a:t>PAYSAFE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0A9E0"/>
                </a:solidFill>
              </a:rPr>
              <a:t>Business Impact &amp; Value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6400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 &amp; Value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1133856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A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reasons Chaos Engineering is a strategic investment for Paysafe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408176"/>
            <a:ext cx="1371600" cy="36576"/>
          </a:xfrm>
          <a:prstGeom prst="rect">
            <a:avLst/>
          </a:prstGeom>
          <a:solidFill>
            <a:srgbClr val="00A9E0"/>
          </a:solidFill>
          <a:ln/>
        </p:spPr>
      </p:sp>
      <p:sp>
        <p:nvSpPr>
          <p:cNvPr id="8" name="Shape 6"/>
          <p:cNvSpPr/>
          <p:nvPr/>
        </p:nvSpPr>
        <p:spPr>
          <a:xfrm>
            <a:off x="228600" y="1536192"/>
            <a:ext cx="4160520" cy="749808"/>
          </a:xfrm>
          <a:prstGeom prst="rect">
            <a:avLst/>
          </a:prstGeom>
          <a:solidFill>
            <a:srgbClr val="0D1E36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28600" y="1536192"/>
            <a:ext cx="54864" cy="749808"/>
          </a:xfrm>
          <a:prstGeom prst="rect">
            <a:avLst/>
          </a:prstGeom>
          <a:solidFill>
            <a:srgbClr val="00A9E0"/>
          </a:solidFill>
          <a:ln/>
        </p:spPr>
      </p:sp>
      <p:sp>
        <p:nvSpPr>
          <p:cNvPr id="10" name="Text 8"/>
          <p:cNvSpPr/>
          <p:nvPr/>
        </p:nvSpPr>
        <p:spPr>
          <a:xfrm>
            <a:off x="338328" y="1609344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A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22376" y="1600200"/>
            <a:ext cx="3575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Failures Before Customers Do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56616" y="1883664"/>
            <a:ext cx="3941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E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Proactively surface resilience gaps in development — not at 3am when payment flows are down and customers are impacted.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63440" y="1536192"/>
            <a:ext cx="4160520" cy="749808"/>
          </a:xfrm>
          <a:prstGeom prst="rect">
            <a:avLst/>
          </a:prstGeom>
          <a:solidFill>
            <a:srgbClr val="0D1E36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1536192"/>
            <a:ext cx="54864" cy="749808"/>
          </a:xfrm>
          <a:prstGeom prst="rect">
            <a:avLst/>
          </a:prstGeom>
          <a:solidFill>
            <a:srgbClr val="00A9E0"/>
          </a:solidFill>
          <a:ln/>
        </p:spPr>
      </p:sp>
      <p:sp>
        <p:nvSpPr>
          <p:cNvPr id="15" name="Text 13"/>
          <p:cNvSpPr/>
          <p:nvPr/>
        </p:nvSpPr>
        <p:spPr>
          <a:xfrm>
            <a:off x="4773168" y="1609344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A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157216" y="1600200"/>
            <a:ext cx="3575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Payment Revenue at Scale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91456" y="1883664"/>
            <a:ext cx="3941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E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unplanned outage in a critical payment flow costs Paysafe real money. Chaos engineering prevents those failures from ever reaching production.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28600" y="2432304"/>
            <a:ext cx="4160520" cy="749808"/>
          </a:xfrm>
          <a:prstGeom prst="rect">
            <a:avLst/>
          </a:prstGeom>
          <a:solidFill>
            <a:srgbClr val="0D1E36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28600" y="2432304"/>
            <a:ext cx="54864" cy="749808"/>
          </a:xfrm>
          <a:prstGeom prst="rect">
            <a:avLst/>
          </a:prstGeom>
          <a:solidFill>
            <a:srgbClr val="00A9E0"/>
          </a:solidFill>
          <a:ln/>
        </p:spPr>
      </p:sp>
      <p:sp>
        <p:nvSpPr>
          <p:cNvPr id="20" name="Text 18"/>
          <p:cNvSpPr/>
          <p:nvPr/>
        </p:nvSpPr>
        <p:spPr>
          <a:xfrm>
            <a:off x="338328" y="2505456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A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22376" y="2496312"/>
            <a:ext cx="3575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Mean Time to Detect &amp; Resolve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56616" y="2779776"/>
            <a:ext cx="3941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E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pre-trained on real failure modes resolve incidents significantly faster — reducing both MTTD and MTTR across all programs.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63440" y="2432304"/>
            <a:ext cx="4160520" cy="749808"/>
          </a:xfrm>
          <a:prstGeom prst="rect">
            <a:avLst/>
          </a:prstGeom>
          <a:solidFill>
            <a:srgbClr val="0D1E36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63440" y="2432304"/>
            <a:ext cx="54864" cy="749808"/>
          </a:xfrm>
          <a:prstGeom prst="rect">
            <a:avLst/>
          </a:prstGeom>
          <a:solidFill>
            <a:srgbClr val="00A9E0"/>
          </a:solidFill>
          <a:ln/>
        </p:spPr>
      </p:sp>
      <p:sp>
        <p:nvSpPr>
          <p:cNvPr id="25" name="Text 23"/>
          <p:cNvSpPr/>
          <p:nvPr/>
        </p:nvSpPr>
        <p:spPr>
          <a:xfrm>
            <a:off x="4773168" y="2505456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A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157216" y="2496312"/>
            <a:ext cx="3575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Reliability a Developer Responsibility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791456" y="2779776"/>
            <a:ext cx="3941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E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Left-shifting chaos into the SDLC means developers own resilience from day one — no ticket to SRE, no waiting for a dedicated test window.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28600" y="3328416"/>
            <a:ext cx="4160520" cy="749808"/>
          </a:xfrm>
          <a:prstGeom prst="rect">
            <a:avLst/>
          </a:prstGeom>
          <a:solidFill>
            <a:srgbClr val="0D1E36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28600" y="3328416"/>
            <a:ext cx="54864" cy="749808"/>
          </a:xfrm>
          <a:prstGeom prst="rect">
            <a:avLst/>
          </a:prstGeom>
          <a:solidFill>
            <a:srgbClr val="00A9E0"/>
          </a:solidFill>
          <a:ln/>
        </p:spPr>
      </p:sp>
      <p:sp>
        <p:nvSpPr>
          <p:cNvPr id="30" name="Text 28"/>
          <p:cNvSpPr/>
          <p:nvPr/>
        </p:nvSpPr>
        <p:spPr>
          <a:xfrm>
            <a:off x="338328" y="3401568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A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22376" y="3392424"/>
            <a:ext cx="3575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Every Pipeline Run into a Quality Gate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56616" y="3675888"/>
            <a:ext cx="3941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E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Chaos experiments run automatically on every CI/CD pipeline — deployments are gated on resilience outcomes, not just functional test results.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663440" y="3328416"/>
            <a:ext cx="4160520" cy="749808"/>
          </a:xfrm>
          <a:prstGeom prst="rect">
            <a:avLst/>
          </a:prstGeom>
          <a:solidFill>
            <a:srgbClr val="0D1E36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663440" y="3328416"/>
            <a:ext cx="54864" cy="749808"/>
          </a:xfrm>
          <a:prstGeom prst="rect">
            <a:avLst/>
          </a:prstGeom>
          <a:solidFill>
            <a:srgbClr val="00A9E0"/>
          </a:solidFill>
          <a:ln/>
        </p:spPr>
      </p:sp>
      <p:sp>
        <p:nvSpPr>
          <p:cNvPr id="35" name="Text 33"/>
          <p:cNvSpPr/>
          <p:nvPr/>
        </p:nvSpPr>
        <p:spPr>
          <a:xfrm>
            <a:off x="4773168" y="3401568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A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157216" y="3392424"/>
            <a:ext cx="3575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Framework, Every Program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791456" y="3675888"/>
            <a:ext cx="3941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E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GitOps-driven chaos pattern scales across Digital Wallet, Payments Gateway, eCash, Skrill and Neteller — no rebuilding from scratch each time.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081528"/>
          </a:solidFill>
          <a:ln/>
        </p:spPr>
      </p:sp>
      <p:sp>
        <p:nvSpPr>
          <p:cNvPr id="39" name="Text 37"/>
          <p:cNvSpPr/>
          <p:nvPr/>
        </p:nvSpPr>
        <p:spPr>
          <a:xfrm>
            <a:off x="365760" y="4828032"/>
            <a:ext cx="8412480" cy="3154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0A9E0"/>
                </a:solidFill>
              </a:rPr>
              <a:t>Chaos Engineering is not a test activity — it is a continuous resilience practice embedded in how Paysafe ships software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03087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9E0"/>
                </a:solidFill>
              </a:rPr>
              <a:t>PAYSAFE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0A9E0"/>
                </a:solidFill>
              </a:rPr>
              <a:t>Our Approach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6400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087"/>
                </a:solidFill>
              </a:rPr>
              <a:t>The Approach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207008"/>
            <a:ext cx="1097280" cy="36576"/>
          </a:xfrm>
          <a:prstGeom prst="rect">
            <a:avLst/>
          </a:prstGeom>
          <a:solidFill>
            <a:srgbClr val="00A9E0"/>
          </a:solidFill>
          <a:ln/>
        </p:spPr>
      </p:sp>
      <p:sp>
        <p:nvSpPr>
          <p:cNvPr id="7" name="Shape 5"/>
          <p:cNvSpPr/>
          <p:nvPr/>
        </p:nvSpPr>
        <p:spPr>
          <a:xfrm>
            <a:off x="228600" y="1417320"/>
            <a:ext cx="2103120" cy="3246120"/>
          </a:xfrm>
          <a:prstGeom prst="rect">
            <a:avLst/>
          </a:prstGeom>
          <a:solidFill>
            <a:srgbClr val="003087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8600" y="1417320"/>
            <a:ext cx="2103120" cy="54864"/>
          </a:xfrm>
          <a:prstGeom prst="rect">
            <a:avLst/>
          </a:prstGeom>
          <a:solidFill>
            <a:srgbClr val="00A9E0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" y="15544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A9E0"/>
                </a:solidFill>
              </a:rPr>
              <a:t>01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20040" y="196596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Developer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Left Shift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20040" y="2697480"/>
            <a:ext cx="19202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8E8"/>
                </a:solidFill>
              </a:rPr>
              <a:t>Templates, baselines &amp; guardrails via Litmus. GitOps-driven experiment execution through pipeline.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331720" y="2103120"/>
            <a:ext cx="411480" cy="36576"/>
          </a:xfrm>
          <a:prstGeom prst="rect">
            <a:avLst/>
          </a:prstGeom>
          <a:solidFill>
            <a:srgbClr val="00A9E0"/>
          </a:solidFill>
          <a:ln/>
        </p:spPr>
      </p:sp>
      <p:sp>
        <p:nvSpPr>
          <p:cNvPr id="13" name="Text 11"/>
          <p:cNvSpPr/>
          <p:nvPr/>
        </p:nvSpPr>
        <p:spPr>
          <a:xfrm>
            <a:off x="2441448" y="1956816"/>
            <a:ext cx="18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A9E0"/>
                </a:solidFill>
              </a:rPr>
              <a:t>›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514600" y="1417320"/>
            <a:ext cx="2103120" cy="3246120"/>
          </a:xfrm>
          <a:prstGeom prst="rect">
            <a:avLst/>
          </a:prstGeom>
          <a:solidFill>
            <a:srgbClr val="F0F6FC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514600" y="1417320"/>
            <a:ext cx="2103120" cy="54864"/>
          </a:xfrm>
          <a:prstGeom prst="rect">
            <a:avLst/>
          </a:prstGeom>
          <a:solidFill>
            <a:srgbClr val="00A9E0"/>
          </a:solidFill>
          <a:ln/>
        </p:spPr>
      </p:sp>
      <p:sp>
        <p:nvSpPr>
          <p:cNvPr id="16" name="Text 14"/>
          <p:cNvSpPr/>
          <p:nvPr/>
        </p:nvSpPr>
        <p:spPr>
          <a:xfrm>
            <a:off x="2606040" y="15544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087"/>
                </a:solidFill>
              </a:rPr>
              <a:t>02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2606040" y="196596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087"/>
                </a:solidFill>
              </a:rPr>
              <a:t>CI/CD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03087"/>
                </a:solidFill>
              </a:rPr>
              <a:t>Automation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606040" y="2697480"/>
            <a:ext cx="19202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8D"/>
                </a:solidFill>
              </a:rPr>
              <a:t>Chaos experiments automated through CI/CD pipelines. Load + chaos testing integrated end-to-end.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17720" y="2103120"/>
            <a:ext cx="411480" cy="36576"/>
          </a:xfrm>
          <a:prstGeom prst="rect">
            <a:avLst/>
          </a:prstGeom>
          <a:solidFill>
            <a:srgbClr val="00A9E0"/>
          </a:solidFill>
          <a:ln/>
        </p:spPr>
      </p:sp>
      <p:sp>
        <p:nvSpPr>
          <p:cNvPr id="20" name="Text 18"/>
          <p:cNvSpPr/>
          <p:nvPr/>
        </p:nvSpPr>
        <p:spPr>
          <a:xfrm>
            <a:off x="4727448" y="1956816"/>
            <a:ext cx="18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A9E0"/>
                </a:solidFill>
              </a:rPr>
              <a:t>›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4800600" y="1417320"/>
            <a:ext cx="2103120" cy="3246120"/>
          </a:xfrm>
          <a:prstGeom prst="rect">
            <a:avLst/>
          </a:prstGeom>
          <a:solidFill>
            <a:srgbClr val="F0F6FC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00600" y="1417320"/>
            <a:ext cx="2103120" cy="54864"/>
          </a:xfrm>
          <a:prstGeom prst="rect">
            <a:avLst/>
          </a:prstGeom>
          <a:solidFill>
            <a:srgbClr val="00A9E0"/>
          </a:solidFill>
          <a:ln/>
        </p:spPr>
      </p:sp>
      <p:sp>
        <p:nvSpPr>
          <p:cNvPr id="23" name="Text 21"/>
          <p:cNvSpPr/>
          <p:nvPr/>
        </p:nvSpPr>
        <p:spPr>
          <a:xfrm>
            <a:off x="4892040" y="15544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087"/>
                </a:solidFill>
              </a:rPr>
              <a:t>03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4892040" y="196596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087"/>
                </a:solidFill>
              </a:rPr>
              <a:t>Load + Chaos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03087"/>
                </a:solidFill>
              </a:rPr>
              <a:t>Testing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892040" y="2697480"/>
            <a:ext cx="19202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8D"/>
                </a:solidFill>
              </a:rPr>
              <a:t>Combined load and chaos experiments. Automated reporting surfaced in SDLC Monitor.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903720" y="2103120"/>
            <a:ext cx="411480" cy="36576"/>
          </a:xfrm>
          <a:prstGeom prst="rect">
            <a:avLst/>
          </a:prstGeom>
          <a:solidFill>
            <a:srgbClr val="00A9E0"/>
          </a:solidFill>
          <a:ln/>
        </p:spPr>
      </p:sp>
      <p:sp>
        <p:nvSpPr>
          <p:cNvPr id="27" name="Text 25"/>
          <p:cNvSpPr/>
          <p:nvPr/>
        </p:nvSpPr>
        <p:spPr>
          <a:xfrm>
            <a:off x="7013448" y="1956816"/>
            <a:ext cx="18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A9E0"/>
                </a:solidFill>
              </a:rPr>
              <a:t>›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7086600" y="1417320"/>
            <a:ext cx="2103120" cy="3246120"/>
          </a:xfrm>
          <a:prstGeom prst="rect">
            <a:avLst/>
          </a:prstGeom>
          <a:solidFill>
            <a:srgbClr val="F0F6FC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086600" y="1417320"/>
            <a:ext cx="2103120" cy="54864"/>
          </a:xfrm>
          <a:prstGeom prst="rect">
            <a:avLst/>
          </a:prstGeom>
          <a:solidFill>
            <a:srgbClr val="00A9E0"/>
          </a:solidFill>
          <a:ln/>
        </p:spPr>
      </p:sp>
      <p:sp>
        <p:nvSpPr>
          <p:cNvPr id="30" name="Text 28"/>
          <p:cNvSpPr/>
          <p:nvPr/>
        </p:nvSpPr>
        <p:spPr>
          <a:xfrm>
            <a:off x="7178040" y="15544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087"/>
                </a:solidFill>
              </a:rPr>
              <a:t>04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7178040" y="196596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087"/>
                </a:solidFill>
              </a:rPr>
              <a:t>Scale to Other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03087"/>
                </a:solidFill>
              </a:rPr>
              <a:t>Programs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178040" y="2697480"/>
            <a:ext cx="19202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8D"/>
                </a:solidFill>
              </a:rPr>
              <a:t>Expand with custom experiments — Digital Wallet and beyond — using repeatable patterns.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0F6FC"/>
          </a:solidFill>
          <a:ln/>
        </p:spPr>
      </p:sp>
      <p:sp>
        <p:nvSpPr>
          <p:cNvPr id="34" name="Text 32"/>
          <p:cNvSpPr/>
          <p:nvPr/>
        </p:nvSpPr>
        <p:spPr>
          <a:xfrm>
            <a:off x="365760" y="4846320"/>
            <a:ext cx="841248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3087"/>
                </a:solidFill>
              </a:rPr>
              <a:t>Experiments cover both Microservices AND Business Flows — not just infrastructure components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03087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9E0"/>
                </a:solidFill>
              </a:rPr>
              <a:t>PAYSAFE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0A9E0"/>
                </a:solidFill>
              </a:rPr>
              <a:t>Use Cases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20040" y="64008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1115568"/>
            <a:ext cx="1097280" cy="36576"/>
          </a:xfrm>
          <a:prstGeom prst="rect">
            <a:avLst/>
          </a:prstGeom>
          <a:solidFill>
            <a:srgbClr val="00A9E0"/>
          </a:solidFill>
          <a:ln/>
        </p:spPr>
      </p:sp>
      <p:sp>
        <p:nvSpPr>
          <p:cNvPr id="7" name="Shape 5"/>
          <p:cNvSpPr/>
          <p:nvPr/>
        </p:nvSpPr>
        <p:spPr>
          <a:xfrm>
            <a:off x="201168" y="1234440"/>
            <a:ext cx="2743200" cy="3749040"/>
          </a:xfrm>
          <a:prstGeom prst="rect">
            <a:avLst/>
          </a:prstGeom>
          <a:solidFill>
            <a:srgbClr val="0D1E36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01168" y="1234440"/>
            <a:ext cx="2743200" cy="54864"/>
          </a:xfrm>
          <a:prstGeom prst="rect">
            <a:avLst/>
          </a:prstGeom>
          <a:solidFill>
            <a:srgbClr val="00A9E0"/>
          </a:solidFill>
          <a:ln/>
        </p:spPr>
      </p:sp>
      <p:sp>
        <p:nvSpPr>
          <p:cNvPr id="9" name="Shape 7"/>
          <p:cNvSpPr/>
          <p:nvPr/>
        </p:nvSpPr>
        <p:spPr>
          <a:xfrm>
            <a:off x="310896" y="1316736"/>
            <a:ext cx="457200" cy="292608"/>
          </a:xfrm>
          <a:prstGeom prst="rect">
            <a:avLst/>
          </a:prstGeom>
          <a:solidFill>
            <a:srgbClr val="003087"/>
          </a:solidFill>
          <a:ln/>
        </p:spPr>
      </p:sp>
      <p:sp>
        <p:nvSpPr>
          <p:cNvPr id="10" name="Text 8"/>
          <p:cNvSpPr/>
          <p:nvPr/>
        </p:nvSpPr>
        <p:spPr>
          <a:xfrm>
            <a:off x="310896" y="1316736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41248" y="1316736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Developer Left Shift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10896" y="1719072"/>
            <a:ext cx="786384" cy="320040"/>
          </a:xfrm>
          <a:prstGeom prst="rect">
            <a:avLst/>
          </a:prstGeom>
          <a:solidFill>
            <a:srgbClr val="003087"/>
          </a:solidFill>
          <a:ln/>
        </p:spPr>
      </p:sp>
      <p:sp>
        <p:nvSpPr>
          <p:cNvPr id="13" name="Text 11"/>
          <p:cNvSpPr/>
          <p:nvPr/>
        </p:nvSpPr>
        <p:spPr>
          <a:xfrm>
            <a:off x="310896" y="1719072"/>
            <a:ext cx="7863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Developer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060704" y="1773936"/>
            <a:ext cx="109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A9E0"/>
                </a:solidFill>
              </a:rPr>
              <a:t>›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152144" y="1719072"/>
            <a:ext cx="786384" cy="320040"/>
          </a:xfrm>
          <a:prstGeom prst="rect">
            <a:avLst/>
          </a:prstGeom>
          <a:solidFill>
            <a:srgbClr val="162640"/>
          </a:solidFill>
          <a:ln/>
        </p:spPr>
      </p:sp>
      <p:sp>
        <p:nvSpPr>
          <p:cNvPr id="16" name="Text 14"/>
          <p:cNvSpPr/>
          <p:nvPr/>
        </p:nvSpPr>
        <p:spPr>
          <a:xfrm>
            <a:off x="1152144" y="1719072"/>
            <a:ext cx="7863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A9E0"/>
                </a:solidFill>
              </a:rPr>
              <a:t>Litmus Chaos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1901952" y="1773936"/>
            <a:ext cx="109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A9E0"/>
                </a:solidFill>
              </a:rPr>
              <a:t>›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993392" y="1719072"/>
            <a:ext cx="786384" cy="320040"/>
          </a:xfrm>
          <a:prstGeom prst="rect">
            <a:avLst/>
          </a:prstGeom>
          <a:solidFill>
            <a:srgbClr val="162640"/>
          </a:solidFill>
          <a:ln/>
        </p:spPr>
      </p:sp>
      <p:sp>
        <p:nvSpPr>
          <p:cNvPr id="19" name="Text 17"/>
          <p:cNvSpPr/>
          <p:nvPr/>
        </p:nvSpPr>
        <p:spPr>
          <a:xfrm>
            <a:off x="1993392" y="1719072"/>
            <a:ext cx="7863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A9E0"/>
                </a:solidFill>
              </a:rPr>
              <a:t>GitLab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310896" y="2157984"/>
            <a:ext cx="786384" cy="320040"/>
          </a:xfrm>
          <a:prstGeom prst="rect">
            <a:avLst/>
          </a:prstGeom>
          <a:solidFill>
            <a:srgbClr val="162640"/>
          </a:solidFill>
          <a:ln/>
        </p:spPr>
      </p:sp>
      <p:sp>
        <p:nvSpPr>
          <p:cNvPr id="21" name="Text 19"/>
          <p:cNvSpPr/>
          <p:nvPr/>
        </p:nvSpPr>
        <p:spPr>
          <a:xfrm>
            <a:off x="310896" y="2157984"/>
            <a:ext cx="7863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A9E0"/>
                </a:solidFill>
              </a:rPr>
              <a:t>Pipeline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060704" y="2212848"/>
            <a:ext cx="109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A9E0"/>
                </a:solidFill>
              </a:rPr>
              <a:t>›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152144" y="2157984"/>
            <a:ext cx="786384" cy="320040"/>
          </a:xfrm>
          <a:prstGeom prst="rect">
            <a:avLst/>
          </a:prstGeom>
          <a:solidFill>
            <a:srgbClr val="162640"/>
          </a:solidFill>
          <a:ln/>
        </p:spPr>
      </p:sp>
      <p:sp>
        <p:nvSpPr>
          <p:cNvPr id="24" name="Text 22"/>
          <p:cNvSpPr/>
          <p:nvPr/>
        </p:nvSpPr>
        <p:spPr>
          <a:xfrm>
            <a:off x="1152144" y="2157984"/>
            <a:ext cx="7863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A9E0"/>
                </a:solidFill>
              </a:rPr>
              <a:t>Chaos Exp.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1901952" y="2212848"/>
            <a:ext cx="109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A9E0"/>
                </a:solidFill>
              </a:rPr>
              <a:t>›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993392" y="2157984"/>
            <a:ext cx="786384" cy="320040"/>
          </a:xfrm>
          <a:prstGeom prst="rect">
            <a:avLst/>
          </a:prstGeom>
          <a:solidFill>
            <a:srgbClr val="003087"/>
          </a:solidFill>
          <a:ln/>
        </p:spPr>
      </p:sp>
      <p:sp>
        <p:nvSpPr>
          <p:cNvPr id="27" name="Text 25"/>
          <p:cNvSpPr/>
          <p:nvPr/>
        </p:nvSpPr>
        <p:spPr>
          <a:xfrm>
            <a:off x="1993392" y="2157984"/>
            <a:ext cx="7863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SDLC Monitor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310896" y="2670048"/>
            <a:ext cx="2523744" cy="219456"/>
          </a:xfrm>
          <a:prstGeom prst="rect">
            <a:avLst/>
          </a:prstGeom>
          <a:solidFill>
            <a:srgbClr val="003087">
              <a:alpha val="25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310896" y="2670048"/>
            <a:ext cx="2523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A9E0"/>
                </a:solidFill>
              </a:rPr>
              <a:t>Developer Initiated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10896" y="3063240"/>
            <a:ext cx="54864" cy="54864"/>
          </a:xfrm>
          <a:prstGeom prst="rect">
            <a:avLst/>
          </a:prstGeom>
          <a:solidFill>
            <a:srgbClr val="00A9E0"/>
          </a:solidFill>
          <a:ln/>
        </p:spPr>
      </p:sp>
      <p:sp>
        <p:nvSpPr>
          <p:cNvPr id="31" name="Text 29"/>
          <p:cNvSpPr/>
          <p:nvPr/>
        </p:nvSpPr>
        <p:spPr>
          <a:xfrm>
            <a:off x="420624" y="2971800"/>
            <a:ext cx="2414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CCF"/>
                </a:solidFill>
              </a:rPr>
              <a:t>Pre-built experiment templates with guardrails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10896" y="3520440"/>
            <a:ext cx="54864" cy="54864"/>
          </a:xfrm>
          <a:prstGeom prst="rect">
            <a:avLst/>
          </a:prstGeom>
          <a:solidFill>
            <a:srgbClr val="00A9E0"/>
          </a:solidFill>
          <a:ln/>
        </p:spPr>
      </p:sp>
      <p:sp>
        <p:nvSpPr>
          <p:cNvPr id="33" name="Text 31"/>
          <p:cNvSpPr/>
          <p:nvPr/>
        </p:nvSpPr>
        <p:spPr>
          <a:xfrm>
            <a:off x="420624" y="3429000"/>
            <a:ext cx="2414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CCF"/>
                </a:solidFill>
              </a:rPr>
              <a:t>GitOps execution via GitLab pipeline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10896" y="3977640"/>
            <a:ext cx="54864" cy="54864"/>
          </a:xfrm>
          <a:prstGeom prst="rect">
            <a:avLst/>
          </a:prstGeom>
          <a:solidFill>
            <a:srgbClr val="00A9E0"/>
          </a:solidFill>
          <a:ln/>
        </p:spPr>
      </p:sp>
      <p:sp>
        <p:nvSpPr>
          <p:cNvPr id="35" name="Text 33"/>
          <p:cNvSpPr/>
          <p:nvPr/>
        </p:nvSpPr>
        <p:spPr>
          <a:xfrm>
            <a:off x="420624" y="3886200"/>
            <a:ext cx="2414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CCF"/>
                </a:solidFill>
              </a:rPr>
              <a:t>Baseline + auto-guardrails per experiment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10896" y="4434840"/>
            <a:ext cx="54864" cy="54864"/>
          </a:xfrm>
          <a:prstGeom prst="rect">
            <a:avLst/>
          </a:prstGeom>
          <a:solidFill>
            <a:srgbClr val="00A9E0"/>
          </a:solidFill>
          <a:ln/>
        </p:spPr>
      </p:sp>
      <p:sp>
        <p:nvSpPr>
          <p:cNvPr id="37" name="Text 35"/>
          <p:cNvSpPr/>
          <p:nvPr/>
        </p:nvSpPr>
        <p:spPr>
          <a:xfrm>
            <a:off x="420624" y="4343400"/>
            <a:ext cx="2414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CCF"/>
                </a:solidFill>
              </a:rPr>
              <a:t>Covers microservices &amp; business flows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054096" y="1234440"/>
            <a:ext cx="2743200" cy="3749040"/>
          </a:xfrm>
          <a:prstGeom prst="rect">
            <a:avLst/>
          </a:prstGeom>
          <a:solidFill>
            <a:srgbClr val="0D1E36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3054096" y="1234440"/>
            <a:ext cx="2743200" cy="54864"/>
          </a:xfrm>
          <a:prstGeom prst="rect">
            <a:avLst/>
          </a:prstGeom>
          <a:solidFill>
            <a:srgbClr val="00A9E0"/>
          </a:solidFill>
          <a:ln/>
        </p:spPr>
      </p:sp>
      <p:sp>
        <p:nvSpPr>
          <p:cNvPr id="40" name="Shape 38"/>
          <p:cNvSpPr/>
          <p:nvPr/>
        </p:nvSpPr>
        <p:spPr>
          <a:xfrm>
            <a:off x="3163824" y="1316736"/>
            <a:ext cx="457200" cy="292608"/>
          </a:xfrm>
          <a:prstGeom prst="rect">
            <a:avLst/>
          </a:prstGeom>
          <a:solidFill>
            <a:srgbClr val="005FA3"/>
          </a:solidFill>
          <a:ln/>
        </p:spPr>
      </p:sp>
      <p:sp>
        <p:nvSpPr>
          <p:cNvPr id="41" name="Text 39"/>
          <p:cNvSpPr/>
          <p:nvPr/>
        </p:nvSpPr>
        <p:spPr>
          <a:xfrm>
            <a:off x="3163824" y="1316736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3694176" y="1316736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CI/CD Automation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3163824" y="1719072"/>
            <a:ext cx="786384" cy="320040"/>
          </a:xfrm>
          <a:prstGeom prst="rect">
            <a:avLst/>
          </a:prstGeom>
          <a:solidFill>
            <a:srgbClr val="162640"/>
          </a:solidFill>
          <a:ln/>
        </p:spPr>
      </p:sp>
      <p:sp>
        <p:nvSpPr>
          <p:cNvPr id="44" name="Text 42"/>
          <p:cNvSpPr/>
          <p:nvPr/>
        </p:nvSpPr>
        <p:spPr>
          <a:xfrm>
            <a:off x="3163824" y="1719072"/>
            <a:ext cx="7863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A9E0"/>
                </a:solidFill>
              </a:rPr>
              <a:t>Code Commit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3913632" y="1773936"/>
            <a:ext cx="109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A9E0"/>
                </a:solidFill>
              </a:rPr>
              <a:t>›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005072" y="1719072"/>
            <a:ext cx="786384" cy="320040"/>
          </a:xfrm>
          <a:prstGeom prst="rect">
            <a:avLst/>
          </a:prstGeom>
          <a:solidFill>
            <a:srgbClr val="162640"/>
          </a:solidFill>
          <a:ln/>
        </p:spPr>
      </p:sp>
      <p:sp>
        <p:nvSpPr>
          <p:cNvPr id="47" name="Text 45"/>
          <p:cNvSpPr/>
          <p:nvPr/>
        </p:nvSpPr>
        <p:spPr>
          <a:xfrm>
            <a:off x="4005072" y="1719072"/>
            <a:ext cx="7863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A9E0"/>
                </a:solidFill>
              </a:rPr>
              <a:t>Build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4754880" y="1773936"/>
            <a:ext cx="109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A9E0"/>
                </a:solidFill>
              </a:rPr>
              <a:t>›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846320" y="1719072"/>
            <a:ext cx="786384" cy="320040"/>
          </a:xfrm>
          <a:prstGeom prst="rect">
            <a:avLst/>
          </a:prstGeom>
          <a:solidFill>
            <a:srgbClr val="005FA3"/>
          </a:solidFill>
          <a:ln/>
        </p:spPr>
      </p:sp>
      <p:sp>
        <p:nvSpPr>
          <p:cNvPr id="50" name="Text 48"/>
          <p:cNvSpPr/>
          <p:nvPr/>
        </p:nvSpPr>
        <p:spPr>
          <a:xfrm>
            <a:off x="4846320" y="1719072"/>
            <a:ext cx="7863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Chaos Gate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3163824" y="2157984"/>
            <a:ext cx="786384" cy="320040"/>
          </a:xfrm>
          <a:prstGeom prst="rect">
            <a:avLst/>
          </a:prstGeom>
          <a:solidFill>
            <a:srgbClr val="162640"/>
          </a:solidFill>
          <a:ln/>
        </p:spPr>
      </p:sp>
      <p:sp>
        <p:nvSpPr>
          <p:cNvPr id="52" name="Text 50"/>
          <p:cNvSpPr/>
          <p:nvPr/>
        </p:nvSpPr>
        <p:spPr>
          <a:xfrm>
            <a:off x="3163824" y="2157984"/>
            <a:ext cx="7863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A9E0"/>
                </a:solidFill>
              </a:rPr>
              <a:t>Load+Chaos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3913632" y="2212848"/>
            <a:ext cx="109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A9E0"/>
                </a:solidFill>
              </a:rPr>
              <a:t>›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4005072" y="2157984"/>
            <a:ext cx="786384" cy="320040"/>
          </a:xfrm>
          <a:prstGeom prst="rect">
            <a:avLst/>
          </a:prstGeom>
          <a:solidFill>
            <a:srgbClr val="162640"/>
          </a:solidFill>
          <a:ln/>
        </p:spPr>
      </p:sp>
      <p:sp>
        <p:nvSpPr>
          <p:cNvPr id="55" name="Text 53"/>
          <p:cNvSpPr/>
          <p:nvPr/>
        </p:nvSpPr>
        <p:spPr>
          <a:xfrm>
            <a:off x="4005072" y="2157984"/>
            <a:ext cx="7863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A9E0"/>
                </a:solidFill>
              </a:rPr>
              <a:t>SDLC Report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4754880" y="2212848"/>
            <a:ext cx="109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A9E0"/>
                </a:solidFill>
              </a:rPr>
              <a:t>›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4846320" y="2157984"/>
            <a:ext cx="786384" cy="320040"/>
          </a:xfrm>
          <a:prstGeom prst="rect">
            <a:avLst/>
          </a:prstGeom>
          <a:solidFill>
            <a:srgbClr val="005FA3"/>
          </a:solidFill>
          <a:ln/>
        </p:spPr>
      </p:sp>
      <p:sp>
        <p:nvSpPr>
          <p:cNvPr id="58" name="Text 56"/>
          <p:cNvSpPr/>
          <p:nvPr/>
        </p:nvSpPr>
        <p:spPr>
          <a:xfrm>
            <a:off x="4846320" y="2157984"/>
            <a:ext cx="7863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Deploy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3163824" y="2670048"/>
            <a:ext cx="2523744" cy="219456"/>
          </a:xfrm>
          <a:prstGeom prst="rect">
            <a:avLst/>
          </a:prstGeom>
          <a:solidFill>
            <a:srgbClr val="005FA3">
              <a:alpha val="25000"/>
            </a:srgbClr>
          </a:solidFill>
          <a:ln/>
        </p:spPr>
      </p:sp>
      <p:sp>
        <p:nvSpPr>
          <p:cNvPr id="60" name="Text 58"/>
          <p:cNvSpPr/>
          <p:nvPr/>
        </p:nvSpPr>
        <p:spPr>
          <a:xfrm>
            <a:off x="3163824" y="2670048"/>
            <a:ext cx="2523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A9E0"/>
                </a:solidFill>
              </a:rPr>
              <a:t>Pipeline Triggered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3163824" y="3063240"/>
            <a:ext cx="54864" cy="54864"/>
          </a:xfrm>
          <a:prstGeom prst="rect">
            <a:avLst/>
          </a:prstGeom>
          <a:solidFill>
            <a:srgbClr val="00A9E0"/>
          </a:solidFill>
          <a:ln/>
        </p:spPr>
      </p:sp>
      <p:sp>
        <p:nvSpPr>
          <p:cNvPr id="62" name="Text 60"/>
          <p:cNvSpPr/>
          <p:nvPr/>
        </p:nvSpPr>
        <p:spPr>
          <a:xfrm>
            <a:off x="3273552" y="2971800"/>
            <a:ext cx="2414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CCF"/>
                </a:solidFill>
              </a:rPr>
              <a:t>Chaos triggered automatically on every run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3163824" y="3520440"/>
            <a:ext cx="54864" cy="54864"/>
          </a:xfrm>
          <a:prstGeom prst="rect">
            <a:avLst/>
          </a:prstGeom>
          <a:solidFill>
            <a:srgbClr val="00A9E0"/>
          </a:solidFill>
          <a:ln/>
        </p:spPr>
      </p:sp>
      <p:sp>
        <p:nvSpPr>
          <p:cNvPr id="64" name="Text 62"/>
          <p:cNvSpPr/>
          <p:nvPr/>
        </p:nvSpPr>
        <p:spPr>
          <a:xfrm>
            <a:off x="3273552" y="3429000"/>
            <a:ext cx="2414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CCF"/>
                </a:solidFill>
              </a:rPr>
              <a:t>Deployment gated on experiment pass/fail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3163824" y="3977640"/>
            <a:ext cx="54864" cy="54864"/>
          </a:xfrm>
          <a:prstGeom prst="rect">
            <a:avLst/>
          </a:prstGeom>
          <a:solidFill>
            <a:srgbClr val="00A9E0"/>
          </a:solidFill>
          <a:ln/>
        </p:spPr>
      </p:sp>
      <p:sp>
        <p:nvSpPr>
          <p:cNvPr id="66" name="Text 64"/>
          <p:cNvSpPr/>
          <p:nvPr/>
        </p:nvSpPr>
        <p:spPr>
          <a:xfrm>
            <a:off x="3273552" y="3886200"/>
            <a:ext cx="2414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CCF"/>
                </a:solidFill>
              </a:rPr>
              <a:t>Load + chaos injected simultaneously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3163824" y="4434840"/>
            <a:ext cx="54864" cy="54864"/>
          </a:xfrm>
          <a:prstGeom prst="rect">
            <a:avLst/>
          </a:prstGeom>
          <a:solidFill>
            <a:srgbClr val="00A9E0"/>
          </a:solidFill>
          <a:ln/>
        </p:spPr>
      </p:sp>
      <p:sp>
        <p:nvSpPr>
          <p:cNvPr id="68" name="Text 66"/>
          <p:cNvSpPr/>
          <p:nvPr/>
        </p:nvSpPr>
        <p:spPr>
          <a:xfrm>
            <a:off x="3273552" y="4343400"/>
            <a:ext cx="2414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CCF"/>
                </a:solidFill>
              </a:rPr>
              <a:t>No manual SRE involvement required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5907024" y="1234440"/>
            <a:ext cx="2743200" cy="3749040"/>
          </a:xfrm>
          <a:prstGeom prst="rect">
            <a:avLst/>
          </a:prstGeom>
          <a:solidFill>
            <a:srgbClr val="0D1E36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70" name="Shape 68"/>
          <p:cNvSpPr/>
          <p:nvPr/>
        </p:nvSpPr>
        <p:spPr>
          <a:xfrm>
            <a:off x="5907024" y="1234440"/>
            <a:ext cx="2743200" cy="54864"/>
          </a:xfrm>
          <a:prstGeom prst="rect">
            <a:avLst/>
          </a:prstGeom>
          <a:solidFill>
            <a:srgbClr val="00A9E0"/>
          </a:solidFill>
          <a:ln/>
        </p:spPr>
      </p:sp>
      <p:sp>
        <p:nvSpPr>
          <p:cNvPr id="71" name="Shape 69"/>
          <p:cNvSpPr/>
          <p:nvPr/>
        </p:nvSpPr>
        <p:spPr>
          <a:xfrm>
            <a:off x="6016752" y="1316736"/>
            <a:ext cx="457200" cy="292608"/>
          </a:xfrm>
          <a:prstGeom prst="rect">
            <a:avLst/>
          </a:prstGeom>
          <a:solidFill>
            <a:srgbClr val="007AB8"/>
          </a:solidFill>
          <a:ln/>
        </p:spPr>
      </p:sp>
      <p:sp>
        <p:nvSpPr>
          <p:cNvPr id="72" name="Text 70"/>
          <p:cNvSpPr/>
          <p:nvPr/>
        </p:nvSpPr>
        <p:spPr>
          <a:xfrm>
            <a:off x="6016752" y="1316736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73" name="Text 71"/>
          <p:cNvSpPr/>
          <p:nvPr/>
        </p:nvSpPr>
        <p:spPr>
          <a:xfrm>
            <a:off x="6547104" y="1316736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Expand &amp; Scale Chaos</a:t>
            </a:r>
            <a:endParaRPr lang="en-US" sz="1200" dirty="0"/>
          </a:p>
        </p:txBody>
      </p:sp>
      <p:sp>
        <p:nvSpPr>
          <p:cNvPr id="74" name="Shape 72"/>
          <p:cNvSpPr/>
          <p:nvPr/>
        </p:nvSpPr>
        <p:spPr>
          <a:xfrm>
            <a:off x="6016752" y="1719072"/>
            <a:ext cx="786384" cy="320040"/>
          </a:xfrm>
          <a:prstGeom prst="rect">
            <a:avLst/>
          </a:prstGeom>
          <a:solidFill>
            <a:srgbClr val="162640"/>
          </a:solidFill>
          <a:ln/>
        </p:spPr>
      </p:sp>
      <p:sp>
        <p:nvSpPr>
          <p:cNvPr id="75" name="Text 73"/>
          <p:cNvSpPr/>
          <p:nvPr/>
        </p:nvSpPr>
        <p:spPr>
          <a:xfrm>
            <a:off x="6016752" y="1719072"/>
            <a:ext cx="7863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A9E0"/>
                </a:solidFill>
              </a:rPr>
              <a:t>Current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00A9E0"/>
                </a:solidFill>
              </a:rPr>
              <a:t>Program</a:t>
            </a:r>
            <a:endParaRPr lang="en-US" sz="750" dirty="0"/>
          </a:p>
        </p:txBody>
      </p:sp>
      <p:sp>
        <p:nvSpPr>
          <p:cNvPr id="76" name="Text 74"/>
          <p:cNvSpPr/>
          <p:nvPr/>
        </p:nvSpPr>
        <p:spPr>
          <a:xfrm>
            <a:off x="6766560" y="1773936"/>
            <a:ext cx="109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A9E0"/>
                </a:solidFill>
              </a:rPr>
              <a:t>›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6858000" y="1719072"/>
            <a:ext cx="786384" cy="320040"/>
          </a:xfrm>
          <a:prstGeom prst="rect">
            <a:avLst/>
          </a:prstGeom>
          <a:solidFill>
            <a:srgbClr val="162640"/>
          </a:solidFill>
          <a:ln/>
        </p:spPr>
      </p:sp>
      <p:sp>
        <p:nvSpPr>
          <p:cNvPr id="78" name="Text 76"/>
          <p:cNvSpPr/>
          <p:nvPr/>
        </p:nvSpPr>
        <p:spPr>
          <a:xfrm>
            <a:off x="6858000" y="1719072"/>
            <a:ext cx="7863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A9E0"/>
                </a:solidFill>
              </a:rPr>
              <a:t>Digital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00A9E0"/>
                </a:solidFill>
              </a:rPr>
              <a:t>Wallet</a:t>
            </a:r>
            <a:endParaRPr lang="en-US" sz="750" dirty="0"/>
          </a:p>
        </p:txBody>
      </p:sp>
      <p:sp>
        <p:nvSpPr>
          <p:cNvPr id="79" name="Text 77"/>
          <p:cNvSpPr/>
          <p:nvPr/>
        </p:nvSpPr>
        <p:spPr>
          <a:xfrm>
            <a:off x="7607808" y="1773936"/>
            <a:ext cx="109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A9E0"/>
                </a:solidFill>
              </a:rPr>
              <a:t>›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7699248" y="1719072"/>
            <a:ext cx="786384" cy="320040"/>
          </a:xfrm>
          <a:prstGeom prst="rect">
            <a:avLst/>
          </a:prstGeom>
          <a:solidFill>
            <a:srgbClr val="162640"/>
          </a:solidFill>
          <a:ln/>
        </p:spPr>
      </p:sp>
      <p:sp>
        <p:nvSpPr>
          <p:cNvPr id="81" name="Text 79"/>
          <p:cNvSpPr/>
          <p:nvPr/>
        </p:nvSpPr>
        <p:spPr>
          <a:xfrm>
            <a:off x="7699248" y="1719072"/>
            <a:ext cx="7863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A9E0"/>
                </a:solidFill>
              </a:rPr>
              <a:t>Payments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00A9E0"/>
                </a:solidFill>
              </a:rPr>
              <a:t>Gateway</a:t>
            </a:r>
            <a:endParaRPr lang="en-US" sz="750" dirty="0"/>
          </a:p>
        </p:txBody>
      </p:sp>
      <p:sp>
        <p:nvSpPr>
          <p:cNvPr id="82" name="Shape 80"/>
          <p:cNvSpPr/>
          <p:nvPr/>
        </p:nvSpPr>
        <p:spPr>
          <a:xfrm>
            <a:off x="6016752" y="2157984"/>
            <a:ext cx="786384" cy="320040"/>
          </a:xfrm>
          <a:prstGeom prst="rect">
            <a:avLst/>
          </a:prstGeom>
          <a:solidFill>
            <a:srgbClr val="162640"/>
          </a:solidFill>
          <a:ln/>
        </p:spPr>
      </p:sp>
      <p:sp>
        <p:nvSpPr>
          <p:cNvPr id="83" name="Text 81"/>
          <p:cNvSpPr/>
          <p:nvPr/>
        </p:nvSpPr>
        <p:spPr>
          <a:xfrm>
            <a:off x="6016752" y="2157984"/>
            <a:ext cx="7863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A9E0"/>
                </a:solidFill>
              </a:rPr>
              <a:t>eCash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00A9E0"/>
                </a:solidFill>
              </a:rPr>
              <a:t>Platform</a:t>
            </a:r>
            <a:endParaRPr lang="en-US" sz="750" dirty="0"/>
          </a:p>
        </p:txBody>
      </p:sp>
      <p:sp>
        <p:nvSpPr>
          <p:cNvPr id="84" name="Text 82"/>
          <p:cNvSpPr/>
          <p:nvPr/>
        </p:nvSpPr>
        <p:spPr>
          <a:xfrm>
            <a:off x="6766560" y="2212848"/>
            <a:ext cx="109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A9E0"/>
                </a:solidFill>
              </a:rPr>
              <a:t>›</a:t>
            </a:r>
            <a:endParaRPr lang="en-US" sz="900" dirty="0"/>
          </a:p>
        </p:txBody>
      </p:sp>
      <p:sp>
        <p:nvSpPr>
          <p:cNvPr id="85" name="Shape 83"/>
          <p:cNvSpPr/>
          <p:nvPr/>
        </p:nvSpPr>
        <p:spPr>
          <a:xfrm>
            <a:off x="6858000" y="2157984"/>
            <a:ext cx="786384" cy="320040"/>
          </a:xfrm>
          <a:prstGeom prst="rect">
            <a:avLst/>
          </a:prstGeom>
          <a:solidFill>
            <a:srgbClr val="162640"/>
          </a:solidFill>
          <a:ln/>
        </p:spPr>
      </p:sp>
      <p:sp>
        <p:nvSpPr>
          <p:cNvPr id="86" name="Text 84"/>
          <p:cNvSpPr/>
          <p:nvPr/>
        </p:nvSpPr>
        <p:spPr>
          <a:xfrm>
            <a:off x="6858000" y="2157984"/>
            <a:ext cx="7863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A9E0"/>
                </a:solidFill>
              </a:rPr>
              <a:t>Skrill /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00A9E0"/>
                </a:solidFill>
              </a:rPr>
              <a:t>Neteller</a:t>
            </a:r>
            <a:endParaRPr lang="en-US" sz="750" dirty="0"/>
          </a:p>
        </p:txBody>
      </p:sp>
      <p:sp>
        <p:nvSpPr>
          <p:cNvPr id="87" name="Text 85"/>
          <p:cNvSpPr/>
          <p:nvPr/>
        </p:nvSpPr>
        <p:spPr>
          <a:xfrm>
            <a:off x="7607808" y="2212848"/>
            <a:ext cx="109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A9E0"/>
                </a:solidFill>
              </a:rPr>
              <a:t>›</a:t>
            </a:r>
            <a:endParaRPr lang="en-US" sz="900" dirty="0"/>
          </a:p>
        </p:txBody>
      </p:sp>
      <p:sp>
        <p:nvSpPr>
          <p:cNvPr id="88" name="Shape 86"/>
          <p:cNvSpPr/>
          <p:nvPr/>
        </p:nvSpPr>
        <p:spPr>
          <a:xfrm>
            <a:off x="7699248" y="2157984"/>
            <a:ext cx="786384" cy="320040"/>
          </a:xfrm>
          <a:prstGeom prst="rect">
            <a:avLst/>
          </a:prstGeom>
          <a:solidFill>
            <a:srgbClr val="007AB8"/>
          </a:solidFill>
          <a:ln/>
        </p:spPr>
      </p:sp>
      <p:sp>
        <p:nvSpPr>
          <p:cNvPr id="89" name="Text 87"/>
          <p:cNvSpPr/>
          <p:nvPr/>
        </p:nvSpPr>
        <p:spPr>
          <a:xfrm>
            <a:off x="7699248" y="2157984"/>
            <a:ext cx="7863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Custom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Programs</a:t>
            </a:r>
            <a:endParaRPr lang="en-US" sz="750" dirty="0"/>
          </a:p>
        </p:txBody>
      </p:sp>
      <p:sp>
        <p:nvSpPr>
          <p:cNvPr id="90" name="Shape 88"/>
          <p:cNvSpPr/>
          <p:nvPr/>
        </p:nvSpPr>
        <p:spPr>
          <a:xfrm>
            <a:off x="6016752" y="2670048"/>
            <a:ext cx="2523744" cy="219456"/>
          </a:xfrm>
          <a:prstGeom prst="rect">
            <a:avLst/>
          </a:prstGeom>
          <a:solidFill>
            <a:srgbClr val="007AB8">
              <a:alpha val="25000"/>
            </a:srgbClr>
          </a:solidFill>
          <a:ln/>
        </p:spPr>
      </p:sp>
      <p:sp>
        <p:nvSpPr>
          <p:cNvPr id="91" name="Text 89"/>
          <p:cNvSpPr/>
          <p:nvPr/>
        </p:nvSpPr>
        <p:spPr>
          <a:xfrm>
            <a:off x="6016752" y="2670048"/>
            <a:ext cx="2523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A9E0"/>
                </a:solidFill>
              </a:rPr>
              <a:t>Program Rollout</a:t>
            </a:r>
            <a:endParaRPr lang="en-US" sz="850" dirty="0"/>
          </a:p>
        </p:txBody>
      </p:sp>
      <p:sp>
        <p:nvSpPr>
          <p:cNvPr id="92" name="Shape 90"/>
          <p:cNvSpPr/>
          <p:nvPr/>
        </p:nvSpPr>
        <p:spPr>
          <a:xfrm>
            <a:off x="6016752" y="3063240"/>
            <a:ext cx="54864" cy="54864"/>
          </a:xfrm>
          <a:prstGeom prst="rect">
            <a:avLst/>
          </a:prstGeom>
          <a:solidFill>
            <a:srgbClr val="00A9E0"/>
          </a:solidFill>
          <a:ln/>
        </p:spPr>
      </p:sp>
      <p:sp>
        <p:nvSpPr>
          <p:cNvPr id="93" name="Text 91"/>
          <p:cNvSpPr/>
          <p:nvPr/>
        </p:nvSpPr>
        <p:spPr>
          <a:xfrm>
            <a:off x="6126480" y="2971800"/>
            <a:ext cx="2414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CCF"/>
                </a:solidFill>
              </a:rPr>
              <a:t>Network, DB, pod-kill &amp; latency experiments</a:t>
            </a:r>
            <a:endParaRPr lang="en-US" sz="950" dirty="0"/>
          </a:p>
        </p:txBody>
      </p:sp>
      <p:sp>
        <p:nvSpPr>
          <p:cNvPr id="94" name="Shape 92"/>
          <p:cNvSpPr/>
          <p:nvPr/>
        </p:nvSpPr>
        <p:spPr>
          <a:xfrm>
            <a:off x="6016752" y="3520440"/>
            <a:ext cx="54864" cy="54864"/>
          </a:xfrm>
          <a:prstGeom prst="rect">
            <a:avLst/>
          </a:prstGeom>
          <a:solidFill>
            <a:srgbClr val="00A9E0"/>
          </a:solidFill>
          <a:ln/>
        </p:spPr>
      </p:sp>
      <p:sp>
        <p:nvSpPr>
          <p:cNvPr id="95" name="Text 93"/>
          <p:cNvSpPr/>
          <p:nvPr/>
        </p:nvSpPr>
        <p:spPr>
          <a:xfrm>
            <a:off x="6126480" y="3429000"/>
            <a:ext cx="2414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CCF"/>
                </a:solidFill>
              </a:rPr>
              <a:t>Custom catalogue per product domain</a:t>
            </a:r>
            <a:endParaRPr lang="en-US" sz="950" dirty="0"/>
          </a:p>
        </p:txBody>
      </p:sp>
      <p:sp>
        <p:nvSpPr>
          <p:cNvPr id="96" name="Shape 94"/>
          <p:cNvSpPr/>
          <p:nvPr/>
        </p:nvSpPr>
        <p:spPr>
          <a:xfrm>
            <a:off x="6016752" y="3977640"/>
            <a:ext cx="54864" cy="54864"/>
          </a:xfrm>
          <a:prstGeom prst="rect">
            <a:avLst/>
          </a:prstGeom>
          <a:solidFill>
            <a:srgbClr val="00A9E0"/>
          </a:solidFill>
          <a:ln/>
        </p:spPr>
      </p:sp>
      <p:sp>
        <p:nvSpPr>
          <p:cNvPr id="97" name="Text 95"/>
          <p:cNvSpPr/>
          <p:nvPr/>
        </p:nvSpPr>
        <p:spPr>
          <a:xfrm>
            <a:off x="6126480" y="3886200"/>
            <a:ext cx="2414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CCF"/>
                </a:solidFill>
              </a:rPr>
              <a:t>Same GitOps pattern for every program</a:t>
            </a:r>
            <a:endParaRPr lang="en-US" sz="950" dirty="0"/>
          </a:p>
        </p:txBody>
      </p:sp>
      <p:sp>
        <p:nvSpPr>
          <p:cNvPr id="98" name="Shape 96"/>
          <p:cNvSpPr/>
          <p:nvPr/>
        </p:nvSpPr>
        <p:spPr>
          <a:xfrm>
            <a:off x="6016752" y="4434840"/>
            <a:ext cx="54864" cy="54864"/>
          </a:xfrm>
          <a:prstGeom prst="rect">
            <a:avLst/>
          </a:prstGeom>
          <a:solidFill>
            <a:srgbClr val="00A9E0"/>
          </a:solidFill>
          <a:ln/>
        </p:spPr>
      </p:sp>
      <p:sp>
        <p:nvSpPr>
          <p:cNvPr id="99" name="Text 97"/>
          <p:cNvSpPr/>
          <p:nvPr/>
        </p:nvSpPr>
        <p:spPr>
          <a:xfrm>
            <a:off x="6126480" y="4343400"/>
            <a:ext cx="2414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CCF"/>
                </a:solidFill>
              </a:rPr>
              <a:t>Shared SDLC Monitor across all programs</a:t>
            </a:r>
            <a:endParaRPr lang="en-US" sz="950" dirty="0"/>
          </a:p>
        </p:txBody>
      </p:sp>
      <p:sp>
        <p:nvSpPr>
          <p:cNvPr id="100" name="Shape 98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081528"/>
          </a:solidFill>
          <a:ln/>
        </p:spPr>
      </p:sp>
      <p:sp>
        <p:nvSpPr>
          <p:cNvPr id="101" name="Text 99"/>
          <p:cNvSpPr/>
          <p:nvPr/>
        </p:nvSpPr>
        <p:spPr>
          <a:xfrm>
            <a:off x="365760" y="4828032"/>
            <a:ext cx="8412480" cy="3154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0A9E0"/>
                </a:solidFill>
              </a:rPr>
              <a:t>Repeat the same pattern for every Paysafe program — Digital Wallet, Payments Gateway, eCash, Skrill / Neteller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03087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9E0"/>
                </a:solidFill>
              </a:rPr>
              <a:t>PAYSAFE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0A9E0"/>
                </a:solidFill>
              </a:rPr>
              <a:t>Roadmap Summary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6400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Journey to Chaos Maturity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1371600" cy="36576"/>
          </a:xfrm>
          <a:prstGeom prst="rect">
            <a:avLst/>
          </a:prstGeom>
          <a:solidFill>
            <a:srgbClr val="00A9E0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2468880"/>
            <a:ext cx="8229600" cy="54864"/>
          </a:xfrm>
          <a:prstGeom prst="rect">
            <a:avLst/>
          </a:prstGeom>
          <a:solidFill>
            <a:srgbClr val="00A9E0">
              <a:alpha val="5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097280" y="2331720"/>
            <a:ext cx="274320" cy="274320"/>
          </a:xfrm>
          <a:prstGeom prst="oval">
            <a:avLst/>
          </a:prstGeom>
          <a:solidFill>
            <a:srgbClr val="00A9E0"/>
          </a:solidFill>
          <a:ln w="19050">
            <a:solidFill>
              <a:srgbClr val="00A9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55448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A9E0"/>
                </a:solidFill>
              </a:rPr>
              <a:t>Phase 1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743200"/>
            <a:ext cx="1554480" cy="914400"/>
          </a:xfrm>
          <a:prstGeom prst="rect">
            <a:avLst/>
          </a:prstGeom>
          <a:solidFill>
            <a:srgbClr val="003087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2743200"/>
            <a:ext cx="1554480" cy="45720"/>
          </a:xfrm>
          <a:prstGeom prst="rect">
            <a:avLst/>
          </a:prstGeom>
          <a:solidFill>
            <a:srgbClr val="00A9E0"/>
          </a:solidFill>
          <a:ln/>
        </p:spPr>
      </p:sp>
      <p:sp>
        <p:nvSpPr>
          <p:cNvPr id="12" name="Text 10"/>
          <p:cNvSpPr/>
          <p:nvPr/>
        </p:nvSpPr>
        <p:spPr>
          <a:xfrm>
            <a:off x="585216" y="2816352"/>
            <a:ext cx="148132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Developer Left Shift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+ Litmus Onboarding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0" y="2331720"/>
            <a:ext cx="274320" cy="274320"/>
          </a:xfrm>
          <a:prstGeom prst="oval">
            <a:avLst/>
          </a:prstGeom>
          <a:solidFill>
            <a:srgbClr val="2A3D5A"/>
          </a:solidFill>
          <a:ln w="19050">
            <a:solidFill>
              <a:srgbClr val="00A9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88920" y="155448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A9E0"/>
                </a:solidFill>
              </a:rPr>
              <a:t>Phase 2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651760" y="2743200"/>
            <a:ext cx="1554480" cy="914400"/>
          </a:xfrm>
          <a:prstGeom prst="rect">
            <a:avLst/>
          </a:prstGeom>
          <a:solidFill>
            <a:srgbClr val="0D1E36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651760" y="2743200"/>
            <a:ext cx="1554480" cy="45720"/>
          </a:xfrm>
          <a:prstGeom prst="rect">
            <a:avLst/>
          </a:prstGeom>
          <a:solidFill>
            <a:srgbClr val="00A9E0"/>
          </a:solidFill>
          <a:ln/>
        </p:spPr>
      </p:sp>
      <p:sp>
        <p:nvSpPr>
          <p:cNvPr id="17" name="Text 15"/>
          <p:cNvSpPr/>
          <p:nvPr/>
        </p:nvSpPr>
        <p:spPr>
          <a:xfrm>
            <a:off x="2688336" y="2816352"/>
            <a:ext cx="148132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9BBF"/>
                </a:solidFill>
              </a:rPr>
              <a:t>CI/CD + Load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A9BBF"/>
                </a:solidFill>
              </a:rPr>
              <a:t>Automation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303520" y="2331720"/>
            <a:ext cx="274320" cy="274320"/>
          </a:xfrm>
          <a:prstGeom prst="oval">
            <a:avLst/>
          </a:prstGeom>
          <a:solidFill>
            <a:srgbClr val="2A3D5A"/>
          </a:solidFill>
          <a:ln w="19050">
            <a:solidFill>
              <a:srgbClr val="00A9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155448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A9E0"/>
                </a:solidFill>
              </a:rPr>
              <a:t>Phase 3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54880" y="2743200"/>
            <a:ext cx="1554480" cy="914400"/>
          </a:xfrm>
          <a:prstGeom prst="rect">
            <a:avLst/>
          </a:prstGeom>
          <a:solidFill>
            <a:srgbClr val="0D1E36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2743200"/>
            <a:ext cx="1554480" cy="45720"/>
          </a:xfrm>
          <a:prstGeom prst="rect">
            <a:avLst/>
          </a:prstGeom>
          <a:solidFill>
            <a:srgbClr val="00A9E0"/>
          </a:solidFill>
          <a:ln/>
        </p:spPr>
      </p:sp>
      <p:sp>
        <p:nvSpPr>
          <p:cNvPr id="22" name="Text 20"/>
          <p:cNvSpPr/>
          <p:nvPr/>
        </p:nvSpPr>
        <p:spPr>
          <a:xfrm>
            <a:off x="4791456" y="2816352"/>
            <a:ext cx="148132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9BBF"/>
                </a:solidFill>
              </a:rPr>
              <a:t>More Experiments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A9BBF"/>
                </a:solidFill>
              </a:rPr>
              <a:t>+ Scale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406640" y="2331720"/>
            <a:ext cx="274320" cy="274320"/>
          </a:xfrm>
          <a:prstGeom prst="oval">
            <a:avLst/>
          </a:prstGeom>
          <a:solidFill>
            <a:srgbClr val="2A3D5A"/>
          </a:solidFill>
          <a:ln w="19050">
            <a:solidFill>
              <a:srgbClr val="00A9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95160" y="155448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A9E0"/>
                </a:solidFill>
              </a:rPr>
              <a:t>Phase 4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858000" y="2743200"/>
            <a:ext cx="1554480" cy="914400"/>
          </a:xfrm>
          <a:prstGeom prst="rect">
            <a:avLst/>
          </a:prstGeom>
          <a:solidFill>
            <a:srgbClr val="0D1E36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858000" y="2743200"/>
            <a:ext cx="1554480" cy="45720"/>
          </a:xfrm>
          <a:prstGeom prst="rect">
            <a:avLst/>
          </a:prstGeom>
          <a:solidFill>
            <a:srgbClr val="00A9E0"/>
          </a:solidFill>
          <a:ln/>
        </p:spPr>
      </p:sp>
      <p:sp>
        <p:nvSpPr>
          <p:cNvPr id="27" name="Text 25"/>
          <p:cNvSpPr/>
          <p:nvPr/>
        </p:nvSpPr>
        <p:spPr>
          <a:xfrm>
            <a:off x="6894576" y="2816352"/>
            <a:ext cx="148132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9BBF"/>
                </a:solidFill>
              </a:rPr>
              <a:t>Digital Wallet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A9BBF"/>
                </a:solidFill>
              </a:rPr>
              <a:t>+ Other Programs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65760" y="384048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9E0"/>
                </a:solidFill>
              </a:rPr>
              <a:t>Key Outcomes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65760" y="4187952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A8BCCF"/>
                </a:solidFill>
              </a:rPr>
              <a:t>Faster detection of resilience gaps in SDLC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A8BCCF"/>
                </a:solidFill>
              </a:rPr>
              <a:t>Developers empowered to own reliability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A8BCCF"/>
                </a:solidFill>
              </a:rPr>
              <a:t>Automated chaos as a quality gate — not an afterthought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A8BCCF"/>
                </a:solidFill>
              </a:rPr>
              <a:t>Consistent chaos patterns repeatable across all Paysafe programs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2026-06-04T09:47:14Z</dcterms:created>
  <dcterms:modified xsi:type="dcterms:W3CDTF">2026-06-04T09:47:14Z</dcterms:modified>
</cp:coreProperties>
</file>