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21792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"/>
            <a:ext cx="9144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Kong Dedicated Cloud Gateway — Multi-Region Data Plane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11704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Planes  ·  4 AWS Regions  ·  On-Premise Canada (Toronto + Vancouver)  ·  All governed by Kong Konnect Control Plane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76656"/>
            <a:ext cx="11978640" cy="585216"/>
          </a:xfrm>
          <a:prstGeom prst="rect">
            <a:avLst/>
          </a:prstGeom>
          <a:solidFill>
            <a:srgbClr val="1A0870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704088"/>
            <a:ext cx="493776" cy="493776"/>
          </a:xfrm>
          <a:prstGeom prst="ellipse">
            <a:avLst/>
          </a:prstGeom>
          <a:solidFill>
            <a:srgbClr val="5A28FE"/>
          </a:solidFill>
          <a:ln w="10160">
            <a:solidFill>
              <a:srgbClr val="E1F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04088"/>
            <a:ext cx="49377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694944"/>
            <a:ext cx="50292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KONG KONNECT  —  SaaS Control Plane  (Single Pane of Glass — Governs ALL data planes globally)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0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Mgr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483096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Mgr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7114032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7744968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Portal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8375904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9006840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9637776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7776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Hub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0268712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68712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GitOps/IaC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0899648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99648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1530584" y="731520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1E0A80"/>
          </a:solidFill>
          <a:ln w="7620">
            <a:solidFill>
              <a:srgbClr val="A8E0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30584" y="731520"/>
            <a:ext cx="603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1440" y="1389888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3B82F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1440" y="1389888"/>
            <a:ext cx="2798064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" y="1389888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ca-central-1  (Canada Central)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64592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82880" y="18470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2267712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267712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688336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2688336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Gateway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145536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6384" y="3145536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389888" y="3145536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8988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993392" y="3145536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93392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182880" y="3383280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3383280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90472" y="1261872"/>
            <a:ext cx="0" cy="128016"/>
          </a:xfrm>
          <a:prstGeom prst="line">
            <a:avLst/>
          </a:prstGeom>
          <a:noFill/>
          <a:ln w="15240">
            <a:solidFill>
              <a:srgbClr val="3B82F6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990088" y="1389888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A855F7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990088" y="1389888"/>
            <a:ext cx="2798064" cy="2377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0088" y="1389888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ca-west-1  (Canada West)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063240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081528" y="18470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81528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081528" y="2267712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81528" y="2267712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Gateway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81528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A855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81528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3685032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85032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288536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88536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892040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3081528" y="2962656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81528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389120" y="1261872"/>
            <a:ext cx="0" cy="128016"/>
          </a:xfrm>
          <a:prstGeom prst="line">
            <a:avLst/>
          </a:prstGeom>
          <a:noFill/>
          <a:ln w="15240">
            <a:solidFill>
              <a:srgbClr val="A855F7"/>
            </a:solidFill>
            <a:prstDash val="dash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888736" y="1389888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F59E0B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888736" y="1389888"/>
            <a:ext cx="279806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88736" y="1389888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us-east-1  (US East)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961888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5980176" y="18470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0176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980176" y="2267712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0176" y="2267712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80176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80176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583680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83680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7187184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87184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7790688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90688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5980176" y="2962656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80176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287768" y="1261872"/>
            <a:ext cx="0" cy="128016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8787384" y="1389888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EC4899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787384" y="1389888"/>
            <a:ext cx="2798064" cy="23774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787384" y="1389888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us-west-2  (US West Oregon)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860536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8878824" y="18470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78824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878824" y="2267712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878824" y="2267712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878824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EC489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878824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9482328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EC48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482328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0085832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EC489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085832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10689336" y="27249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EC48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89336" y="27249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8878824" y="2962656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EC489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878824" y="2962656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186416" y="1261872"/>
            <a:ext cx="0" cy="128016"/>
          </a:xfrm>
          <a:prstGeom prst="line">
            <a:avLst/>
          </a:prstGeom>
          <a:noFill/>
          <a:ln w="15240">
            <a:solidFill>
              <a:srgbClr val="EC4899"/>
            </a:solidFill>
            <a:prstDash val="dash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91440" y="3712464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06B6D4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91440" y="3712464"/>
            <a:ext cx="279806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1440" y="3712464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eu-west-1  (Europe Ireland)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164592" y="3968496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182880" y="4169664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82880" y="4169664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82880" y="45902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82880" y="45902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Gateway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82880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82880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786384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86384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1389888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389888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1993392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993392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182880" y="5285232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2880" y="5285232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1490472" y="1261872"/>
            <a:ext cx="0" cy="2450592"/>
          </a:xfrm>
          <a:prstGeom prst="line">
            <a:avLst/>
          </a:prstGeom>
          <a:noFill/>
          <a:ln w="15240">
            <a:solidFill>
              <a:srgbClr val="06B6D4"/>
            </a:solidFill>
            <a:prstDash val="dash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2990088" y="3712464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F97316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2990088" y="3712464"/>
            <a:ext cx="2798064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990088" y="3712464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ap-southeast-1  (Singapore)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3063240" y="3968496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3081528" y="4169664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081528" y="4169664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081528" y="45902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081528" y="45902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3081528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9731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081528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3685032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9731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85032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4288536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9731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288536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4892040" y="5047488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F9731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892040" y="5047488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3081528" y="5285232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081528" y="5285232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4389120" y="1261872"/>
            <a:ext cx="0" cy="2450592"/>
          </a:xfrm>
          <a:prstGeom prst="line">
            <a:avLst/>
          </a:prstGeom>
          <a:noFill/>
          <a:ln w="15240">
            <a:solidFill>
              <a:srgbClr val="F97316"/>
            </a:solidFill>
            <a:prstDash val="dash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5888736" y="3712464"/>
            <a:ext cx="2798064" cy="2176272"/>
          </a:xfrm>
          <a:prstGeom prst="rect">
            <a:avLst/>
          </a:prstGeom>
          <a:solidFill>
            <a:srgbClr val="FFFFFF">
              <a:alpha val="2000"/>
            </a:srgbClr>
          </a:solidFill>
          <a:ln w="10160">
            <a:solidFill>
              <a:srgbClr val="22C55E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5888736" y="3712464"/>
            <a:ext cx="2798064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888736" y="3712464"/>
            <a:ext cx="279806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 Canada  (Toronto + Vancouver)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5961888" y="3968496"/>
            <a:ext cx="26517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5980176" y="4169664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980176" y="4169664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5980176" y="4590288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980176" y="4590288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980176" y="5010912"/>
            <a:ext cx="2615184" cy="347472"/>
          </a:xfrm>
          <a:prstGeom prst="rect">
            <a:avLst/>
          </a:prstGeom>
          <a:solidFill>
            <a:srgbClr val="2D0FA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980176" y="5010912"/>
            <a:ext cx="26151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5980176" y="54681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80176" y="54681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6583680" y="54681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583680" y="54681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7187184" y="54681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187184" y="54681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Lmt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7790688" y="5468112"/>
            <a:ext cx="566928" cy="201168"/>
          </a:xfrm>
          <a:prstGeom prst="roundRect">
            <a:avLst>
              <a:gd name="adj" fmla="val 31818"/>
            </a:avLst>
          </a:prstGeom>
          <a:solidFill>
            <a:srgbClr val="0A0330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790688" y="546811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5980176" y="5705856"/>
            <a:ext cx="261518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80176" y="5705856"/>
            <a:ext cx="26151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Circuit Breaker · Health Checks · Failover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7287768" y="1261872"/>
            <a:ext cx="0" cy="2450592"/>
          </a:xfrm>
          <a:prstGeom prst="line">
            <a:avLst/>
          </a:prstGeom>
          <a:noFill/>
          <a:ln w="15240">
            <a:solidFill>
              <a:srgbClr val="22C55E"/>
            </a:solidFill>
            <a:prstDash val="dash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2889504" y="2478024"/>
            <a:ext cx="100584" cy="0"/>
          </a:xfrm>
          <a:prstGeom prst="line">
            <a:avLst/>
          </a:prstGeom>
          <a:noFill/>
          <a:ln w="1143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67" name="Text 165"/>
          <p:cNvSpPr/>
          <p:nvPr/>
        </p:nvSpPr>
        <p:spPr>
          <a:xfrm>
            <a:off x="2889504" y="2313432"/>
            <a:ext cx="10058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550" dirty="0"/>
          </a:p>
        </p:txBody>
      </p:sp>
      <p:sp>
        <p:nvSpPr>
          <p:cNvPr id="168" name="Shape 166"/>
          <p:cNvSpPr/>
          <p:nvPr/>
        </p:nvSpPr>
        <p:spPr>
          <a:xfrm>
            <a:off x="5788152" y="2478024"/>
            <a:ext cx="100584" cy="0"/>
          </a:xfrm>
          <a:prstGeom prst="line">
            <a:avLst/>
          </a:prstGeom>
          <a:noFill/>
          <a:ln w="1143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5788152" y="2313432"/>
            <a:ext cx="10058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550" dirty="0"/>
          </a:p>
        </p:txBody>
      </p:sp>
      <p:sp>
        <p:nvSpPr>
          <p:cNvPr id="170" name="Shape 168"/>
          <p:cNvSpPr/>
          <p:nvPr/>
        </p:nvSpPr>
        <p:spPr>
          <a:xfrm>
            <a:off x="8686800" y="2478024"/>
            <a:ext cx="100584" cy="0"/>
          </a:xfrm>
          <a:prstGeom prst="line">
            <a:avLst/>
          </a:prstGeom>
          <a:noFill/>
          <a:ln w="1143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1" name="Text 169"/>
          <p:cNvSpPr/>
          <p:nvPr/>
        </p:nvSpPr>
        <p:spPr>
          <a:xfrm>
            <a:off x="8686800" y="2313432"/>
            <a:ext cx="10058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550" dirty="0"/>
          </a:p>
        </p:txBody>
      </p:sp>
      <p:sp>
        <p:nvSpPr>
          <p:cNvPr id="172" name="Shape 170"/>
          <p:cNvSpPr/>
          <p:nvPr/>
        </p:nvSpPr>
        <p:spPr>
          <a:xfrm>
            <a:off x="2889504" y="4800600"/>
            <a:ext cx="100584" cy="0"/>
          </a:xfrm>
          <a:prstGeom prst="line">
            <a:avLst/>
          </a:prstGeom>
          <a:noFill/>
          <a:ln w="1143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3" name="Text 171"/>
          <p:cNvSpPr/>
          <p:nvPr/>
        </p:nvSpPr>
        <p:spPr>
          <a:xfrm>
            <a:off x="2889504" y="4636008"/>
            <a:ext cx="10058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550" dirty="0"/>
          </a:p>
        </p:txBody>
      </p:sp>
      <p:sp>
        <p:nvSpPr>
          <p:cNvPr id="174" name="Shape 172"/>
          <p:cNvSpPr/>
          <p:nvPr/>
        </p:nvSpPr>
        <p:spPr>
          <a:xfrm>
            <a:off x="5788152" y="4800600"/>
            <a:ext cx="100584" cy="0"/>
          </a:xfrm>
          <a:prstGeom prst="line">
            <a:avLst/>
          </a:prstGeom>
          <a:noFill/>
          <a:ln w="1143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5" name="Text 173"/>
          <p:cNvSpPr/>
          <p:nvPr/>
        </p:nvSpPr>
        <p:spPr>
          <a:xfrm>
            <a:off x="5788152" y="4636008"/>
            <a:ext cx="10058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</a:t>
            </a:r>
            <a:endParaRPr lang="en-US" sz="550" dirty="0"/>
          </a:p>
        </p:txBody>
      </p:sp>
      <p:sp>
        <p:nvSpPr>
          <p:cNvPr id="176" name="Shape 174"/>
          <p:cNvSpPr/>
          <p:nvPr/>
        </p:nvSpPr>
        <p:spPr>
          <a:xfrm>
            <a:off x="1444752" y="3566160"/>
            <a:ext cx="0" cy="146304"/>
          </a:xfrm>
          <a:prstGeom prst="line">
            <a:avLst/>
          </a:prstGeom>
          <a:noFill/>
          <a:ln w="1524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4343400" y="3566160"/>
            <a:ext cx="0" cy="146304"/>
          </a:xfrm>
          <a:prstGeom prst="line">
            <a:avLst/>
          </a:prstGeom>
          <a:noFill/>
          <a:ln w="1524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7242048" y="3566160"/>
            <a:ext cx="0" cy="146304"/>
          </a:xfrm>
          <a:prstGeom prst="line">
            <a:avLst/>
          </a:prstGeom>
          <a:noFill/>
          <a:ln w="15240">
            <a:solidFill>
              <a:srgbClr val="555577"/>
            </a:solidFill>
            <a:prstDash val="dash"/>
            <a:headEnd type="triangle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91440" y="5989320"/>
            <a:ext cx="11978640" cy="749808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22C55E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>
            <a:off x="91440" y="5989320"/>
            <a:ext cx="11978640" cy="237744"/>
          </a:xfrm>
          <a:prstGeom prst="rect">
            <a:avLst/>
          </a:prstGeom>
          <a:solidFill>
            <a:srgbClr val="0A22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1440" y="5989320"/>
            <a:ext cx="119786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PAYSAFE MICROSERVICES  —  On-Premise Canada DC  +  AWS EKS Managed Nodes  (All regions route here via PrivateLink / VPN)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2011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011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Svc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11727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1727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API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21442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1442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1158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1158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Svc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40873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0873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Rates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50589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0589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Netbanx Core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60304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0304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70020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0020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Platform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79735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9735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iGaming API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89451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9451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991666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991666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10888218" y="6263640"/>
            <a:ext cx="898398" cy="347472"/>
          </a:xfrm>
          <a:prstGeom prst="roundRect">
            <a:avLst>
              <a:gd name="adj" fmla="val 18421"/>
            </a:avLst>
          </a:prstGeom>
          <a:solidFill>
            <a:srgbClr val="0D3A22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888218" y="6263640"/>
            <a:ext cx="89839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Svc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1490472" y="3566160"/>
            <a:ext cx="0" cy="2423160"/>
          </a:xfrm>
          <a:prstGeom prst="line">
            <a:avLst/>
          </a:prstGeom>
          <a:noFill/>
          <a:ln w="15240">
            <a:solidFill>
              <a:srgbClr val="3B82F6"/>
            </a:solidFill>
            <a:prstDash val="dash"/>
            <a:headEnd type="triangle"/>
            <a:tailEnd type="triangle"/>
          </a:ln>
        </p:spPr>
      </p:sp>
      <p:sp>
        <p:nvSpPr>
          <p:cNvPr id="207" name="Shape 205"/>
          <p:cNvSpPr/>
          <p:nvPr/>
        </p:nvSpPr>
        <p:spPr>
          <a:xfrm>
            <a:off x="4389120" y="3566160"/>
            <a:ext cx="0" cy="2423160"/>
          </a:xfrm>
          <a:prstGeom prst="line">
            <a:avLst/>
          </a:prstGeom>
          <a:noFill/>
          <a:ln w="15240">
            <a:solidFill>
              <a:srgbClr val="A855F7"/>
            </a:solidFill>
            <a:prstDash val="dash"/>
            <a:headEnd type="triangle"/>
            <a:tailEnd type="triangle"/>
          </a:ln>
        </p:spPr>
      </p:sp>
      <p:sp>
        <p:nvSpPr>
          <p:cNvPr id="208" name="Shape 206"/>
          <p:cNvSpPr/>
          <p:nvPr/>
        </p:nvSpPr>
        <p:spPr>
          <a:xfrm>
            <a:off x="7287768" y="3566160"/>
            <a:ext cx="0" cy="242316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headEnd type="triangle"/>
            <a:tailEnd type="triangle"/>
          </a:ln>
        </p:spPr>
      </p:sp>
      <p:sp>
        <p:nvSpPr>
          <p:cNvPr id="209" name="Shape 207"/>
          <p:cNvSpPr/>
          <p:nvPr/>
        </p:nvSpPr>
        <p:spPr>
          <a:xfrm>
            <a:off x="10186416" y="3566160"/>
            <a:ext cx="0" cy="2423160"/>
          </a:xfrm>
          <a:prstGeom prst="line">
            <a:avLst/>
          </a:prstGeom>
          <a:noFill/>
          <a:ln w="15240">
            <a:solidFill>
              <a:srgbClr val="EC4899"/>
            </a:solidFill>
            <a:prstDash val="dash"/>
            <a:headEnd type="triangle"/>
            <a:tailEnd type="triangle"/>
          </a:ln>
        </p:spPr>
      </p:sp>
      <p:sp>
        <p:nvSpPr>
          <p:cNvPr id="210" name="Shape 208"/>
          <p:cNvSpPr/>
          <p:nvPr/>
        </p:nvSpPr>
        <p:spPr>
          <a:xfrm>
            <a:off x="1490472" y="5888736"/>
            <a:ext cx="0" cy="100584"/>
          </a:xfrm>
          <a:prstGeom prst="line">
            <a:avLst/>
          </a:prstGeom>
          <a:noFill/>
          <a:ln w="15240">
            <a:solidFill>
              <a:srgbClr val="06B6D4"/>
            </a:solidFill>
            <a:prstDash val="dash"/>
            <a:headEnd type="triangle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4389120" y="5888736"/>
            <a:ext cx="0" cy="100584"/>
          </a:xfrm>
          <a:prstGeom prst="line">
            <a:avLst/>
          </a:prstGeom>
          <a:noFill/>
          <a:ln w="15240">
            <a:solidFill>
              <a:srgbClr val="F97316"/>
            </a:solidFill>
            <a:prstDash val="dash"/>
            <a:headEnd type="triangle"/>
            <a:tailEnd type="triangle"/>
          </a:ln>
        </p:spPr>
      </p:sp>
      <p:sp>
        <p:nvSpPr>
          <p:cNvPr id="212" name="Shape 210"/>
          <p:cNvSpPr/>
          <p:nvPr/>
        </p:nvSpPr>
        <p:spPr>
          <a:xfrm>
            <a:off x="7287768" y="5888736"/>
            <a:ext cx="0" cy="100584"/>
          </a:xfrm>
          <a:prstGeom prst="line">
            <a:avLst/>
          </a:prstGeom>
          <a:noFill/>
          <a:ln w="15240">
            <a:solidFill>
              <a:srgbClr val="22C55E"/>
            </a:solidFill>
            <a:prstDash val="dash"/>
            <a:headEnd type="triangle"/>
            <a:tailEnd type="triangle"/>
          </a:ln>
        </p:spPr>
      </p:sp>
      <p:sp>
        <p:nvSpPr>
          <p:cNvPr id="213" name="Shape 211"/>
          <p:cNvSpPr/>
          <p:nvPr/>
        </p:nvSpPr>
        <p:spPr>
          <a:xfrm>
            <a:off x="-45720" y="1463040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1E0A60"/>
          </a:solidFill>
          <a:ln w="7620">
            <a:solidFill>
              <a:srgbClr val="E1FBB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-45720" y="1463040"/>
            <a:ext cx="960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Mobile/Web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914400" y="1627632"/>
            <a:ext cx="457200" cy="0"/>
          </a:xfrm>
          <a:prstGeom prst="line">
            <a:avLst/>
          </a:prstGeom>
          <a:noFill/>
          <a:ln w="15240">
            <a:solidFill>
              <a:srgbClr val="E1FBBE"/>
            </a:solidFill>
            <a:prstDash val="solid"/>
            <a:tailEnd type="triangle"/>
          </a:ln>
        </p:spPr>
      </p:sp>
      <p:sp>
        <p:nvSpPr>
          <p:cNvPr id="216" name="Shape 214"/>
          <p:cNvSpPr/>
          <p:nvPr/>
        </p:nvSpPr>
        <p:spPr>
          <a:xfrm>
            <a:off x="-45720" y="1883664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1E0A60"/>
          </a:solidFill>
          <a:ln w="7620">
            <a:solidFill>
              <a:srgbClr val="E1FBB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-45720" y="1883664"/>
            <a:ext cx="960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914400" y="2048256"/>
            <a:ext cx="457200" cy="0"/>
          </a:xfrm>
          <a:prstGeom prst="line">
            <a:avLst/>
          </a:prstGeom>
          <a:noFill/>
          <a:ln w="15240">
            <a:solidFill>
              <a:srgbClr val="E1FBBE"/>
            </a:solidFill>
            <a:prstDash val="solid"/>
            <a:tailEnd type="triangle"/>
          </a:ln>
        </p:spPr>
      </p:sp>
      <p:sp>
        <p:nvSpPr>
          <p:cNvPr id="219" name="Shape 217"/>
          <p:cNvSpPr/>
          <p:nvPr/>
        </p:nvSpPr>
        <p:spPr>
          <a:xfrm>
            <a:off x="-45720" y="2304288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1E0A60"/>
          </a:solidFill>
          <a:ln w="7620">
            <a:solidFill>
              <a:srgbClr val="E1FBB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-45720" y="2304288"/>
            <a:ext cx="960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SaaS/B2B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914400" y="2468880"/>
            <a:ext cx="457200" cy="0"/>
          </a:xfrm>
          <a:prstGeom prst="line">
            <a:avLst/>
          </a:prstGeom>
          <a:noFill/>
          <a:ln w="15240">
            <a:solidFill>
              <a:srgbClr val="E1FBBE"/>
            </a:solidFill>
            <a:prstDash val="solid"/>
            <a:tailEnd type="triangle"/>
          </a:ln>
        </p:spPr>
      </p:sp>
      <p:sp>
        <p:nvSpPr>
          <p:cNvPr id="222" name="Shape 220"/>
          <p:cNvSpPr/>
          <p:nvPr/>
        </p:nvSpPr>
        <p:spPr>
          <a:xfrm>
            <a:off x="-45720" y="2724912"/>
            <a:ext cx="960120" cy="329184"/>
          </a:xfrm>
          <a:prstGeom prst="roundRect">
            <a:avLst>
              <a:gd name="adj" fmla="val 19444"/>
            </a:avLst>
          </a:prstGeom>
          <a:solidFill>
            <a:srgbClr val="1E0A60"/>
          </a:solidFill>
          <a:ln w="7620">
            <a:solidFill>
              <a:srgbClr val="E1FBBE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-45720" y="2724912"/>
            <a:ext cx="9601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iGaming</a:t>
            </a:r>
            <a:endParaRPr lang="en-US" sz="700" dirty="0"/>
          </a:p>
        </p:txBody>
      </p:sp>
      <p:sp>
        <p:nvSpPr>
          <p:cNvPr id="224" name="Shape 222"/>
          <p:cNvSpPr/>
          <p:nvPr/>
        </p:nvSpPr>
        <p:spPr>
          <a:xfrm>
            <a:off x="914400" y="2889504"/>
            <a:ext cx="457200" cy="0"/>
          </a:xfrm>
          <a:prstGeom prst="line">
            <a:avLst/>
          </a:prstGeom>
          <a:noFill/>
          <a:ln w="15240">
            <a:solidFill>
              <a:srgbClr val="E1FBBE"/>
            </a:solidFill>
            <a:prstDash val="solid"/>
            <a:tailEnd type="triangle"/>
          </a:ln>
        </p:spPr>
      </p:sp>
      <p:sp>
        <p:nvSpPr>
          <p:cNvPr id="225" name="Shape 223"/>
          <p:cNvSpPr/>
          <p:nvPr/>
        </p:nvSpPr>
        <p:spPr>
          <a:xfrm>
            <a:off x="91440" y="6656832"/>
            <a:ext cx="11978640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A8E063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8288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──▶ Inbound</a:t>
            </a:r>
            <a:endParaRPr lang="en-US" sz="650" dirty="0"/>
          </a:p>
        </p:txBody>
      </p:sp>
      <p:sp>
        <p:nvSpPr>
          <p:cNvPr id="227" name="Text 225"/>
          <p:cNvSpPr/>
          <p:nvPr/>
        </p:nvSpPr>
        <p:spPr>
          <a:xfrm>
            <a:off x="164592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◀──▶ Active-Active Sync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393192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Konnect Connection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576072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Region Boundary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749808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On-Premise / EKS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9235440" y="6665976"/>
            <a:ext cx="16459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Microservice Layer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0" y="6839712"/>
            <a:ext cx="12161520" cy="18288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0" y="6848856"/>
            <a:ext cx="121615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PAYSAFE × KONG  |  Multi-Region Gateway Architecture  |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2026-06-06T14:22:48Z</dcterms:created>
  <dcterms:modified xsi:type="dcterms:W3CDTF">2026-06-06T14:22:48Z</dcterms:modified>
</cp:coreProperties>
</file>